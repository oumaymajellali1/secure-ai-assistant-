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8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Lst>
  <p:sldSz cx="18288000" cy="10287000"/>
  <p:notesSz cx="6858000" cy="9144000"/>
  <p:embeddedFontLst>
    <p:embeddedFont>
      <p:font typeface="Codec Pro Bold" panose="020B0604020202020204" charset="0"/>
      <p:regular r:id="rId84"/>
    </p:embeddedFont>
    <p:embeddedFont>
      <p:font typeface="Montserrat" panose="00000500000000000000" pitchFamily="2" charset="0"/>
      <p:regular r:id="rId85"/>
    </p:embeddedFont>
    <p:embeddedFont>
      <p:font typeface="Montserrat Bold" panose="00000800000000000000" charset="0"/>
      <p:regular r:id="rId86"/>
    </p:embeddedFont>
    <p:embeddedFont>
      <p:font typeface="Montserrat Medium" panose="00000600000000000000" pitchFamily="2" charset="0"/>
      <p:regular r:id="rId87"/>
    </p:embeddedFont>
    <p:embeddedFont>
      <p:font typeface="Open Sans" panose="020B0606030504020204" pitchFamily="34" charset="0"/>
      <p:regular r:id="rId88"/>
    </p:embeddedFont>
    <p:embeddedFont>
      <p:font typeface="Open Sans Bold" panose="020B0806030504020204" charset="0"/>
      <p:regular r:id="rId8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1061"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1.fntdata"/><Relationship Id="rId89" Type="http://schemas.openxmlformats.org/officeDocument/2006/relationships/font" Target="fonts/font6.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font" Target="fonts/font2.fntdata"/><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openxmlformats.org/officeDocument/2006/relationships/font" Target="fonts/font5.fntdata"/><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4.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12.12.2024</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‹N°›</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Communication is done between them through HTTP verbs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Idempotency is a property of certain operations, meaning that no matter how many times you repeat the operation, the result will be the same and the system's state won’t change beyond the first application.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+REST’s stateless nature makes it more scalable and lightweight, as each request is processed independently.</a:t>
            </a:r>
          </a:p>
          <a:p>
            <a:r>
              <a:rPr lang="en-US"/>
              <a:t>+SOAP’s ability to be stateful makes it suitable for complex transactions where continuity and session management are needed, but it adds some overhead and complexity.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+REST’s stateless nature makes it more scalable and lightweight, as each request is processed independently.</a:t>
            </a:r>
          </a:p>
          <a:p>
            <a:r>
              <a:rPr lang="en-US"/>
              <a:t>+SOAP’s ability to be stateful makes it suitable for complex transactions where continuity and session management are needed, but it adds some overhead and complexity.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Scalability refers to a system's ability to handle increasing amounts of work or to expand in response to growing demands. In web services like REST and SOAP, scalability means that the system can maintain performance and handle more requests as the number of users or the volume of data grows.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12/12/2024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 Id="rId9" Type="http://schemas.openxmlformats.org/officeDocument/2006/relationships/image" Target="../media/image15.sv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1.sv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1.sv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slides/_rels/slide1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1.sv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4.pn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2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2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3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1.svg"/><Relationship Id="rId4" Type="http://schemas.openxmlformats.org/officeDocument/2006/relationships/image" Target="../media/image10.png"/></Relationships>
</file>

<file path=ppt/slides/_rels/slide3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1.svg"/><Relationship Id="rId4" Type="http://schemas.openxmlformats.org/officeDocument/2006/relationships/image" Target="../media/image10.png"/></Relationships>
</file>

<file path=ppt/slides/_rels/slide3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 Id="rId5" Type="http://schemas.openxmlformats.org/officeDocument/2006/relationships/image" Target="../media/image41.png"/><Relationship Id="rId4" Type="http://schemas.openxmlformats.org/officeDocument/2006/relationships/image" Target="../media/image40.png"/></Relationships>
</file>

<file path=ppt/slides/_rels/slide38.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1.svg"/><Relationship Id="rId4" Type="http://schemas.openxmlformats.org/officeDocument/2006/relationships/image" Target="../media/image10.png"/></Relationships>
</file>

<file path=ppt/slides/_rels/slide4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1.svg"/><Relationship Id="rId4" Type="http://schemas.openxmlformats.org/officeDocument/2006/relationships/image" Target="../media/image10.png"/></Relationships>
</file>

<file path=ppt/slides/_rels/slide4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1.svg"/><Relationship Id="rId4" Type="http://schemas.openxmlformats.org/officeDocument/2006/relationships/image" Target="../media/image10.png"/></Relationships>
</file>

<file path=ppt/slides/_rels/slide42.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43.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4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44.svg"/></Relationships>
</file>

<file path=ppt/slides/_rels/slide4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44.svg"/></Relationships>
</file>

<file path=ppt/slides/_rels/slide46.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47.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s>
</file>

<file path=ppt/slides/_rels/slide5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11.svg"/><Relationship Id="rId4" Type="http://schemas.openxmlformats.org/officeDocument/2006/relationships/image" Target="../media/image10.png"/></Relationships>
</file>

<file path=ppt/slides/_rels/slide5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11.svg"/><Relationship Id="rId4" Type="http://schemas.openxmlformats.org/officeDocument/2006/relationships/image" Target="../media/image10.png"/></Relationships>
</file>

<file path=ppt/slides/_rels/slide5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11.svg"/><Relationship Id="rId4" Type="http://schemas.openxmlformats.org/officeDocument/2006/relationships/image" Target="../media/image10.png"/></Relationships>
</file>

<file path=ppt/slides/_rels/slide5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8.png"/><Relationship Id="rId5" Type="http://schemas.openxmlformats.org/officeDocument/2006/relationships/image" Target="../media/image11.svg"/><Relationship Id="rId4" Type="http://schemas.openxmlformats.org/officeDocument/2006/relationships/image" Target="../media/image10.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 Id="rId9" Type="http://schemas.openxmlformats.org/officeDocument/2006/relationships/image" Target="../media/image15.svg"/></Relationships>
</file>

<file path=ppt/slides/_rels/slide5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9.png"/><Relationship Id="rId5" Type="http://schemas.openxmlformats.org/officeDocument/2006/relationships/image" Target="../media/image11.svg"/><Relationship Id="rId4" Type="http://schemas.openxmlformats.org/officeDocument/2006/relationships/image" Target="../media/image10.png"/></Relationships>
</file>

<file path=ppt/slides/_rels/slide5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11.svg"/><Relationship Id="rId4" Type="http://schemas.openxmlformats.org/officeDocument/2006/relationships/image" Target="../media/image10.png"/></Relationships>
</file>

<file path=ppt/slides/_rels/slide6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11.svg"/><Relationship Id="rId4" Type="http://schemas.openxmlformats.org/officeDocument/2006/relationships/image" Target="../media/image10.png"/></Relationships>
</file>

<file path=ppt/slides/_rels/slide6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 Id="rId9" Type="http://schemas.openxmlformats.org/officeDocument/2006/relationships/image" Target="../media/image15.sv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3.svg"/><Relationship Id="rId4" Type="http://schemas.openxmlformats.org/officeDocument/2006/relationships/image" Target="../media/image52.png"/></Relationships>
</file>

<file path=ppt/slides/_rels/slide6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3.svg"/><Relationship Id="rId4" Type="http://schemas.openxmlformats.org/officeDocument/2006/relationships/image" Target="../media/image52.png"/></Relationships>
</file>

<file path=ppt/slides/_rels/slide6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3.svg"/><Relationship Id="rId4" Type="http://schemas.openxmlformats.org/officeDocument/2006/relationships/image" Target="../media/image52.png"/></Relationships>
</file>

<file path=ppt/slides/_rels/slide6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3.svg"/><Relationship Id="rId4" Type="http://schemas.openxmlformats.org/officeDocument/2006/relationships/image" Target="../media/image52.png"/></Relationships>
</file>

<file path=ppt/slides/_rels/slide6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3.svg"/><Relationship Id="rId4" Type="http://schemas.openxmlformats.org/officeDocument/2006/relationships/image" Target="../media/image52.png"/></Relationships>
</file>

<file path=ppt/slides/_rels/slide6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3.svg"/><Relationship Id="rId4" Type="http://schemas.openxmlformats.org/officeDocument/2006/relationships/image" Target="../media/image52.png"/></Relationships>
</file>

<file path=ppt/slides/_rels/slide7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3.svg"/><Relationship Id="rId4" Type="http://schemas.openxmlformats.org/officeDocument/2006/relationships/image" Target="../media/image52.png"/></Relationships>
</file>

<file path=ppt/slides/_rels/slide7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3.svg"/><Relationship Id="rId4" Type="http://schemas.openxmlformats.org/officeDocument/2006/relationships/image" Target="../media/image52.png"/></Relationships>
</file>

<file path=ppt/slides/_rels/slide7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3.svg"/><Relationship Id="rId4" Type="http://schemas.openxmlformats.org/officeDocument/2006/relationships/image" Target="../media/image52.png"/></Relationships>
</file>

<file path=ppt/slides/_rels/slide7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3.svg"/><Relationship Id="rId4" Type="http://schemas.openxmlformats.org/officeDocument/2006/relationships/image" Target="../media/image52.png"/></Relationships>
</file>

<file path=ppt/slides/_rels/slide7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3.svg"/><Relationship Id="rId4" Type="http://schemas.openxmlformats.org/officeDocument/2006/relationships/image" Target="../media/image52.png"/></Relationships>
</file>

<file path=ppt/slides/_rels/slide7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3.svg"/><Relationship Id="rId4" Type="http://schemas.openxmlformats.org/officeDocument/2006/relationships/image" Target="../media/image52.png"/></Relationships>
</file>

<file path=ppt/slides/_rels/slide7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3.svg"/><Relationship Id="rId4" Type="http://schemas.openxmlformats.org/officeDocument/2006/relationships/image" Target="../media/image52.png"/></Relationships>
</file>

<file path=ppt/slides/_rels/slide7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3.svg"/><Relationship Id="rId4" Type="http://schemas.openxmlformats.org/officeDocument/2006/relationships/image" Target="../media/image52.png"/></Relationships>
</file>

<file path=ppt/slides/_rels/slide7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3.svg"/><Relationship Id="rId4" Type="http://schemas.openxmlformats.org/officeDocument/2006/relationships/image" Target="../media/image52.png"/></Relationships>
</file>

<file path=ppt/slides/_rels/slide7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3.svg"/><Relationship Id="rId4" Type="http://schemas.openxmlformats.org/officeDocument/2006/relationships/image" Target="../media/image52.png"/></Relationships>
</file>

<file path=ppt/slides/_rels/slide8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3.svg"/><Relationship Id="rId4" Type="http://schemas.openxmlformats.org/officeDocument/2006/relationships/image" Target="../media/image52.png"/></Relationships>
</file>

<file path=ppt/slides/_rels/slide8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3.svg"/><Relationship Id="rId4" Type="http://schemas.openxmlformats.org/officeDocument/2006/relationships/image" Target="../media/image5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11663710" y="-3879162"/>
            <a:ext cx="8400347" cy="8400347"/>
          </a:xfrm>
          <a:custGeom>
            <a:avLst/>
            <a:gdLst/>
            <a:ahLst/>
            <a:cxnLst/>
            <a:rect l="l" t="t" r="r" b="b"/>
            <a:pathLst>
              <a:path w="8400347" h="8400347">
                <a:moveTo>
                  <a:pt x="0" y="0"/>
                </a:moveTo>
                <a:lnTo>
                  <a:pt x="8400347" y="0"/>
                </a:lnTo>
                <a:lnTo>
                  <a:pt x="8400347" y="8400347"/>
                </a:lnTo>
                <a:lnTo>
                  <a:pt x="0" y="840034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2154141" y="-1339284"/>
            <a:ext cx="15637377" cy="4483833"/>
            <a:chOff x="0" y="0"/>
            <a:chExt cx="1417321" cy="406400"/>
          </a:xfrm>
        </p:grpSpPr>
        <p:sp>
          <p:nvSpPr>
            <p:cNvPr id="4" name="Freeform 4"/>
            <p:cNvSpPr/>
            <p:nvPr/>
          </p:nvSpPr>
          <p:spPr>
            <a:xfrm>
              <a:off x="0" y="0"/>
              <a:ext cx="1417321" cy="406400"/>
            </a:xfrm>
            <a:custGeom>
              <a:avLst/>
              <a:gdLst/>
              <a:ahLst/>
              <a:cxnLst/>
              <a:rect l="l" t="t" r="r" b="b"/>
              <a:pathLst>
                <a:path w="1417321" h="406400">
                  <a:moveTo>
                    <a:pt x="1214121" y="0"/>
                  </a:moveTo>
                  <a:cubicBezTo>
                    <a:pt x="1326345" y="0"/>
                    <a:pt x="1417321" y="90976"/>
                    <a:pt x="1417321" y="203200"/>
                  </a:cubicBezTo>
                  <a:cubicBezTo>
                    <a:pt x="1417321" y="315424"/>
                    <a:pt x="1326345" y="406400"/>
                    <a:pt x="1214121" y="406400"/>
                  </a:cubicBezTo>
                  <a:lnTo>
                    <a:pt x="203200" y="406400"/>
                  </a:lnTo>
                  <a:cubicBezTo>
                    <a:pt x="90976" y="406400"/>
                    <a:pt x="0" y="315424"/>
                    <a:pt x="0" y="203200"/>
                  </a:cubicBezTo>
                  <a:cubicBezTo>
                    <a:pt x="0" y="90976"/>
                    <a:pt x="90976" y="0"/>
                    <a:pt x="203200" y="0"/>
                  </a:cubicBezTo>
                  <a:close/>
                </a:path>
              </a:pathLst>
            </a:custGeom>
            <a:solidFill>
              <a:srgbClr val="8ABDE7"/>
            </a:solidFill>
          </p:spPr>
        </p:sp>
        <p:sp>
          <p:nvSpPr>
            <p:cNvPr id="5" name="TextBox 5"/>
            <p:cNvSpPr txBox="1"/>
            <p:nvPr/>
          </p:nvSpPr>
          <p:spPr>
            <a:xfrm>
              <a:off x="0" y="-38100"/>
              <a:ext cx="1417321" cy="444500"/>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853633" y="2423337"/>
            <a:ext cx="6731785" cy="5854846"/>
            <a:chOff x="0" y="0"/>
            <a:chExt cx="660400" cy="574371"/>
          </a:xfrm>
        </p:grpSpPr>
        <p:sp>
          <p:nvSpPr>
            <p:cNvPr id="7" name="Freeform 7"/>
            <p:cNvSpPr/>
            <p:nvPr/>
          </p:nvSpPr>
          <p:spPr>
            <a:xfrm>
              <a:off x="0" y="0"/>
              <a:ext cx="660400" cy="574371"/>
            </a:xfrm>
            <a:custGeom>
              <a:avLst/>
              <a:gdLst/>
              <a:ahLst/>
              <a:cxnLst/>
              <a:rect l="l" t="t" r="r" b="b"/>
              <a:pathLst>
                <a:path w="660400" h="574371">
                  <a:moveTo>
                    <a:pt x="220252" y="555302"/>
                  </a:moveTo>
                  <a:cubicBezTo>
                    <a:pt x="254109" y="566816"/>
                    <a:pt x="292600" y="574371"/>
                    <a:pt x="330378" y="574371"/>
                  </a:cubicBezTo>
                  <a:cubicBezTo>
                    <a:pt x="368157" y="574371"/>
                    <a:pt x="404509" y="567894"/>
                    <a:pt x="438009" y="556380"/>
                  </a:cubicBezTo>
                  <a:cubicBezTo>
                    <a:pt x="438723" y="556021"/>
                    <a:pt x="439435" y="556021"/>
                    <a:pt x="440148" y="555661"/>
                  </a:cubicBezTo>
                  <a:cubicBezTo>
                    <a:pt x="565955" y="509606"/>
                    <a:pt x="658618" y="387992"/>
                    <a:pt x="660400" y="251165"/>
                  </a:cubicBezTo>
                  <a:lnTo>
                    <a:pt x="660400" y="0"/>
                  </a:lnTo>
                  <a:lnTo>
                    <a:pt x="0" y="0"/>
                  </a:lnTo>
                  <a:lnTo>
                    <a:pt x="0" y="250979"/>
                  </a:lnTo>
                  <a:cubicBezTo>
                    <a:pt x="1782" y="388711"/>
                    <a:pt x="93019" y="510326"/>
                    <a:pt x="220252" y="555302"/>
                  </a:cubicBezTo>
                  <a:close/>
                </a:path>
              </a:pathLst>
            </a:custGeom>
            <a:solidFill>
              <a:srgbClr val="8ABDE7"/>
            </a:solidFill>
          </p:spPr>
        </p:sp>
        <p:sp>
          <p:nvSpPr>
            <p:cNvPr id="8" name="TextBox 8"/>
            <p:cNvSpPr txBox="1"/>
            <p:nvPr/>
          </p:nvSpPr>
          <p:spPr>
            <a:xfrm>
              <a:off x="0" y="-38100"/>
              <a:ext cx="660400" cy="485471"/>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7571247" y="3130377"/>
            <a:ext cx="1390808" cy="1390808"/>
          </a:xfrm>
          <a:custGeom>
            <a:avLst/>
            <a:gdLst/>
            <a:ahLst/>
            <a:cxnLst/>
            <a:rect l="l" t="t" r="r" b="b"/>
            <a:pathLst>
              <a:path w="1390808" h="1390808">
                <a:moveTo>
                  <a:pt x="0" y="0"/>
                </a:moveTo>
                <a:lnTo>
                  <a:pt x="1390808" y="0"/>
                </a:lnTo>
                <a:lnTo>
                  <a:pt x="1390808" y="1390808"/>
                </a:lnTo>
                <a:lnTo>
                  <a:pt x="0" y="13908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flipH="1">
            <a:off x="-523003" y="3130377"/>
            <a:ext cx="1390808" cy="1390808"/>
          </a:xfrm>
          <a:custGeom>
            <a:avLst/>
            <a:gdLst/>
            <a:ahLst/>
            <a:cxnLst/>
            <a:rect l="l" t="t" r="r" b="b"/>
            <a:pathLst>
              <a:path w="1390808" h="1390808">
                <a:moveTo>
                  <a:pt x="1390808" y="0"/>
                </a:moveTo>
                <a:lnTo>
                  <a:pt x="0" y="0"/>
                </a:lnTo>
                <a:lnTo>
                  <a:pt x="0" y="1390808"/>
                </a:lnTo>
                <a:lnTo>
                  <a:pt x="1390808" y="1390808"/>
                </a:lnTo>
                <a:lnTo>
                  <a:pt x="1390808"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1" name="Group 11"/>
          <p:cNvGrpSpPr/>
          <p:nvPr/>
        </p:nvGrpSpPr>
        <p:grpSpPr>
          <a:xfrm>
            <a:off x="1429086" y="2101954"/>
            <a:ext cx="5580880" cy="5580880"/>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12871" t="-12548" r="-12425" b="-12747"/>
              </a:stretch>
            </a:blipFill>
            <a:ln w="38100" cap="sq">
              <a:solidFill>
                <a:srgbClr val="F4F4F4"/>
              </a:solidFill>
              <a:prstDash val="solid"/>
              <a:miter/>
            </a:ln>
          </p:spPr>
        </p:sp>
      </p:grpSp>
      <p:sp>
        <p:nvSpPr>
          <p:cNvPr id="13" name="Freeform 13"/>
          <p:cNvSpPr/>
          <p:nvPr/>
        </p:nvSpPr>
        <p:spPr>
          <a:xfrm>
            <a:off x="-2781104" y="5417842"/>
            <a:ext cx="8400347" cy="8400347"/>
          </a:xfrm>
          <a:custGeom>
            <a:avLst/>
            <a:gdLst/>
            <a:ahLst/>
            <a:cxnLst/>
            <a:rect l="l" t="t" r="r" b="b"/>
            <a:pathLst>
              <a:path w="8400347" h="8400347">
                <a:moveTo>
                  <a:pt x="0" y="0"/>
                </a:moveTo>
                <a:lnTo>
                  <a:pt x="8400347" y="0"/>
                </a:lnTo>
                <a:lnTo>
                  <a:pt x="8400347" y="8400346"/>
                </a:lnTo>
                <a:lnTo>
                  <a:pt x="0" y="840034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14" name="Freeform 14"/>
          <p:cNvSpPr/>
          <p:nvPr/>
        </p:nvSpPr>
        <p:spPr>
          <a:xfrm>
            <a:off x="14937104" y="194295"/>
            <a:ext cx="1853559" cy="1668809"/>
          </a:xfrm>
          <a:custGeom>
            <a:avLst/>
            <a:gdLst/>
            <a:ahLst/>
            <a:cxnLst/>
            <a:rect l="l" t="t" r="r" b="b"/>
            <a:pathLst>
              <a:path w="1853559" h="1668809">
                <a:moveTo>
                  <a:pt x="0" y="0"/>
                </a:moveTo>
                <a:lnTo>
                  <a:pt x="1853559" y="0"/>
                </a:lnTo>
                <a:lnTo>
                  <a:pt x="1853559" y="1668810"/>
                </a:lnTo>
                <a:lnTo>
                  <a:pt x="0" y="1668810"/>
                </a:lnTo>
                <a:lnTo>
                  <a:pt x="0" y="0"/>
                </a:lnTo>
                <a:close/>
              </a:path>
            </a:pathLst>
          </a:custGeom>
          <a:blipFill>
            <a:blip r:embed="rId7"/>
            <a:stretch>
              <a:fillRect l="-5145" r="-5145"/>
            </a:stretch>
          </a:blipFill>
        </p:spPr>
      </p:sp>
      <p:sp>
        <p:nvSpPr>
          <p:cNvPr id="15" name="TextBox 15"/>
          <p:cNvSpPr txBox="1"/>
          <p:nvPr/>
        </p:nvSpPr>
        <p:spPr>
          <a:xfrm>
            <a:off x="9144000" y="4920969"/>
            <a:ext cx="8958711" cy="1035754"/>
          </a:xfrm>
          <a:prstGeom prst="rect">
            <a:avLst/>
          </a:prstGeom>
        </p:spPr>
        <p:txBody>
          <a:bodyPr lIns="0" tIns="0" rIns="0" bIns="0" rtlCol="0" anchor="t">
            <a:spAutoFit/>
          </a:bodyPr>
          <a:lstStyle/>
          <a:p>
            <a:pPr algn="l">
              <a:lnSpc>
                <a:spcPts val="7002"/>
              </a:lnSpc>
            </a:pPr>
            <a:r>
              <a:rPr lang="en-US" sz="7002" b="1">
                <a:solidFill>
                  <a:srgbClr val="26CBB8"/>
                </a:solidFill>
                <a:latin typeface="Codec Pro Bold"/>
                <a:ea typeface="Codec Pro Bold"/>
                <a:cs typeface="Codec Pro Bold"/>
                <a:sym typeface="Codec Pro Bold"/>
              </a:rPr>
              <a:t>Introduced By :</a:t>
            </a:r>
          </a:p>
        </p:txBody>
      </p:sp>
      <p:sp>
        <p:nvSpPr>
          <p:cNvPr id="16" name="TextBox 16"/>
          <p:cNvSpPr txBox="1"/>
          <p:nvPr/>
        </p:nvSpPr>
        <p:spPr>
          <a:xfrm>
            <a:off x="9727980" y="6035267"/>
            <a:ext cx="7531320" cy="2161104"/>
          </a:xfrm>
          <a:prstGeom prst="rect">
            <a:avLst/>
          </a:prstGeom>
        </p:spPr>
        <p:txBody>
          <a:bodyPr lIns="0" tIns="0" rIns="0" bIns="0" rtlCol="0" anchor="t">
            <a:spAutoFit/>
          </a:bodyPr>
          <a:lstStyle/>
          <a:p>
            <a:pPr algn="just">
              <a:lnSpc>
                <a:spcPts val="5875"/>
              </a:lnSpc>
            </a:pPr>
            <a:r>
              <a:rPr lang="en-US" sz="3264" b="1">
                <a:solidFill>
                  <a:srgbClr val="000000"/>
                </a:solidFill>
                <a:latin typeface="Montserrat Medium"/>
                <a:ea typeface="Montserrat Medium"/>
                <a:cs typeface="Montserrat Medium"/>
                <a:sym typeface="Montserrat Medium"/>
              </a:rPr>
              <a:t>Bouthaina Abid</a:t>
            </a:r>
          </a:p>
          <a:p>
            <a:pPr algn="just">
              <a:lnSpc>
                <a:spcPts val="5875"/>
              </a:lnSpc>
            </a:pPr>
            <a:r>
              <a:rPr lang="en-US" sz="3264" b="1">
                <a:solidFill>
                  <a:srgbClr val="000000"/>
                </a:solidFill>
                <a:latin typeface="Montserrat Medium"/>
                <a:ea typeface="Montserrat Medium"/>
                <a:cs typeface="Montserrat Medium"/>
                <a:sym typeface="Montserrat Medium"/>
              </a:rPr>
              <a:t>Oussema Feki</a:t>
            </a:r>
          </a:p>
          <a:p>
            <a:pPr algn="just">
              <a:lnSpc>
                <a:spcPts val="5875"/>
              </a:lnSpc>
            </a:pPr>
            <a:r>
              <a:rPr lang="en-US" sz="3264" b="1">
                <a:solidFill>
                  <a:srgbClr val="000000"/>
                </a:solidFill>
                <a:latin typeface="Montserrat Medium"/>
                <a:ea typeface="Montserrat Medium"/>
                <a:cs typeface="Montserrat Medium"/>
                <a:sym typeface="Montserrat Medium"/>
              </a:rPr>
              <a:t>Skandar Allouche </a:t>
            </a:r>
          </a:p>
        </p:txBody>
      </p:sp>
      <p:sp>
        <p:nvSpPr>
          <p:cNvPr id="17" name="TextBox 17"/>
          <p:cNvSpPr txBox="1"/>
          <p:nvPr/>
        </p:nvSpPr>
        <p:spPr>
          <a:xfrm>
            <a:off x="10670431" y="8925560"/>
            <a:ext cx="1986558" cy="488316"/>
          </a:xfrm>
          <a:prstGeom prst="rect">
            <a:avLst/>
          </a:prstGeom>
        </p:spPr>
        <p:txBody>
          <a:bodyPr lIns="0" tIns="0" rIns="0" bIns="0" rtlCol="0" anchor="t">
            <a:spAutoFit/>
          </a:bodyPr>
          <a:lstStyle/>
          <a:p>
            <a:pPr algn="ctr">
              <a:lnSpc>
                <a:spcPts val="4059"/>
              </a:lnSpc>
              <a:spcBef>
                <a:spcPct val="0"/>
              </a:spcBef>
            </a:pPr>
            <a:r>
              <a:rPr lang="en-US" sz="2899" b="1">
                <a:solidFill>
                  <a:srgbClr val="856EE0"/>
                </a:solidFill>
                <a:latin typeface="Montserrat Bold"/>
                <a:ea typeface="Montserrat Bold"/>
                <a:cs typeface="Montserrat Bold"/>
                <a:sym typeface="Montserrat Bold"/>
              </a:rPr>
              <a:t>2024/2025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4430639" y="1514578"/>
            <a:ext cx="9426722" cy="8235289"/>
          </a:xfrm>
          <a:custGeom>
            <a:avLst/>
            <a:gdLst/>
            <a:ahLst/>
            <a:cxnLst/>
            <a:rect l="l" t="t" r="r" b="b"/>
            <a:pathLst>
              <a:path w="9426722" h="8235289">
                <a:moveTo>
                  <a:pt x="0" y="0"/>
                </a:moveTo>
                <a:lnTo>
                  <a:pt x="9426722" y="0"/>
                </a:lnTo>
                <a:lnTo>
                  <a:pt x="9426722" y="8235289"/>
                </a:lnTo>
                <a:lnTo>
                  <a:pt x="0" y="8235289"/>
                </a:lnTo>
                <a:lnTo>
                  <a:pt x="0" y="0"/>
                </a:lnTo>
                <a:close/>
              </a:path>
            </a:pathLst>
          </a:custGeom>
          <a:blipFill>
            <a:blip r:embed="rId2"/>
            <a:stretch>
              <a:fillRect/>
            </a:stretch>
          </a:blipFill>
        </p:spPr>
      </p:sp>
      <p:sp>
        <p:nvSpPr>
          <p:cNvPr id="3" name="TextBox 3"/>
          <p:cNvSpPr txBox="1"/>
          <p:nvPr/>
        </p:nvSpPr>
        <p:spPr>
          <a:xfrm>
            <a:off x="7320641" y="409472"/>
            <a:ext cx="3646718" cy="1105106"/>
          </a:xfrm>
          <a:prstGeom prst="rect">
            <a:avLst/>
          </a:prstGeom>
        </p:spPr>
        <p:txBody>
          <a:bodyPr lIns="0" tIns="0" rIns="0" bIns="0" rtlCol="0" anchor="t">
            <a:spAutoFit/>
          </a:bodyPr>
          <a:lstStyle/>
          <a:p>
            <a:pPr algn="l">
              <a:lnSpc>
                <a:spcPts val="8134"/>
              </a:lnSpc>
            </a:pPr>
            <a:r>
              <a:rPr lang="en-US" sz="6405" b="1">
                <a:solidFill>
                  <a:srgbClr val="26CBB8"/>
                </a:solidFill>
                <a:latin typeface="Codec Pro Bold"/>
                <a:ea typeface="Codec Pro Bold"/>
                <a:cs typeface="Codec Pro Bold"/>
                <a:sym typeface="Codec Pro Bold"/>
              </a:rPr>
              <a:t>Planning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2876550" y="-1666875"/>
            <a:ext cx="20887517" cy="4579002"/>
            <a:chOff x="0" y="0"/>
            <a:chExt cx="5501239" cy="1205992"/>
          </a:xfrm>
        </p:grpSpPr>
        <p:sp>
          <p:nvSpPr>
            <p:cNvPr id="3" name="Freeform 3"/>
            <p:cNvSpPr/>
            <p:nvPr/>
          </p:nvSpPr>
          <p:spPr>
            <a:xfrm>
              <a:off x="0" y="0"/>
              <a:ext cx="5501239" cy="1205992"/>
            </a:xfrm>
            <a:custGeom>
              <a:avLst/>
              <a:gdLst/>
              <a:ahLst/>
              <a:cxnLst/>
              <a:rect l="l" t="t" r="r" b="b"/>
              <a:pathLst>
                <a:path w="5501239" h="1205992">
                  <a:moveTo>
                    <a:pt x="37065" y="0"/>
                  </a:moveTo>
                  <a:lnTo>
                    <a:pt x="5464174" y="0"/>
                  </a:lnTo>
                  <a:cubicBezTo>
                    <a:pt x="5474004" y="0"/>
                    <a:pt x="5483432" y="3905"/>
                    <a:pt x="5490383" y="10856"/>
                  </a:cubicBezTo>
                  <a:cubicBezTo>
                    <a:pt x="5497334" y="17807"/>
                    <a:pt x="5501239" y="27235"/>
                    <a:pt x="5501239" y="37065"/>
                  </a:cubicBezTo>
                  <a:lnTo>
                    <a:pt x="5501239" y="1168928"/>
                  </a:lnTo>
                  <a:cubicBezTo>
                    <a:pt x="5501239" y="1178758"/>
                    <a:pt x="5497334" y="1188185"/>
                    <a:pt x="5490383" y="1195136"/>
                  </a:cubicBezTo>
                  <a:cubicBezTo>
                    <a:pt x="5483432" y="1202087"/>
                    <a:pt x="5474004" y="1205992"/>
                    <a:pt x="5464174" y="1205992"/>
                  </a:cubicBezTo>
                  <a:lnTo>
                    <a:pt x="37065" y="1205992"/>
                  </a:lnTo>
                  <a:cubicBezTo>
                    <a:pt x="27235" y="1205992"/>
                    <a:pt x="17807" y="1202087"/>
                    <a:pt x="10856" y="1195136"/>
                  </a:cubicBezTo>
                  <a:cubicBezTo>
                    <a:pt x="3905" y="1188185"/>
                    <a:pt x="0" y="1178758"/>
                    <a:pt x="0" y="1168928"/>
                  </a:cubicBezTo>
                  <a:lnTo>
                    <a:pt x="0" y="37065"/>
                  </a:lnTo>
                  <a:cubicBezTo>
                    <a:pt x="0" y="27235"/>
                    <a:pt x="3905" y="17807"/>
                    <a:pt x="10856" y="10856"/>
                  </a:cubicBezTo>
                  <a:cubicBezTo>
                    <a:pt x="17807" y="3905"/>
                    <a:pt x="27235" y="0"/>
                    <a:pt x="37065" y="0"/>
                  </a:cubicBezTo>
                  <a:close/>
                </a:path>
              </a:pathLst>
            </a:custGeom>
            <a:solidFill>
              <a:srgbClr val="856EE0"/>
            </a:solidFill>
          </p:spPr>
        </p:sp>
        <p:sp>
          <p:nvSpPr>
            <p:cNvPr id="4" name="TextBox 4"/>
            <p:cNvSpPr txBox="1"/>
            <p:nvPr/>
          </p:nvSpPr>
          <p:spPr>
            <a:xfrm>
              <a:off x="0" y="-38100"/>
              <a:ext cx="5501239" cy="1244092"/>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0" y="2893077"/>
            <a:ext cx="1997550" cy="1997550"/>
          </a:xfrm>
          <a:custGeom>
            <a:avLst/>
            <a:gdLst/>
            <a:ahLst/>
            <a:cxnLst/>
            <a:rect l="l" t="t" r="r" b="b"/>
            <a:pathLst>
              <a:path w="1997550" h="1997550">
                <a:moveTo>
                  <a:pt x="0" y="0"/>
                </a:moveTo>
                <a:lnTo>
                  <a:pt x="1997550" y="0"/>
                </a:lnTo>
                <a:lnTo>
                  <a:pt x="1997550" y="1997551"/>
                </a:lnTo>
                <a:lnTo>
                  <a:pt x="0" y="19975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590157" y="4063960"/>
            <a:ext cx="17284291" cy="5009346"/>
            <a:chOff x="0" y="0"/>
            <a:chExt cx="4552241" cy="1319334"/>
          </a:xfrm>
        </p:grpSpPr>
        <p:sp>
          <p:nvSpPr>
            <p:cNvPr id="7" name="Freeform 7"/>
            <p:cNvSpPr/>
            <p:nvPr/>
          </p:nvSpPr>
          <p:spPr>
            <a:xfrm>
              <a:off x="0" y="0"/>
              <a:ext cx="4552242" cy="1319334"/>
            </a:xfrm>
            <a:custGeom>
              <a:avLst/>
              <a:gdLst/>
              <a:ahLst/>
              <a:cxnLst/>
              <a:rect l="l" t="t" r="r" b="b"/>
              <a:pathLst>
                <a:path w="4552242" h="1319334">
                  <a:moveTo>
                    <a:pt x="44792" y="0"/>
                  </a:moveTo>
                  <a:lnTo>
                    <a:pt x="4507450" y="0"/>
                  </a:lnTo>
                  <a:cubicBezTo>
                    <a:pt x="4519329" y="0"/>
                    <a:pt x="4530722" y="4719"/>
                    <a:pt x="4539122" y="13119"/>
                  </a:cubicBezTo>
                  <a:cubicBezTo>
                    <a:pt x="4547522" y="21519"/>
                    <a:pt x="4552242" y="32912"/>
                    <a:pt x="4552242" y="44792"/>
                  </a:cubicBezTo>
                  <a:lnTo>
                    <a:pt x="4552242" y="1274542"/>
                  </a:lnTo>
                  <a:cubicBezTo>
                    <a:pt x="4552242" y="1299280"/>
                    <a:pt x="4532188" y="1319334"/>
                    <a:pt x="4507450" y="1319334"/>
                  </a:cubicBezTo>
                  <a:lnTo>
                    <a:pt x="44792" y="1319334"/>
                  </a:lnTo>
                  <a:cubicBezTo>
                    <a:pt x="32912" y="1319334"/>
                    <a:pt x="21519" y="1314615"/>
                    <a:pt x="13119" y="1306215"/>
                  </a:cubicBezTo>
                  <a:cubicBezTo>
                    <a:pt x="4719" y="1297815"/>
                    <a:pt x="0" y="1286422"/>
                    <a:pt x="0" y="1274542"/>
                  </a:cubicBezTo>
                  <a:lnTo>
                    <a:pt x="0" y="44792"/>
                  </a:lnTo>
                  <a:cubicBezTo>
                    <a:pt x="0" y="32912"/>
                    <a:pt x="4719" y="21519"/>
                    <a:pt x="13119" y="13119"/>
                  </a:cubicBezTo>
                  <a:cubicBezTo>
                    <a:pt x="21519" y="4719"/>
                    <a:pt x="32912" y="0"/>
                    <a:pt x="44792" y="0"/>
                  </a:cubicBezTo>
                  <a:close/>
                </a:path>
              </a:pathLst>
            </a:custGeom>
            <a:solidFill>
              <a:srgbClr val="26CBB8"/>
            </a:solidFill>
          </p:spPr>
        </p:sp>
        <p:sp>
          <p:nvSpPr>
            <p:cNvPr id="8" name="TextBox 8"/>
            <p:cNvSpPr txBox="1"/>
            <p:nvPr/>
          </p:nvSpPr>
          <p:spPr>
            <a:xfrm>
              <a:off x="0" y="-38100"/>
              <a:ext cx="4552241" cy="1357434"/>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14805774" y="1028700"/>
            <a:ext cx="1761909" cy="112121"/>
          </a:xfrm>
          <a:custGeom>
            <a:avLst/>
            <a:gdLst/>
            <a:ahLst/>
            <a:cxnLst/>
            <a:rect l="l" t="t" r="r" b="b"/>
            <a:pathLst>
              <a:path w="1761909" h="112121">
                <a:moveTo>
                  <a:pt x="0" y="0"/>
                </a:moveTo>
                <a:lnTo>
                  <a:pt x="1761908" y="0"/>
                </a:lnTo>
                <a:lnTo>
                  <a:pt x="1761908" y="112121"/>
                </a:lnTo>
                <a:lnTo>
                  <a:pt x="0" y="1121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9232302" y="1028700"/>
            <a:ext cx="911606" cy="552380"/>
          </a:xfrm>
          <a:custGeom>
            <a:avLst/>
            <a:gdLst/>
            <a:ahLst/>
            <a:cxnLst/>
            <a:rect l="l" t="t" r="r" b="b"/>
            <a:pathLst>
              <a:path w="911606" h="552380">
                <a:moveTo>
                  <a:pt x="0" y="0"/>
                </a:moveTo>
                <a:lnTo>
                  <a:pt x="911607" y="0"/>
                </a:lnTo>
                <a:lnTo>
                  <a:pt x="911607" y="552380"/>
                </a:lnTo>
                <a:lnTo>
                  <a:pt x="0" y="552380"/>
                </a:lnTo>
                <a:lnTo>
                  <a:pt x="0" y="0"/>
                </a:lnTo>
                <a:close/>
              </a:path>
            </a:pathLst>
          </a:custGeom>
          <a:blipFill>
            <a:blip r:embed="rId6">
              <a:extLst>
                <a:ext uri="{96DAC541-7B7A-43D3-8B79-37D633B846F1}">
                  <asvg:svgBlip xmlns:asvg="http://schemas.microsoft.com/office/drawing/2016/SVG/main" r:embed="rId7"/>
                </a:ext>
              </a:extLst>
            </a:blip>
            <a:stretch>
              <a:fillRect r="-182430"/>
            </a:stretch>
          </a:blipFill>
        </p:spPr>
      </p:sp>
      <p:sp>
        <p:nvSpPr>
          <p:cNvPr id="11" name="Freeform 11"/>
          <p:cNvSpPr/>
          <p:nvPr/>
        </p:nvSpPr>
        <p:spPr>
          <a:xfrm>
            <a:off x="15686728" y="8156481"/>
            <a:ext cx="911606" cy="552380"/>
          </a:xfrm>
          <a:custGeom>
            <a:avLst/>
            <a:gdLst/>
            <a:ahLst/>
            <a:cxnLst/>
            <a:rect l="l" t="t" r="r" b="b"/>
            <a:pathLst>
              <a:path w="911606" h="552380">
                <a:moveTo>
                  <a:pt x="0" y="0"/>
                </a:moveTo>
                <a:lnTo>
                  <a:pt x="911606" y="0"/>
                </a:lnTo>
                <a:lnTo>
                  <a:pt x="911606" y="552380"/>
                </a:lnTo>
                <a:lnTo>
                  <a:pt x="0" y="552380"/>
                </a:lnTo>
                <a:lnTo>
                  <a:pt x="0" y="0"/>
                </a:lnTo>
                <a:close/>
              </a:path>
            </a:pathLst>
          </a:custGeom>
          <a:blipFill>
            <a:blip r:embed="rId6">
              <a:extLst>
                <a:ext uri="{96DAC541-7B7A-43D3-8B79-37D633B846F1}">
                  <asvg:svgBlip xmlns:asvg="http://schemas.microsoft.com/office/drawing/2016/SVG/main" r:embed="rId7"/>
                </a:ext>
              </a:extLst>
            </a:blip>
            <a:stretch>
              <a:fillRect r="-182430"/>
            </a:stretch>
          </a:blipFill>
        </p:spPr>
      </p:sp>
      <p:sp>
        <p:nvSpPr>
          <p:cNvPr id="12" name="TextBox 12"/>
          <p:cNvSpPr txBox="1"/>
          <p:nvPr/>
        </p:nvSpPr>
        <p:spPr>
          <a:xfrm>
            <a:off x="1595179" y="651201"/>
            <a:ext cx="7031039" cy="865023"/>
          </a:xfrm>
          <a:prstGeom prst="rect">
            <a:avLst/>
          </a:prstGeom>
        </p:spPr>
        <p:txBody>
          <a:bodyPr lIns="0" tIns="0" rIns="0" bIns="0" rtlCol="0" anchor="t">
            <a:spAutoFit/>
          </a:bodyPr>
          <a:lstStyle/>
          <a:p>
            <a:pPr algn="l">
              <a:lnSpc>
                <a:spcPts val="5885"/>
              </a:lnSpc>
            </a:pPr>
            <a:r>
              <a:rPr lang="en-US" sz="5885" b="1">
                <a:solidFill>
                  <a:srgbClr val="FFFFFF"/>
                </a:solidFill>
                <a:latin typeface="Codec Pro Bold"/>
                <a:ea typeface="Codec Pro Bold"/>
                <a:cs typeface="Codec Pro Bold"/>
                <a:sym typeface="Codec Pro Bold"/>
              </a:rPr>
              <a:t>WHAT IS API-REST?</a:t>
            </a:r>
          </a:p>
        </p:txBody>
      </p:sp>
      <p:sp>
        <p:nvSpPr>
          <p:cNvPr id="13" name="TextBox 13"/>
          <p:cNvSpPr txBox="1"/>
          <p:nvPr/>
        </p:nvSpPr>
        <p:spPr>
          <a:xfrm>
            <a:off x="920120" y="5095875"/>
            <a:ext cx="16339180" cy="2545229"/>
          </a:xfrm>
          <a:prstGeom prst="rect">
            <a:avLst/>
          </a:prstGeom>
        </p:spPr>
        <p:txBody>
          <a:bodyPr lIns="0" tIns="0" rIns="0" bIns="0" rtlCol="0" anchor="t">
            <a:spAutoFit/>
          </a:bodyPr>
          <a:lstStyle/>
          <a:p>
            <a:pPr algn="l">
              <a:lnSpc>
                <a:spcPts val="4086"/>
              </a:lnSpc>
              <a:spcBef>
                <a:spcPct val="0"/>
              </a:spcBef>
            </a:pPr>
            <a:r>
              <a:rPr lang="en-US" sz="2919" b="1">
                <a:solidFill>
                  <a:srgbClr val="FFFFFF"/>
                </a:solidFill>
                <a:latin typeface="Montserrat Medium"/>
                <a:ea typeface="Montserrat Medium"/>
                <a:cs typeface="Montserrat Medium"/>
                <a:sym typeface="Montserrat Medium"/>
              </a:rPr>
              <a:t>An API, or Application Programming Interface, is an intermediary that allows different applications to communicate with each other. REST, which stands for Representational State Transfer, is an architecture designed for distributed systems. It is a structured and lightweight way of designing APIs that leverage the capabilities of the HTTP protocol.</a:t>
            </a:r>
          </a:p>
        </p:txBody>
      </p:sp>
      <p:sp>
        <p:nvSpPr>
          <p:cNvPr id="14" name="Freeform 14"/>
          <p:cNvSpPr/>
          <p:nvPr/>
        </p:nvSpPr>
        <p:spPr>
          <a:xfrm>
            <a:off x="2915331" y="8596740"/>
            <a:ext cx="1761909" cy="112121"/>
          </a:xfrm>
          <a:custGeom>
            <a:avLst/>
            <a:gdLst/>
            <a:ahLst/>
            <a:cxnLst/>
            <a:rect l="l" t="t" r="r" b="b"/>
            <a:pathLst>
              <a:path w="1761909" h="112121">
                <a:moveTo>
                  <a:pt x="0" y="0"/>
                </a:moveTo>
                <a:lnTo>
                  <a:pt x="1761909" y="0"/>
                </a:lnTo>
                <a:lnTo>
                  <a:pt x="1761909" y="112121"/>
                </a:lnTo>
                <a:lnTo>
                  <a:pt x="0" y="11212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15" name="Group 15"/>
          <p:cNvGrpSpPr/>
          <p:nvPr/>
        </p:nvGrpSpPr>
        <p:grpSpPr>
          <a:xfrm>
            <a:off x="17149862" y="9258300"/>
            <a:ext cx="861105" cy="861105"/>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17" name="TextBox 17"/>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1</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1741169" y="-3878466"/>
            <a:ext cx="8400347" cy="8400347"/>
          </a:xfrm>
          <a:custGeom>
            <a:avLst/>
            <a:gdLst/>
            <a:ahLst/>
            <a:cxnLst/>
            <a:rect l="l" t="t" r="r" b="b"/>
            <a:pathLst>
              <a:path w="8400347" h="8400347">
                <a:moveTo>
                  <a:pt x="0" y="0"/>
                </a:moveTo>
                <a:lnTo>
                  <a:pt x="8400346" y="0"/>
                </a:lnTo>
                <a:lnTo>
                  <a:pt x="8400346" y="8400347"/>
                </a:lnTo>
                <a:lnTo>
                  <a:pt x="0" y="840034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0" y="0"/>
            <a:ext cx="3936827" cy="10287000"/>
            <a:chOff x="0" y="0"/>
            <a:chExt cx="1036860" cy="2709333"/>
          </a:xfrm>
        </p:grpSpPr>
        <p:sp>
          <p:nvSpPr>
            <p:cNvPr id="4" name="Freeform 4"/>
            <p:cNvSpPr/>
            <p:nvPr/>
          </p:nvSpPr>
          <p:spPr>
            <a:xfrm>
              <a:off x="0" y="0"/>
              <a:ext cx="1036860" cy="2709333"/>
            </a:xfrm>
            <a:custGeom>
              <a:avLst/>
              <a:gdLst/>
              <a:ahLst/>
              <a:cxnLst/>
              <a:rect l="l" t="t" r="r" b="b"/>
              <a:pathLst>
                <a:path w="1036860" h="2709333">
                  <a:moveTo>
                    <a:pt x="0" y="0"/>
                  </a:moveTo>
                  <a:lnTo>
                    <a:pt x="1036860" y="0"/>
                  </a:lnTo>
                  <a:lnTo>
                    <a:pt x="1036860" y="2709333"/>
                  </a:lnTo>
                  <a:lnTo>
                    <a:pt x="0" y="2709333"/>
                  </a:lnTo>
                  <a:close/>
                </a:path>
              </a:pathLst>
            </a:custGeom>
            <a:solidFill>
              <a:srgbClr val="856EE0"/>
            </a:solidFill>
          </p:spPr>
        </p:sp>
        <p:sp>
          <p:nvSpPr>
            <p:cNvPr id="5" name="TextBox 5"/>
            <p:cNvSpPr txBox="1"/>
            <p:nvPr/>
          </p:nvSpPr>
          <p:spPr>
            <a:xfrm>
              <a:off x="0" y="-38100"/>
              <a:ext cx="1036860" cy="2747433"/>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918851" y="8248329"/>
            <a:ext cx="6035952" cy="517324"/>
            <a:chOff x="0" y="0"/>
            <a:chExt cx="1589716" cy="136250"/>
          </a:xfrm>
        </p:grpSpPr>
        <p:sp>
          <p:nvSpPr>
            <p:cNvPr id="7" name="Freeform 7"/>
            <p:cNvSpPr/>
            <p:nvPr/>
          </p:nvSpPr>
          <p:spPr>
            <a:xfrm>
              <a:off x="0" y="0"/>
              <a:ext cx="1589716" cy="136250"/>
            </a:xfrm>
            <a:custGeom>
              <a:avLst/>
              <a:gdLst/>
              <a:ahLst/>
              <a:cxnLst/>
              <a:rect l="l" t="t" r="r" b="b"/>
              <a:pathLst>
                <a:path w="1589716" h="136250">
                  <a:moveTo>
                    <a:pt x="30783" y="0"/>
                  </a:moveTo>
                  <a:lnTo>
                    <a:pt x="1558932" y="0"/>
                  </a:lnTo>
                  <a:cubicBezTo>
                    <a:pt x="1575934" y="0"/>
                    <a:pt x="1589716" y="13782"/>
                    <a:pt x="1589716" y="30783"/>
                  </a:cubicBezTo>
                  <a:lnTo>
                    <a:pt x="1589716" y="105467"/>
                  </a:lnTo>
                  <a:cubicBezTo>
                    <a:pt x="1589716" y="122468"/>
                    <a:pt x="1575934" y="136250"/>
                    <a:pt x="1558932" y="136250"/>
                  </a:cubicBezTo>
                  <a:lnTo>
                    <a:pt x="30783" y="136250"/>
                  </a:lnTo>
                  <a:cubicBezTo>
                    <a:pt x="22619" y="136250"/>
                    <a:pt x="14789" y="133007"/>
                    <a:pt x="9016" y="127234"/>
                  </a:cubicBezTo>
                  <a:cubicBezTo>
                    <a:pt x="3243" y="121461"/>
                    <a:pt x="0" y="113631"/>
                    <a:pt x="0" y="105467"/>
                  </a:cubicBezTo>
                  <a:lnTo>
                    <a:pt x="0" y="30783"/>
                  </a:lnTo>
                  <a:cubicBezTo>
                    <a:pt x="0" y="13782"/>
                    <a:pt x="13782" y="0"/>
                    <a:pt x="30783" y="0"/>
                  </a:cubicBezTo>
                  <a:close/>
                </a:path>
              </a:pathLst>
            </a:custGeom>
            <a:solidFill>
              <a:srgbClr val="26CBB8"/>
            </a:solidFill>
          </p:spPr>
        </p:sp>
        <p:sp>
          <p:nvSpPr>
            <p:cNvPr id="8" name="TextBox 8"/>
            <p:cNvSpPr txBox="1"/>
            <p:nvPr/>
          </p:nvSpPr>
          <p:spPr>
            <a:xfrm>
              <a:off x="0" y="-38100"/>
              <a:ext cx="1589716" cy="174350"/>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14087827" y="6086827"/>
            <a:ext cx="8400347" cy="8400347"/>
          </a:xfrm>
          <a:custGeom>
            <a:avLst/>
            <a:gdLst/>
            <a:ahLst/>
            <a:cxnLst/>
            <a:rect l="l" t="t" r="r" b="b"/>
            <a:pathLst>
              <a:path w="8400347" h="8400347">
                <a:moveTo>
                  <a:pt x="0" y="0"/>
                </a:moveTo>
                <a:lnTo>
                  <a:pt x="8400346" y="0"/>
                </a:lnTo>
                <a:lnTo>
                  <a:pt x="8400346" y="8400346"/>
                </a:lnTo>
                <a:lnTo>
                  <a:pt x="0" y="840034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10" name="Freeform 10"/>
          <p:cNvSpPr/>
          <p:nvPr/>
        </p:nvSpPr>
        <p:spPr>
          <a:xfrm>
            <a:off x="15466739" y="1028700"/>
            <a:ext cx="1761909" cy="112121"/>
          </a:xfrm>
          <a:custGeom>
            <a:avLst/>
            <a:gdLst/>
            <a:ahLst/>
            <a:cxnLst/>
            <a:rect l="l" t="t" r="r" b="b"/>
            <a:pathLst>
              <a:path w="1761909" h="112121">
                <a:moveTo>
                  <a:pt x="0" y="0"/>
                </a:moveTo>
                <a:lnTo>
                  <a:pt x="1761909" y="0"/>
                </a:lnTo>
                <a:lnTo>
                  <a:pt x="1761909" y="112121"/>
                </a:lnTo>
                <a:lnTo>
                  <a:pt x="0" y="1121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a:off x="10583632" y="9146179"/>
            <a:ext cx="1761909" cy="112121"/>
          </a:xfrm>
          <a:custGeom>
            <a:avLst/>
            <a:gdLst/>
            <a:ahLst/>
            <a:cxnLst/>
            <a:rect l="l" t="t" r="r" b="b"/>
            <a:pathLst>
              <a:path w="1761909" h="112121">
                <a:moveTo>
                  <a:pt x="0" y="0"/>
                </a:moveTo>
                <a:lnTo>
                  <a:pt x="1761908" y="0"/>
                </a:lnTo>
                <a:lnTo>
                  <a:pt x="1761908" y="112121"/>
                </a:lnTo>
                <a:lnTo>
                  <a:pt x="0" y="1121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2" name="Group 12"/>
          <p:cNvGrpSpPr/>
          <p:nvPr/>
        </p:nvGrpSpPr>
        <p:grpSpPr>
          <a:xfrm>
            <a:off x="17149862" y="9258300"/>
            <a:ext cx="861105" cy="861105"/>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14" name="TextBox 14"/>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2</a:t>
              </a:r>
            </a:p>
          </p:txBody>
        </p:sp>
      </p:grpSp>
      <p:sp>
        <p:nvSpPr>
          <p:cNvPr id="15" name="Freeform 15"/>
          <p:cNvSpPr/>
          <p:nvPr/>
        </p:nvSpPr>
        <p:spPr>
          <a:xfrm>
            <a:off x="0" y="2398015"/>
            <a:ext cx="7471838" cy="5850314"/>
          </a:xfrm>
          <a:custGeom>
            <a:avLst/>
            <a:gdLst/>
            <a:ahLst/>
            <a:cxnLst/>
            <a:rect l="l" t="t" r="r" b="b"/>
            <a:pathLst>
              <a:path w="7471838" h="5850314">
                <a:moveTo>
                  <a:pt x="0" y="0"/>
                </a:moveTo>
                <a:lnTo>
                  <a:pt x="7471838" y="0"/>
                </a:lnTo>
                <a:lnTo>
                  <a:pt x="7471838" y="5850314"/>
                </a:lnTo>
                <a:lnTo>
                  <a:pt x="0" y="5850314"/>
                </a:lnTo>
                <a:lnTo>
                  <a:pt x="0" y="0"/>
                </a:lnTo>
                <a:close/>
              </a:path>
            </a:pathLst>
          </a:custGeom>
          <a:blipFill>
            <a:blip r:embed="rId6"/>
            <a:stretch>
              <a:fillRect l="-5410" t="-426" b="-426"/>
            </a:stretch>
          </a:blipFill>
        </p:spPr>
      </p:sp>
      <p:sp>
        <p:nvSpPr>
          <p:cNvPr id="16" name="TextBox 16"/>
          <p:cNvSpPr txBox="1"/>
          <p:nvPr/>
        </p:nvSpPr>
        <p:spPr>
          <a:xfrm>
            <a:off x="7346245" y="1531875"/>
            <a:ext cx="10516713" cy="1751331"/>
          </a:xfrm>
          <a:prstGeom prst="rect">
            <a:avLst/>
          </a:prstGeom>
        </p:spPr>
        <p:txBody>
          <a:bodyPr lIns="0" tIns="0" rIns="0" bIns="0" rtlCol="0" anchor="t">
            <a:spAutoFit/>
          </a:bodyPr>
          <a:lstStyle/>
          <a:p>
            <a:pPr algn="l">
              <a:lnSpc>
                <a:spcPts val="4700"/>
              </a:lnSpc>
            </a:pPr>
            <a:r>
              <a:rPr lang="en-US" sz="4700" b="1">
                <a:solidFill>
                  <a:srgbClr val="000000"/>
                </a:solidFill>
                <a:latin typeface="Codec Pro Bold"/>
                <a:ea typeface="Codec Pro Bold"/>
                <a:cs typeface="Codec Pro Bold"/>
                <a:sym typeface="Codec Pro Bold"/>
              </a:rPr>
              <a:t>         Introduction to REST APIs:</a:t>
            </a:r>
          </a:p>
          <a:p>
            <a:pPr algn="ctr">
              <a:lnSpc>
                <a:spcPts val="4200"/>
              </a:lnSpc>
            </a:pPr>
            <a:r>
              <a:rPr lang="en-US" sz="4200" b="1">
                <a:solidFill>
                  <a:srgbClr val="000000"/>
                </a:solidFill>
                <a:latin typeface="Codec Pro Bold"/>
                <a:ea typeface="Codec Pro Bold"/>
                <a:cs typeface="Codec Pro Bold"/>
                <a:sym typeface="Codec Pro Bold"/>
              </a:rPr>
              <a:t>Flexibitlity,principales </a:t>
            </a:r>
          </a:p>
          <a:p>
            <a:pPr algn="ctr">
              <a:lnSpc>
                <a:spcPts val="4200"/>
              </a:lnSpc>
            </a:pPr>
            <a:r>
              <a:rPr lang="en-US" sz="4200" b="1">
                <a:solidFill>
                  <a:srgbClr val="000000"/>
                </a:solidFill>
                <a:latin typeface="Codec Pro Bold"/>
                <a:ea typeface="Codec Pro Bold"/>
                <a:cs typeface="Codec Pro Bold"/>
                <a:sym typeface="Codec Pro Bold"/>
              </a:rPr>
              <a:t>and applications</a:t>
            </a:r>
          </a:p>
        </p:txBody>
      </p:sp>
      <p:sp>
        <p:nvSpPr>
          <p:cNvPr id="17" name="TextBox 17"/>
          <p:cNvSpPr txBox="1"/>
          <p:nvPr/>
        </p:nvSpPr>
        <p:spPr>
          <a:xfrm>
            <a:off x="7575871" y="3993797"/>
            <a:ext cx="10435096" cy="3768855"/>
          </a:xfrm>
          <a:prstGeom prst="rect">
            <a:avLst/>
          </a:prstGeom>
        </p:spPr>
        <p:txBody>
          <a:bodyPr lIns="0" tIns="0" rIns="0" bIns="0" rtlCol="0" anchor="t">
            <a:spAutoFit/>
          </a:bodyPr>
          <a:lstStyle/>
          <a:p>
            <a:pPr algn="just">
              <a:lnSpc>
                <a:spcPts val="3317"/>
              </a:lnSpc>
            </a:pPr>
            <a:r>
              <a:rPr lang="en-US" sz="2369">
                <a:solidFill>
                  <a:srgbClr val="000000"/>
                </a:solidFill>
                <a:latin typeface="Montserrat"/>
                <a:ea typeface="Montserrat"/>
                <a:cs typeface="Montserrat"/>
                <a:sym typeface="Montserrat"/>
              </a:rPr>
              <a:t>Unlike APIs like SOAP, which impose a strict XML structure, REST APIs are more flexible and allow data to be handled in various formats, notably JSON, valued for its lightweight nature.</a:t>
            </a:r>
          </a:p>
          <a:p>
            <a:pPr algn="just">
              <a:lnSpc>
                <a:spcPts val="3317"/>
              </a:lnSpc>
            </a:pPr>
            <a:r>
              <a:rPr lang="en-US" sz="2369">
                <a:solidFill>
                  <a:srgbClr val="26CBB8"/>
                </a:solidFill>
                <a:latin typeface="Montserrat"/>
                <a:ea typeface="Montserrat"/>
                <a:cs typeface="Montserrat"/>
                <a:sym typeface="Montserrat"/>
              </a:rPr>
              <a:t>Basic principles:</a:t>
            </a:r>
            <a:r>
              <a:rPr lang="en-US" sz="2369">
                <a:solidFill>
                  <a:srgbClr val="000000"/>
                </a:solidFill>
                <a:latin typeface="Montserrat"/>
                <a:ea typeface="Montserrat"/>
                <a:cs typeface="Montserrat"/>
                <a:sym typeface="Montserrat"/>
              </a:rPr>
              <a:t> REST APIs use standard HTTP methods and enable request independence, responding in real-time to client applications. These principles explain their wide adoption.</a:t>
            </a:r>
          </a:p>
          <a:p>
            <a:pPr algn="just">
              <a:lnSpc>
                <a:spcPts val="3317"/>
              </a:lnSpc>
              <a:spcBef>
                <a:spcPct val="0"/>
              </a:spcBef>
            </a:pPr>
            <a:r>
              <a:rPr lang="en-US" sz="2369">
                <a:solidFill>
                  <a:srgbClr val="26CBB8"/>
                </a:solidFill>
                <a:latin typeface="Montserrat"/>
                <a:ea typeface="Montserrat"/>
                <a:cs typeface="Montserrat"/>
                <a:sym typeface="Montserrat"/>
              </a:rPr>
              <a:t>Examples of use:</a:t>
            </a:r>
            <a:r>
              <a:rPr lang="en-US" sz="2369">
                <a:solidFill>
                  <a:srgbClr val="000000"/>
                </a:solidFill>
                <a:latin typeface="Montserrat"/>
                <a:ea typeface="Montserrat"/>
                <a:cs typeface="Montserrat"/>
                <a:sym typeface="Montserrat"/>
              </a:rPr>
              <a:t> Major platforms (Facebook, Google, Twitter) use REST APIs to integrate their services. For instance, a weather app can retrieve data via a REST API.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3668375" y="3567560"/>
            <a:ext cx="4619625" cy="4123431"/>
            <a:chOff x="0" y="0"/>
            <a:chExt cx="1386618" cy="1237681"/>
          </a:xfrm>
        </p:grpSpPr>
        <p:sp>
          <p:nvSpPr>
            <p:cNvPr id="3" name="Freeform 3"/>
            <p:cNvSpPr/>
            <p:nvPr/>
          </p:nvSpPr>
          <p:spPr>
            <a:xfrm>
              <a:off x="0" y="0"/>
              <a:ext cx="1386618" cy="1237681"/>
            </a:xfrm>
            <a:custGeom>
              <a:avLst/>
              <a:gdLst/>
              <a:ahLst/>
              <a:cxnLst/>
              <a:rect l="l" t="t" r="r" b="b"/>
              <a:pathLst>
                <a:path w="1386618" h="1237681">
                  <a:moveTo>
                    <a:pt x="0" y="0"/>
                  </a:moveTo>
                  <a:lnTo>
                    <a:pt x="1386618" y="0"/>
                  </a:lnTo>
                  <a:lnTo>
                    <a:pt x="1386618" y="1237681"/>
                  </a:lnTo>
                  <a:lnTo>
                    <a:pt x="0" y="1237681"/>
                  </a:lnTo>
                  <a:close/>
                </a:path>
              </a:pathLst>
            </a:custGeom>
            <a:solidFill>
              <a:srgbClr val="658FC7"/>
            </a:solidFill>
          </p:spPr>
        </p:sp>
        <p:sp>
          <p:nvSpPr>
            <p:cNvPr id="4" name="TextBox 4"/>
            <p:cNvSpPr txBox="1"/>
            <p:nvPr/>
          </p:nvSpPr>
          <p:spPr>
            <a:xfrm>
              <a:off x="0" y="-38100"/>
              <a:ext cx="1386618" cy="1275781"/>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9144000" y="3567560"/>
            <a:ext cx="4524375" cy="4123431"/>
            <a:chOff x="0" y="0"/>
            <a:chExt cx="1358028" cy="1237681"/>
          </a:xfrm>
        </p:grpSpPr>
        <p:sp>
          <p:nvSpPr>
            <p:cNvPr id="6" name="Freeform 6"/>
            <p:cNvSpPr/>
            <p:nvPr/>
          </p:nvSpPr>
          <p:spPr>
            <a:xfrm>
              <a:off x="0" y="0"/>
              <a:ext cx="1358028" cy="1237681"/>
            </a:xfrm>
            <a:custGeom>
              <a:avLst/>
              <a:gdLst/>
              <a:ahLst/>
              <a:cxnLst/>
              <a:rect l="l" t="t" r="r" b="b"/>
              <a:pathLst>
                <a:path w="1358028" h="1237681">
                  <a:moveTo>
                    <a:pt x="0" y="0"/>
                  </a:moveTo>
                  <a:lnTo>
                    <a:pt x="1358028" y="0"/>
                  </a:lnTo>
                  <a:lnTo>
                    <a:pt x="1358028" y="1237681"/>
                  </a:lnTo>
                  <a:lnTo>
                    <a:pt x="0" y="1237681"/>
                  </a:lnTo>
                  <a:close/>
                </a:path>
              </a:pathLst>
            </a:custGeom>
            <a:solidFill>
              <a:srgbClr val="6C9FC9"/>
            </a:solidFill>
          </p:spPr>
        </p:sp>
        <p:sp>
          <p:nvSpPr>
            <p:cNvPr id="7" name="TextBox 7"/>
            <p:cNvSpPr txBox="1"/>
            <p:nvPr/>
          </p:nvSpPr>
          <p:spPr>
            <a:xfrm>
              <a:off x="0" y="-38100"/>
              <a:ext cx="1358028" cy="1275781"/>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4524375" y="3567560"/>
            <a:ext cx="4619625" cy="4123431"/>
            <a:chOff x="0" y="0"/>
            <a:chExt cx="1386618" cy="1237681"/>
          </a:xfrm>
        </p:grpSpPr>
        <p:sp>
          <p:nvSpPr>
            <p:cNvPr id="9" name="Freeform 9"/>
            <p:cNvSpPr/>
            <p:nvPr/>
          </p:nvSpPr>
          <p:spPr>
            <a:xfrm>
              <a:off x="0" y="0"/>
              <a:ext cx="1386618" cy="1237681"/>
            </a:xfrm>
            <a:custGeom>
              <a:avLst/>
              <a:gdLst/>
              <a:ahLst/>
              <a:cxnLst/>
              <a:rect l="l" t="t" r="r" b="b"/>
              <a:pathLst>
                <a:path w="1386618" h="1237681">
                  <a:moveTo>
                    <a:pt x="0" y="0"/>
                  </a:moveTo>
                  <a:lnTo>
                    <a:pt x="1386618" y="0"/>
                  </a:lnTo>
                  <a:lnTo>
                    <a:pt x="1386618" y="1237681"/>
                  </a:lnTo>
                  <a:lnTo>
                    <a:pt x="0" y="1237681"/>
                  </a:lnTo>
                  <a:close/>
                </a:path>
              </a:pathLst>
            </a:custGeom>
            <a:solidFill>
              <a:srgbClr val="65ABC5"/>
            </a:solidFill>
          </p:spPr>
        </p:sp>
        <p:sp>
          <p:nvSpPr>
            <p:cNvPr id="10" name="TextBox 10"/>
            <p:cNvSpPr txBox="1"/>
            <p:nvPr/>
          </p:nvSpPr>
          <p:spPr>
            <a:xfrm>
              <a:off x="0" y="-38100"/>
              <a:ext cx="1386618" cy="1275781"/>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0" y="3567560"/>
            <a:ext cx="4524375" cy="4123431"/>
            <a:chOff x="0" y="0"/>
            <a:chExt cx="1358028" cy="1237681"/>
          </a:xfrm>
        </p:grpSpPr>
        <p:sp>
          <p:nvSpPr>
            <p:cNvPr id="12" name="Freeform 12"/>
            <p:cNvSpPr/>
            <p:nvPr/>
          </p:nvSpPr>
          <p:spPr>
            <a:xfrm>
              <a:off x="0" y="0"/>
              <a:ext cx="1358028" cy="1237681"/>
            </a:xfrm>
            <a:custGeom>
              <a:avLst/>
              <a:gdLst/>
              <a:ahLst/>
              <a:cxnLst/>
              <a:rect l="l" t="t" r="r" b="b"/>
              <a:pathLst>
                <a:path w="1358028" h="1237681">
                  <a:moveTo>
                    <a:pt x="0" y="0"/>
                  </a:moveTo>
                  <a:lnTo>
                    <a:pt x="1358028" y="0"/>
                  </a:lnTo>
                  <a:lnTo>
                    <a:pt x="1358028" y="1237681"/>
                  </a:lnTo>
                  <a:lnTo>
                    <a:pt x="0" y="1237681"/>
                  </a:lnTo>
                  <a:close/>
                </a:path>
              </a:pathLst>
            </a:custGeom>
            <a:solidFill>
              <a:srgbClr val="A2C0E2"/>
            </a:solidFill>
          </p:spPr>
        </p:sp>
        <p:sp>
          <p:nvSpPr>
            <p:cNvPr id="13" name="TextBox 13"/>
            <p:cNvSpPr txBox="1"/>
            <p:nvPr/>
          </p:nvSpPr>
          <p:spPr>
            <a:xfrm>
              <a:off x="0" y="-38100"/>
              <a:ext cx="1358028" cy="1275781"/>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422430" y="8471471"/>
            <a:ext cx="481870" cy="372614"/>
            <a:chOff x="0" y="0"/>
            <a:chExt cx="812800" cy="628511"/>
          </a:xfrm>
        </p:grpSpPr>
        <p:sp>
          <p:nvSpPr>
            <p:cNvPr id="15" name="Freeform 15"/>
            <p:cNvSpPr/>
            <p:nvPr/>
          </p:nvSpPr>
          <p:spPr>
            <a:xfrm>
              <a:off x="0" y="0"/>
              <a:ext cx="812800" cy="628511"/>
            </a:xfrm>
            <a:custGeom>
              <a:avLst/>
              <a:gdLst/>
              <a:ahLst/>
              <a:cxnLst/>
              <a:rect l="l" t="t" r="r" b="b"/>
              <a:pathLst>
                <a:path w="812800" h="628511">
                  <a:moveTo>
                    <a:pt x="812800" y="314255"/>
                  </a:moveTo>
                  <a:lnTo>
                    <a:pt x="406400" y="0"/>
                  </a:lnTo>
                  <a:lnTo>
                    <a:pt x="406400" y="203200"/>
                  </a:lnTo>
                  <a:lnTo>
                    <a:pt x="0" y="203200"/>
                  </a:lnTo>
                  <a:lnTo>
                    <a:pt x="0" y="425311"/>
                  </a:lnTo>
                  <a:lnTo>
                    <a:pt x="406400" y="425311"/>
                  </a:lnTo>
                  <a:lnTo>
                    <a:pt x="406400" y="628511"/>
                  </a:lnTo>
                  <a:lnTo>
                    <a:pt x="812800" y="314255"/>
                  </a:lnTo>
                  <a:close/>
                </a:path>
              </a:pathLst>
            </a:custGeom>
            <a:solidFill>
              <a:srgbClr val="658FC7"/>
            </a:solidFill>
          </p:spPr>
        </p:sp>
        <p:sp>
          <p:nvSpPr>
            <p:cNvPr id="16" name="TextBox 16"/>
            <p:cNvSpPr txBox="1"/>
            <p:nvPr/>
          </p:nvSpPr>
          <p:spPr>
            <a:xfrm>
              <a:off x="0" y="165100"/>
              <a:ext cx="711200" cy="260211"/>
            </a:xfrm>
            <a:prstGeom prst="rect">
              <a:avLst/>
            </a:prstGeom>
          </p:spPr>
          <p:txBody>
            <a:bodyPr lIns="50800" tIns="50800" rIns="50800" bIns="50800" rtlCol="0" anchor="ctr"/>
            <a:lstStyle/>
            <a:p>
              <a:pPr algn="ctr">
                <a:lnSpc>
                  <a:spcPts val="2659"/>
                </a:lnSpc>
              </a:pPr>
              <a:endParaRPr/>
            </a:p>
          </p:txBody>
        </p:sp>
      </p:grpSp>
      <p:sp>
        <p:nvSpPr>
          <p:cNvPr id="17" name="TextBox 17"/>
          <p:cNvSpPr txBox="1"/>
          <p:nvPr/>
        </p:nvSpPr>
        <p:spPr>
          <a:xfrm>
            <a:off x="615740" y="571500"/>
            <a:ext cx="7305436" cy="1438844"/>
          </a:xfrm>
          <a:prstGeom prst="rect">
            <a:avLst/>
          </a:prstGeom>
        </p:spPr>
        <p:txBody>
          <a:bodyPr lIns="0" tIns="0" rIns="0" bIns="0" rtlCol="0" anchor="t">
            <a:spAutoFit/>
          </a:bodyPr>
          <a:lstStyle/>
          <a:p>
            <a:pPr algn="l">
              <a:lnSpc>
                <a:spcPts val="11591"/>
              </a:lnSpc>
            </a:pPr>
            <a:r>
              <a:rPr lang="en-US" sz="6475" b="1">
                <a:solidFill>
                  <a:srgbClr val="26CBB8"/>
                </a:solidFill>
                <a:latin typeface="Codec Pro Bold"/>
                <a:ea typeface="Codec Pro Bold"/>
                <a:cs typeface="Codec Pro Bold"/>
                <a:sym typeface="Codec Pro Bold"/>
              </a:rPr>
              <a:t>HTTP METHODES :</a:t>
            </a:r>
          </a:p>
        </p:txBody>
      </p:sp>
      <p:sp>
        <p:nvSpPr>
          <p:cNvPr id="18" name="TextBox 18"/>
          <p:cNvSpPr txBox="1"/>
          <p:nvPr/>
        </p:nvSpPr>
        <p:spPr>
          <a:xfrm>
            <a:off x="353056" y="5581650"/>
            <a:ext cx="3915403" cy="1884046"/>
          </a:xfrm>
          <a:prstGeom prst="rect">
            <a:avLst/>
          </a:prstGeom>
        </p:spPr>
        <p:txBody>
          <a:bodyPr lIns="0" tIns="0" rIns="0" bIns="0" rtlCol="0" anchor="t">
            <a:spAutoFit/>
          </a:bodyPr>
          <a:lstStyle/>
          <a:p>
            <a:pPr algn="ctr">
              <a:lnSpc>
                <a:spcPts val="3779"/>
              </a:lnSpc>
            </a:pPr>
            <a:r>
              <a:rPr lang="en-US" sz="2699" b="1">
                <a:solidFill>
                  <a:srgbClr val="FFFFFF"/>
                </a:solidFill>
                <a:latin typeface="Montserrat Medium"/>
                <a:ea typeface="Montserrat Medium"/>
                <a:cs typeface="Montserrat Medium"/>
                <a:sym typeface="Montserrat Medium"/>
              </a:rPr>
              <a:t>to retrieve data.</a:t>
            </a:r>
          </a:p>
          <a:p>
            <a:pPr algn="ctr">
              <a:lnSpc>
                <a:spcPts val="3779"/>
              </a:lnSpc>
            </a:pPr>
            <a:endParaRPr lang="en-US" sz="2699" b="1">
              <a:solidFill>
                <a:srgbClr val="FFFFFF"/>
              </a:solidFill>
              <a:latin typeface="Montserrat Medium"/>
              <a:ea typeface="Montserrat Medium"/>
              <a:cs typeface="Montserrat Medium"/>
              <a:sym typeface="Montserrat Medium"/>
            </a:endParaRPr>
          </a:p>
          <a:p>
            <a:pPr algn="ctr">
              <a:lnSpc>
                <a:spcPts val="3779"/>
              </a:lnSpc>
            </a:pPr>
            <a:endParaRPr lang="en-US" sz="2699" b="1">
              <a:solidFill>
                <a:srgbClr val="FFFFFF"/>
              </a:solidFill>
              <a:latin typeface="Montserrat Medium"/>
              <a:ea typeface="Montserrat Medium"/>
              <a:cs typeface="Montserrat Medium"/>
              <a:sym typeface="Montserrat Medium"/>
            </a:endParaRPr>
          </a:p>
          <a:p>
            <a:pPr algn="ctr">
              <a:lnSpc>
                <a:spcPts val="3779"/>
              </a:lnSpc>
              <a:spcBef>
                <a:spcPct val="0"/>
              </a:spcBef>
            </a:pPr>
            <a:endParaRPr lang="en-US" sz="2699" b="1">
              <a:solidFill>
                <a:srgbClr val="FFFFFF"/>
              </a:solidFill>
              <a:latin typeface="Montserrat Medium"/>
              <a:ea typeface="Montserrat Medium"/>
              <a:cs typeface="Montserrat Medium"/>
              <a:sym typeface="Montserrat Medium"/>
            </a:endParaRPr>
          </a:p>
        </p:txBody>
      </p:sp>
      <p:sp>
        <p:nvSpPr>
          <p:cNvPr id="19" name="TextBox 19"/>
          <p:cNvSpPr txBox="1"/>
          <p:nvPr/>
        </p:nvSpPr>
        <p:spPr>
          <a:xfrm>
            <a:off x="0" y="4165307"/>
            <a:ext cx="4621514" cy="936627"/>
          </a:xfrm>
          <a:prstGeom prst="rect">
            <a:avLst/>
          </a:prstGeom>
        </p:spPr>
        <p:txBody>
          <a:bodyPr lIns="0" tIns="0" rIns="0" bIns="0" rtlCol="0" anchor="t">
            <a:spAutoFit/>
          </a:bodyPr>
          <a:lstStyle/>
          <a:p>
            <a:pPr algn="ctr">
              <a:lnSpc>
                <a:spcPts val="7699"/>
              </a:lnSpc>
              <a:spcBef>
                <a:spcPct val="0"/>
              </a:spcBef>
            </a:pPr>
            <a:r>
              <a:rPr lang="en-US" sz="5499" b="1">
                <a:solidFill>
                  <a:srgbClr val="26CBB8"/>
                </a:solidFill>
                <a:latin typeface="Montserrat Bold"/>
                <a:ea typeface="Montserrat Bold"/>
                <a:cs typeface="Montserrat Bold"/>
                <a:sym typeface="Montserrat Bold"/>
              </a:rPr>
              <a:t>GET</a:t>
            </a:r>
          </a:p>
        </p:txBody>
      </p:sp>
      <p:sp>
        <p:nvSpPr>
          <p:cNvPr id="20" name="TextBox 20"/>
          <p:cNvSpPr txBox="1"/>
          <p:nvPr/>
        </p:nvSpPr>
        <p:spPr>
          <a:xfrm>
            <a:off x="4524375" y="4165307"/>
            <a:ext cx="4621514" cy="936627"/>
          </a:xfrm>
          <a:prstGeom prst="rect">
            <a:avLst/>
          </a:prstGeom>
        </p:spPr>
        <p:txBody>
          <a:bodyPr lIns="0" tIns="0" rIns="0" bIns="0" rtlCol="0" anchor="t">
            <a:spAutoFit/>
          </a:bodyPr>
          <a:lstStyle/>
          <a:p>
            <a:pPr algn="ctr">
              <a:lnSpc>
                <a:spcPts val="7699"/>
              </a:lnSpc>
              <a:spcBef>
                <a:spcPct val="0"/>
              </a:spcBef>
            </a:pPr>
            <a:r>
              <a:rPr lang="en-US" sz="5499" b="1">
                <a:solidFill>
                  <a:srgbClr val="26CBB8"/>
                </a:solidFill>
                <a:latin typeface="Montserrat Bold"/>
                <a:ea typeface="Montserrat Bold"/>
                <a:cs typeface="Montserrat Bold"/>
                <a:sym typeface="Montserrat Bold"/>
              </a:rPr>
              <a:t>POST</a:t>
            </a:r>
          </a:p>
        </p:txBody>
      </p:sp>
      <p:sp>
        <p:nvSpPr>
          <p:cNvPr id="21" name="TextBox 21"/>
          <p:cNvSpPr txBox="1"/>
          <p:nvPr/>
        </p:nvSpPr>
        <p:spPr>
          <a:xfrm>
            <a:off x="4621514" y="5581650"/>
            <a:ext cx="3915403" cy="2360296"/>
          </a:xfrm>
          <a:prstGeom prst="rect">
            <a:avLst/>
          </a:prstGeom>
        </p:spPr>
        <p:txBody>
          <a:bodyPr lIns="0" tIns="0" rIns="0" bIns="0" rtlCol="0" anchor="t">
            <a:spAutoFit/>
          </a:bodyPr>
          <a:lstStyle/>
          <a:p>
            <a:pPr algn="ctr">
              <a:lnSpc>
                <a:spcPts val="3779"/>
              </a:lnSpc>
            </a:pPr>
            <a:r>
              <a:rPr lang="en-US" sz="2699" b="1">
                <a:solidFill>
                  <a:srgbClr val="FFFFFF"/>
                </a:solidFill>
                <a:latin typeface="Montserrat Medium"/>
                <a:ea typeface="Montserrat Medium"/>
                <a:cs typeface="Montserrat Medium"/>
                <a:sym typeface="Montserrat Medium"/>
              </a:rPr>
              <a:t>to create new resources.</a:t>
            </a:r>
          </a:p>
          <a:p>
            <a:pPr algn="ctr">
              <a:lnSpc>
                <a:spcPts val="3779"/>
              </a:lnSpc>
            </a:pPr>
            <a:endParaRPr lang="en-US" sz="2699" b="1">
              <a:solidFill>
                <a:srgbClr val="FFFFFF"/>
              </a:solidFill>
              <a:latin typeface="Montserrat Medium"/>
              <a:ea typeface="Montserrat Medium"/>
              <a:cs typeface="Montserrat Medium"/>
              <a:sym typeface="Montserrat Medium"/>
            </a:endParaRPr>
          </a:p>
          <a:p>
            <a:pPr algn="ctr">
              <a:lnSpc>
                <a:spcPts val="3779"/>
              </a:lnSpc>
            </a:pPr>
            <a:endParaRPr lang="en-US" sz="2699" b="1">
              <a:solidFill>
                <a:srgbClr val="FFFFFF"/>
              </a:solidFill>
              <a:latin typeface="Montserrat Medium"/>
              <a:ea typeface="Montserrat Medium"/>
              <a:cs typeface="Montserrat Medium"/>
              <a:sym typeface="Montserrat Medium"/>
            </a:endParaRPr>
          </a:p>
          <a:p>
            <a:pPr algn="ctr">
              <a:lnSpc>
                <a:spcPts val="3779"/>
              </a:lnSpc>
              <a:spcBef>
                <a:spcPct val="0"/>
              </a:spcBef>
            </a:pPr>
            <a:endParaRPr lang="en-US" sz="2699" b="1">
              <a:solidFill>
                <a:srgbClr val="FFFFFF"/>
              </a:solidFill>
              <a:latin typeface="Montserrat Medium"/>
              <a:ea typeface="Montserrat Medium"/>
              <a:cs typeface="Montserrat Medium"/>
              <a:sym typeface="Montserrat Medium"/>
            </a:endParaRPr>
          </a:p>
        </p:txBody>
      </p:sp>
      <p:sp>
        <p:nvSpPr>
          <p:cNvPr id="22" name="TextBox 22"/>
          <p:cNvSpPr txBox="1"/>
          <p:nvPr/>
        </p:nvSpPr>
        <p:spPr>
          <a:xfrm>
            <a:off x="9046861" y="4165307"/>
            <a:ext cx="4621514" cy="936627"/>
          </a:xfrm>
          <a:prstGeom prst="rect">
            <a:avLst/>
          </a:prstGeom>
        </p:spPr>
        <p:txBody>
          <a:bodyPr lIns="0" tIns="0" rIns="0" bIns="0" rtlCol="0" anchor="t">
            <a:spAutoFit/>
          </a:bodyPr>
          <a:lstStyle/>
          <a:p>
            <a:pPr algn="ctr">
              <a:lnSpc>
                <a:spcPts val="7699"/>
              </a:lnSpc>
              <a:spcBef>
                <a:spcPct val="0"/>
              </a:spcBef>
            </a:pPr>
            <a:r>
              <a:rPr lang="en-US" sz="5499" b="1">
                <a:solidFill>
                  <a:srgbClr val="26CBB8"/>
                </a:solidFill>
                <a:latin typeface="Montserrat Bold"/>
                <a:ea typeface="Montserrat Bold"/>
                <a:cs typeface="Montserrat Bold"/>
                <a:sym typeface="Montserrat Bold"/>
              </a:rPr>
              <a:t>PUT</a:t>
            </a:r>
          </a:p>
        </p:txBody>
      </p:sp>
      <p:sp>
        <p:nvSpPr>
          <p:cNvPr id="23" name="TextBox 23"/>
          <p:cNvSpPr txBox="1"/>
          <p:nvPr/>
        </p:nvSpPr>
        <p:spPr>
          <a:xfrm>
            <a:off x="13668375" y="4165307"/>
            <a:ext cx="4621514" cy="936627"/>
          </a:xfrm>
          <a:prstGeom prst="rect">
            <a:avLst/>
          </a:prstGeom>
        </p:spPr>
        <p:txBody>
          <a:bodyPr lIns="0" tIns="0" rIns="0" bIns="0" rtlCol="0" anchor="t">
            <a:spAutoFit/>
          </a:bodyPr>
          <a:lstStyle/>
          <a:p>
            <a:pPr algn="ctr">
              <a:lnSpc>
                <a:spcPts val="7699"/>
              </a:lnSpc>
              <a:spcBef>
                <a:spcPct val="0"/>
              </a:spcBef>
            </a:pPr>
            <a:r>
              <a:rPr lang="en-US" sz="5499" b="1">
                <a:solidFill>
                  <a:srgbClr val="26CBB8"/>
                </a:solidFill>
                <a:latin typeface="Montserrat Bold"/>
                <a:ea typeface="Montserrat Bold"/>
                <a:cs typeface="Montserrat Bold"/>
                <a:sym typeface="Montserrat Bold"/>
              </a:rPr>
              <a:t>DELETE</a:t>
            </a:r>
          </a:p>
        </p:txBody>
      </p:sp>
      <p:sp>
        <p:nvSpPr>
          <p:cNvPr id="24" name="TextBox 24"/>
          <p:cNvSpPr txBox="1"/>
          <p:nvPr/>
        </p:nvSpPr>
        <p:spPr>
          <a:xfrm>
            <a:off x="14021431" y="5581650"/>
            <a:ext cx="3915403" cy="455296"/>
          </a:xfrm>
          <a:prstGeom prst="rect">
            <a:avLst/>
          </a:prstGeom>
        </p:spPr>
        <p:txBody>
          <a:bodyPr lIns="0" tIns="0" rIns="0" bIns="0" rtlCol="0" anchor="t">
            <a:spAutoFit/>
          </a:bodyPr>
          <a:lstStyle/>
          <a:p>
            <a:pPr algn="ctr">
              <a:lnSpc>
                <a:spcPts val="3779"/>
              </a:lnSpc>
              <a:spcBef>
                <a:spcPct val="0"/>
              </a:spcBef>
            </a:pPr>
            <a:r>
              <a:rPr lang="en-US" sz="2699">
                <a:solidFill>
                  <a:srgbClr val="FFFFFF"/>
                </a:solidFill>
                <a:latin typeface="Montserrat"/>
                <a:ea typeface="Montserrat"/>
                <a:cs typeface="Montserrat"/>
                <a:sym typeface="Montserrat"/>
              </a:rPr>
              <a:t>to delete resources</a:t>
            </a:r>
          </a:p>
        </p:txBody>
      </p:sp>
      <p:sp>
        <p:nvSpPr>
          <p:cNvPr id="25" name="TextBox 25"/>
          <p:cNvSpPr txBox="1"/>
          <p:nvPr/>
        </p:nvSpPr>
        <p:spPr>
          <a:xfrm>
            <a:off x="9448486" y="5581650"/>
            <a:ext cx="3915403" cy="2360296"/>
          </a:xfrm>
          <a:prstGeom prst="rect">
            <a:avLst/>
          </a:prstGeom>
        </p:spPr>
        <p:txBody>
          <a:bodyPr lIns="0" tIns="0" rIns="0" bIns="0" rtlCol="0" anchor="t">
            <a:spAutoFit/>
          </a:bodyPr>
          <a:lstStyle/>
          <a:p>
            <a:pPr algn="ctr">
              <a:lnSpc>
                <a:spcPts val="3779"/>
              </a:lnSpc>
            </a:pPr>
            <a:r>
              <a:rPr lang="en-US" sz="2699" b="1">
                <a:solidFill>
                  <a:srgbClr val="FFFFFF"/>
                </a:solidFill>
                <a:latin typeface="Montserrat Medium"/>
                <a:ea typeface="Montserrat Medium"/>
                <a:cs typeface="Montserrat Medium"/>
                <a:sym typeface="Montserrat Medium"/>
              </a:rPr>
              <a:t>to update existing resources.</a:t>
            </a:r>
          </a:p>
          <a:p>
            <a:pPr algn="ctr">
              <a:lnSpc>
                <a:spcPts val="3779"/>
              </a:lnSpc>
            </a:pPr>
            <a:endParaRPr lang="en-US" sz="2699" b="1">
              <a:solidFill>
                <a:srgbClr val="FFFFFF"/>
              </a:solidFill>
              <a:latin typeface="Montserrat Medium"/>
              <a:ea typeface="Montserrat Medium"/>
              <a:cs typeface="Montserrat Medium"/>
              <a:sym typeface="Montserrat Medium"/>
            </a:endParaRPr>
          </a:p>
          <a:p>
            <a:pPr algn="ctr">
              <a:lnSpc>
                <a:spcPts val="3779"/>
              </a:lnSpc>
            </a:pPr>
            <a:endParaRPr lang="en-US" sz="2699" b="1">
              <a:solidFill>
                <a:srgbClr val="FFFFFF"/>
              </a:solidFill>
              <a:latin typeface="Montserrat Medium"/>
              <a:ea typeface="Montserrat Medium"/>
              <a:cs typeface="Montserrat Medium"/>
              <a:sym typeface="Montserrat Medium"/>
            </a:endParaRPr>
          </a:p>
          <a:p>
            <a:pPr algn="ctr">
              <a:lnSpc>
                <a:spcPts val="3779"/>
              </a:lnSpc>
              <a:spcBef>
                <a:spcPct val="0"/>
              </a:spcBef>
            </a:pPr>
            <a:endParaRPr lang="en-US" sz="2699" b="1">
              <a:solidFill>
                <a:srgbClr val="FFFFFF"/>
              </a:solidFill>
              <a:latin typeface="Montserrat Medium"/>
              <a:ea typeface="Montserrat Medium"/>
              <a:cs typeface="Montserrat Medium"/>
              <a:sym typeface="Montserrat Medium"/>
            </a:endParaRPr>
          </a:p>
        </p:txBody>
      </p:sp>
      <p:sp>
        <p:nvSpPr>
          <p:cNvPr id="26" name="TextBox 26"/>
          <p:cNvSpPr txBox="1"/>
          <p:nvPr/>
        </p:nvSpPr>
        <p:spPr>
          <a:xfrm>
            <a:off x="990600" y="8349485"/>
            <a:ext cx="14806519" cy="2159636"/>
          </a:xfrm>
          <a:prstGeom prst="rect">
            <a:avLst/>
          </a:prstGeom>
        </p:spPr>
        <p:txBody>
          <a:bodyPr lIns="0" tIns="0" rIns="0" bIns="0" rtlCol="0" anchor="t">
            <a:spAutoFit/>
          </a:bodyPr>
          <a:lstStyle/>
          <a:p>
            <a:pPr algn="ctr">
              <a:lnSpc>
                <a:spcPts val="4339"/>
              </a:lnSpc>
            </a:pPr>
            <a:r>
              <a:rPr lang="en-US" sz="3099">
                <a:solidFill>
                  <a:srgbClr val="000000"/>
                </a:solidFill>
                <a:latin typeface="Montserrat"/>
                <a:ea typeface="Montserrat"/>
                <a:cs typeface="Montserrat"/>
                <a:sym typeface="Montserrat"/>
              </a:rPr>
              <a:t>These methods enable clear and standardized management of actions.</a:t>
            </a:r>
          </a:p>
          <a:p>
            <a:pPr algn="ctr">
              <a:lnSpc>
                <a:spcPts val="4339"/>
              </a:lnSpc>
            </a:pPr>
            <a:endParaRPr lang="en-US" sz="3099">
              <a:solidFill>
                <a:srgbClr val="000000"/>
              </a:solidFill>
              <a:latin typeface="Montserrat"/>
              <a:ea typeface="Montserrat"/>
              <a:cs typeface="Montserrat"/>
              <a:sym typeface="Montserrat"/>
            </a:endParaRPr>
          </a:p>
          <a:p>
            <a:pPr algn="ctr">
              <a:lnSpc>
                <a:spcPts val="4339"/>
              </a:lnSpc>
            </a:pPr>
            <a:endParaRPr lang="en-US" sz="3099">
              <a:solidFill>
                <a:srgbClr val="000000"/>
              </a:solidFill>
              <a:latin typeface="Montserrat"/>
              <a:ea typeface="Montserrat"/>
              <a:cs typeface="Montserrat"/>
              <a:sym typeface="Montserrat"/>
            </a:endParaRPr>
          </a:p>
          <a:p>
            <a:pPr algn="ctr">
              <a:lnSpc>
                <a:spcPts val="4339"/>
              </a:lnSpc>
              <a:spcBef>
                <a:spcPct val="0"/>
              </a:spcBef>
            </a:pPr>
            <a:endParaRPr lang="en-US" sz="3099">
              <a:solidFill>
                <a:srgbClr val="000000"/>
              </a:solidFill>
              <a:latin typeface="Montserrat"/>
              <a:ea typeface="Montserrat"/>
              <a:cs typeface="Montserrat"/>
              <a:sym typeface="Montserrat"/>
            </a:endParaRPr>
          </a:p>
        </p:txBody>
      </p:sp>
      <p:grpSp>
        <p:nvGrpSpPr>
          <p:cNvPr id="27" name="Group 27"/>
          <p:cNvGrpSpPr/>
          <p:nvPr/>
        </p:nvGrpSpPr>
        <p:grpSpPr>
          <a:xfrm>
            <a:off x="17149862" y="9258300"/>
            <a:ext cx="861105" cy="861105"/>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29" name="TextBox 29"/>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3</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062891" y="4002144"/>
            <a:ext cx="1175279" cy="861105"/>
            <a:chOff x="0" y="0"/>
            <a:chExt cx="1109350" cy="812800"/>
          </a:xfrm>
        </p:grpSpPr>
        <p:sp>
          <p:nvSpPr>
            <p:cNvPr id="3" name="Freeform 3"/>
            <p:cNvSpPr/>
            <p:nvPr/>
          </p:nvSpPr>
          <p:spPr>
            <a:xfrm>
              <a:off x="0" y="0"/>
              <a:ext cx="1109350" cy="812800"/>
            </a:xfrm>
            <a:custGeom>
              <a:avLst/>
              <a:gdLst/>
              <a:ahLst/>
              <a:cxnLst/>
              <a:rect l="l" t="t" r="r" b="b"/>
              <a:pathLst>
                <a:path w="1109350" h="812800">
                  <a:moveTo>
                    <a:pt x="554675" y="0"/>
                  </a:moveTo>
                  <a:cubicBezTo>
                    <a:pt x="248337" y="0"/>
                    <a:pt x="0" y="181951"/>
                    <a:pt x="0" y="406400"/>
                  </a:cubicBezTo>
                  <a:cubicBezTo>
                    <a:pt x="0" y="630849"/>
                    <a:pt x="248337" y="812800"/>
                    <a:pt x="554675" y="812800"/>
                  </a:cubicBezTo>
                  <a:cubicBezTo>
                    <a:pt x="861014" y="812800"/>
                    <a:pt x="1109350" y="630849"/>
                    <a:pt x="1109350" y="406400"/>
                  </a:cubicBezTo>
                  <a:cubicBezTo>
                    <a:pt x="1109350" y="181951"/>
                    <a:pt x="861014" y="0"/>
                    <a:pt x="554675" y="0"/>
                  </a:cubicBezTo>
                  <a:close/>
                </a:path>
              </a:pathLst>
            </a:custGeom>
            <a:solidFill>
              <a:srgbClr val="000000">
                <a:alpha val="0"/>
              </a:srgbClr>
            </a:solidFill>
            <a:ln w="9525" cap="sq">
              <a:solidFill>
                <a:srgbClr val="856EE0"/>
              </a:solidFill>
              <a:prstDash val="solid"/>
              <a:miter/>
            </a:ln>
          </p:spPr>
        </p:sp>
        <p:sp>
          <p:nvSpPr>
            <p:cNvPr id="4" name="TextBox 4"/>
            <p:cNvSpPr txBox="1"/>
            <p:nvPr/>
          </p:nvSpPr>
          <p:spPr>
            <a:xfrm>
              <a:off x="104002" y="28575"/>
              <a:ext cx="901347"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01</a:t>
              </a:r>
            </a:p>
          </p:txBody>
        </p:sp>
      </p:grpSp>
      <p:grpSp>
        <p:nvGrpSpPr>
          <p:cNvPr id="5" name="Group 5"/>
          <p:cNvGrpSpPr/>
          <p:nvPr/>
        </p:nvGrpSpPr>
        <p:grpSpPr>
          <a:xfrm>
            <a:off x="10586734" y="2765517"/>
            <a:ext cx="6734640" cy="6492783"/>
            <a:chOff x="0" y="0"/>
            <a:chExt cx="1773732" cy="1710033"/>
          </a:xfrm>
        </p:grpSpPr>
        <p:sp>
          <p:nvSpPr>
            <p:cNvPr id="6" name="Freeform 6"/>
            <p:cNvSpPr/>
            <p:nvPr/>
          </p:nvSpPr>
          <p:spPr>
            <a:xfrm>
              <a:off x="0" y="0"/>
              <a:ext cx="1773732" cy="1710033"/>
            </a:xfrm>
            <a:custGeom>
              <a:avLst/>
              <a:gdLst/>
              <a:ahLst/>
              <a:cxnLst/>
              <a:rect l="l" t="t" r="r" b="b"/>
              <a:pathLst>
                <a:path w="1773732" h="1710033">
                  <a:moveTo>
                    <a:pt x="58628" y="0"/>
                  </a:moveTo>
                  <a:lnTo>
                    <a:pt x="1715105" y="0"/>
                  </a:lnTo>
                  <a:cubicBezTo>
                    <a:pt x="1730654" y="0"/>
                    <a:pt x="1745566" y="6177"/>
                    <a:pt x="1756561" y="17172"/>
                  </a:cubicBezTo>
                  <a:cubicBezTo>
                    <a:pt x="1767556" y="28167"/>
                    <a:pt x="1773732" y="43079"/>
                    <a:pt x="1773732" y="58628"/>
                  </a:cubicBezTo>
                  <a:lnTo>
                    <a:pt x="1773732" y="1651405"/>
                  </a:lnTo>
                  <a:cubicBezTo>
                    <a:pt x="1773732" y="1683785"/>
                    <a:pt x="1747484" y="1710033"/>
                    <a:pt x="1715105" y="1710033"/>
                  </a:cubicBezTo>
                  <a:lnTo>
                    <a:pt x="58628" y="1710033"/>
                  </a:lnTo>
                  <a:cubicBezTo>
                    <a:pt x="43079" y="1710033"/>
                    <a:pt x="28167" y="1703856"/>
                    <a:pt x="17172" y="1692862"/>
                  </a:cubicBezTo>
                  <a:cubicBezTo>
                    <a:pt x="6177" y="1681867"/>
                    <a:pt x="0" y="1666954"/>
                    <a:pt x="0" y="1651405"/>
                  </a:cubicBezTo>
                  <a:lnTo>
                    <a:pt x="0" y="58628"/>
                  </a:lnTo>
                  <a:cubicBezTo>
                    <a:pt x="0" y="43079"/>
                    <a:pt x="6177" y="28167"/>
                    <a:pt x="17172" y="17172"/>
                  </a:cubicBezTo>
                  <a:cubicBezTo>
                    <a:pt x="28167" y="6177"/>
                    <a:pt x="43079" y="0"/>
                    <a:pt x="58628" y="0"/>
                  </a:cubicBezTo>
                  <a:close/>
                </a:path>
              </a:pathLst>
            </a:custGeom>
            <a:solidFill>
              <a:srgbClr val="CCDDFC"/>
            </a:solidFill>
          </p:spPr>
        </p:sp>
        <p:sp>
          <p:nvSpPr>
            <p:cNvPr id="7" name="TextBox 7"/>
            <p:cNvSpPr txBox="1"/>
            <p:nvPr/>
          </p:nvSpPr>
          <p:spPr>
            <a:xfrm>
              <a:off x="0" y="-38100"/>
              <a:ext cx="1773732" cy="1748133"/>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7178437" y="9258300"/>
            <a:ext cx="861105" cy="861105"/>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4</a:t>
              </a:r>
            </a:p>
          </p:txBody>
        </p:sp>
      </p:grpSp>
      <p:sp>
        <p:nvSpPr>
          <p:cNvPr id="11" name="Freeform 11"/>
          <p:cNvSpPr/>
          <p:nvPr/>
        </p:nvSpPr>
        <p:spPr>
          <a:xfrm>
            <a:off x="10741857" y="3090109"/>
            <a:ext cx="6377726" cy="5618473"/>
          </a:xfrm>
          <a:custGeom>
            <a:avLst/>
            <a:gdLst/>
            <a:ahLst/>
            <a:cxnLst/>
            <a:rect l="l" t="t" r="r" b="b"/>
            <a:pathLst>
              <a:path w="6377726" h="5618473">
                <a:moveTo>
                  <a:pt x="0" y="0"/>
                </a:moveTo>
                <a:lnTo>
                  <a:pt x="6377726" y="0"/>
                </a:lnTo>
                <a:lnTo>
                  <a:pt x="6377726" y="5618472"/>
                </a:lnTo>
                <a:lnTo>
                  <a:pt x="0" y="5618472"/>
                </a:lnTo>
                <a:lnTo>
                  <a:pt x="0" y="0"/>
                </a:lnTo>
                <a:close/>
              </a:path>
            </a:pathLst>
          </a:custGeom>
          <a:blipFill>
            <a:blip r:embed="rId2"/>
            <a:stretch>
              <a:fillRect/>
            </a:stretch>
          </a:blipFill>
        </p:spPr>
      </p:sp>
      <p:sp>
        <p:nvSpPr>
          <p:cNvPr id="12" name="TextBox 12"/>
          <p:cNvSpPr txBox="1"/>
          <p:nvPr/>
        </p:nvSpPr>
        <p:spPr>
          <a:xfrm>
            <a:off x="2600456" y="4222304"/>
            <a:ext cx="3944194" cy="430310"/>
          </a:xfrm>
          <a:prstGeom prst="rect">
            <a:avLst/>
          </a:prstGeom>
        </p:spPr>
        <p:txBody>
          <a:bodyPr lIns="0" tIns="0" rIns="0" bIns="0" rtlCol="0" anchor="t">
            <a:spAutoFit/>
          </a:bodyPr>
          <a:lstStyle/>
          <a:p>
            <a:pPr algn="l">
              <a:lnSpc>
                <a:spcPts val="3442"/>
              </a:lnSpc>
            </a:pPr>
            <a:r>
              <a:rPr lang="en-US" sz="2942" b="1">
                <a:solidFill>
                  <a:srgbClr val="856EE0"/>
                </a:solidFill>
                <a:latin typeface="Montserrat Bold"/>
                <a:ea typeface="Montserrat Bold"/>
                <a:cs typeface="Montserrat Bold"/>
                <a:sym typeface="Montserrat Bold"/>
              </a:rPr>
              <a:t>Statelessness : </a:t>
            </a:r>
          </a:p>
        </p:txBody>
      </p:sp>
      <p:sp>
        <p:nvSpPr>
          <p:cNvPr id="13" name="TextBox 13"/>
          <p:cNvSpPr txBox="1"/>
          <p:nvPr/>
        </p:nvSpPr>
        <p:spPr>
          <a:xfrm>
            <a:off x="1650531" y="5095875"/>
            <a:ext cx="8574253" cy="3842766"/>
          </a:xfrm>
          <a:prstGeom prst="rect">
            <a:avLst/>
          </a:prstGeom>
        </p:spPr>
        <p:txBody>
          <a:bodyPr lIns="0" tIns="0" rIns="0" bIns="0" rtlCol="0" anchor="t">
            <a:spAutoFit/>
          </a:bodyPr>
          <a:lstStyle/>
          <a:p>
            <a:pPr algn="l">
              <a:lnSpc>
                <a:spcPts val="3444"/>
              </a:lnSpc>
            </a:pPr>
            <a:endParaRPr/>
          </a:p>
          <a:p>
            <a:pPr algn="l">
              <a:lnSpc>
                <a:spcPts val="3444"/>
              </a:lnSpc>
            </a:pPr>
            <a:r>
              <a:rPr lang="en-US" sz="2460">
                <a:solidFill>
                  <a:srgbClr val="000000"/>
                </a:solidFill>
                <a:latin typeface="Montserrat"/>
                <a:ea typeface="Montserrat"/>
                <a:cs typeface="Montserrat"/>
                <a:sym typeface="Montserrat"/>
              </a:rPr>
              <a:t>One of the key principles of REST is statelessness, or request independence. Each request sent to the server must contain all the information necessary to be processed, without depending on a previous request. This means the server does not retain session state between requests, which facilitates scalability and reliability.</a:t>
            </a:r>
          </a:p>
          <a:p>
            <a:pPr algn="l">
              <a:lnSpc>
                <a:spcPts val="3444"/>
              </a:lnSpc>
              <a:spcBef>
                <a:spcPct val="0"/>
              </a:spcBef>
            </a:pPr>
            <a:endParaRPr lang="en-US" sz="2460">
              <a:solidFill>
                <a:srgbClr val="000000"/>
              </a:solidFill>
              <a:latin typeface="Montserrat"/>
              <a:ea typeface="Montserrat"/>
              <a:cs typeface="Montserrat"/>
              <a:sym typeface="Montserrat"/>
            </a:endParaRPr>
          </a:p>
        </p:txBody>
      </p:sp>
      <p:sp>
        <p:nvSpPr>
          <p:cNvPr id="14" name="TextBox 14"/>
          <p:cNvSpPr txBox="1"/>
          <p:nvPr/>
        </p:nvSpPr>
        <p:spPr>
          <a:xfrm>
            <a:off x="330931" y="1561192"/>
            <a:ext cx="8679559" cy="955052"/>
          </a:xfrm>
          <a:prstGeom prst="rect">
            <a:avLst/>
          </a:prstGeom>
        </p:spPr>
        <p:txBody>
          <a:bodyPr lIns="0" tIns="0" rIns="0" bIns="0" rtlCol="0" anchor="t">
            <a:spAutoFit/>
          </a:bodyPr>
          <a:lstStyle/>
          <a:p>
            <a:pPr algn="l">
              <a:lnSpc>
                <a:spcPts val="6475"/>
              </a:lnSpc>
            </a:pPr>
            <a:r>
              <a:rPr lang="en-US" sz="6475" b="1">
                <a:solidFill>
                  <a:srgbClr val="000000"/>
                </a:solidFill>
                <a:latin typeface="Codec Pro Bold"/>
                <a:ea typeface="Codec Pro Bold"/>
                <a:cs typeface="Codec Pro Bold"/>
                <a:sym typeface="Codec Pro Bold"/>
              </a:rPr>
              <a:t>key principales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447245" y="2006670"/>
            <a:ext cx="1240840" cy="861105"/>
            <a:chOff x="0" y="0"/>
            <a:chExt cx="1171234" cy="812800"/>
          </a:xfrm>
        </p:grpSpPr>
        <p:sp>
          <p:nvSpPr>
            <p:cNvPr id="3" name="Freeform 3"/>
            <p:cNvSpPr/>
            <p:nvPr/>
          </p:nvSpPr>
          <p:spPr>
            <a:xfrm>
              <a:off x="0" y="0"/>
              <a:ext cx="1171234" cy="812800"/>
            </a:xfrm>
            <a:custGeom>
              <a:avLst/>
              <a:gdLst/>
              <a:ahLst/>
              <a:cxnLst/>
              <a:rect l="l" t="t" r="r" b="b"/>
              <a:pathLst>
                <a:path w="1171234" h="812800">
                  <a:moveTo>
                    <a:pt x="585617" y="0"/>
                  </a:moveTo>
                  <a:cubicBezTo>
                    <a:pt x="262190" y="0"/>
                    <a:pt x="0" y="181951"/>
                    <a:pt x="0" y="406400"/>
                  </a:cubicBezTo>
                  <a:cubicBezTo>
                    <a:pt x="0" y="630849"/>
                    <a:pt x="262190" y="812800"/>
                    <a:pt x="585617" y="812800"/>
                  </a:cubicBezTo>
                  <a:cubicBezTo>
                    <a:pt x="909044" y="812800"/>
                    <a:pt x="1171234" y="630849"/>
                    <a:pt x="1171234" y="406400"/>
                  </a:cubicBezTo>
                  <a:cubicBezTo>
                    <a:pt x="1171234" y="181951"/>
                    <a:pt x="909044" y="0"/>
                    <a:pt x="585617" y="0"/>
                  </a:cubicBezTo>
                  <a:close/>
                </a:path>
              </a:pathLst>
            </a:custGeom>
            <a:solidFill>
              <a:srgbClr val="000000">
                <a:alpha val="0"/>
              </a:srgbClr>
            </a:solidFill>
            <a:ln w="9525" cap="sq">
              <a:solidFill>
                <a:srgbClr val="856EE0"/>
              </a:solidFill>
              <a:prstDash val="solid"/>
              <a:miter/>
            </a:ln>
          </p:spPr>
        </p:sp>
        <p:sp>
          <p:nvSpPr>
            <p:cNvPr id="4" name="TextBox 4"/>
            <p:cNvSpPr txBox="1"/>
            <p:nvPr/>
          </p:nvSpPr>
          <p:spPr>
            <a:xfrm>
              <a:off x="109803" y="28575"/>
              <a:ext cx="951628"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02</a:t>
              </a:r>
            </a:p>
          </p:txBody>
        </p:sp>
      </p:grpSp>
      <p:grpSp>
        <p:nvGrpSpPr>
          <p:cNvPr id="5" name="Group 5"/>
          <p:cNvGrpSpPr/>
          <p:nvPr/>
        </p:nvGrpSpPr>
        <p:grpSpPr>
          <a:xfrm>
            <a:off x="17149862" y="9258300"/>
            <a:ext cx="861105" cy="861105"/>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5</a:t>
              </a:r>
            </a:p>
          </p:txBody>
        </p:sp>
      </p:grpSp>
      <p:sp>
        <p:nvSpPr>
          <p:cNvPr id="8" name="Freeform 8"/>
          <p:cNvSpPr/>
          <p:nvPr/>
        </p:nvSpPr>
        <p:spPr>
          <a:xfrm>
            <a:off x="6767188" y="5695278"/>
            <a:ext cx="10807246" cy="4011571"/>
          </a:xfrm>
          <a:custGeom>
            <a:avLst/>
            <a:gdLst/>
            <a:ahLst/>
            <a:cxnLst/>
            <a:rect l="l" t="t" r="r" b="b"/>
            <a:pathLst>
              <a:path w="10807246" h="4011571">
                <a:moveTo>
                  <a:pt x="0" y="0"/>
                </a:moveTo>
                <a:lnTo>
                  <a:pt x="10807246" y="0"/>
                </a:lnTo>
                <a:lnTo>
                  <a:pt x="10807246" y="4011571"/>
                </a:lnTo>
                <a:lnTo>
                  <a:pt x="0" y="4011571"/>
                </a:lnTo>
                <a:lnTo>
                  <a:pt x="0" y="0"/>
                </a:lnTo>
                <a:close/>
              </a:path>
            </a:pathLst>
          </a:custGeom>
          <a:blipFill>
            <a:blip r:embed="rId2"/>
            <a:stretch>
              <a:fillRect r="-2533"/>
            </a:stretch>
          </a:blipFill>
        </p:spPr>
      </p:sp>
      <p:sp>
        <p:nvSpPr>
          <p:cNvPr id="9" name="TextBox 9"/>
          <p:cNvSpPr txBox="1"/>
          <p:nvPr/>
        </p:nvSpPr>
        <p:spPr>
          <a:xfrm>
            <a:off x="2160818" y="2226830"/>
            <a:ext cx="11279340" cy="430310"/>
          </a:xfrm>
          <a:prstGeom prst="rect">
            <a:avLst/>
          </a:prstGeom>
        </p:spPr>
        <p:txBody>
          <a:bodyPr lIns="0" tIns="0" rIns="0" bIns="0" rtlCol="0" anchor="t">
            <a:spAutoFit/>
          </a:bodyPr>
          <a:lstStyle/>
          <a:p>
            <a:pPr algn="l">
              <a:lnSpc>
                <a:spcPts val="3442"/>
              </a:lnSpc>
            </a:pPr>
            <a:r>
              <a:rPr lang="en-US" sz="2942" b="1">
                <a:solidFill>
                  <a:srgbClr val="856EE0"/>
                </a:solidFill>
                <a:latin typeface="Montserrat Bold"/>
                <a:ea typeface="Montserrat Bold"/>
                <a:cs typeface="Montserrat Bold"/>
                <a:sym typeface="Montserrat Bold"/>
              </a:rPr>
              <a:t>Représentation des ressources :</a:t>
            </a:r>
          </a:p>
        </p:txBody>
      </p:sp>
      <p:sp>
        <p:nvSpPr>
          <p:cNvPr id="10" name="TextBox 10"/>
          <p:cNvSpPr txBox="1"/>
          <p:nvPr/>
        </p:nvSpPr>
        <p:spPr>
          <a:xfrm>
            <a:off x="725448" y="3947279"/>
            <a:ext cx="7679493" cy="2556989"/>
          </a:xfrm>
          <a:prstGeom prst="rect">
            <a:avLst/>
          </a:prstGeom>
        </p:spPr>
        <p:txBody>
          <a:bodyPr lIns="0" tIns="0" rIns="0" bIns="0" rtlCol="0" anchor="t">
            <a:spAutoFit/>
          </a:bodyPr>
          <a:lstStyle/>
          <a:p>
            <a:pPr algn="l">
              <a:lnSpc>
                <a:spcPts val="3438"/>
              </a:lnSpc>
              <a:spcBef>
                <a:spcPct val="0"/>
              </a:spcBef>
            </a:pPr>
            <a:r>
              <a:rPr lang="en-US" sz="2456">
                <a:solidFill>
                  <a:srgbClr val="000000"/>
                </a:solidFill>
                <a:latin typeface="Montserrat"/>
                <a:ea typeface="Montserrat"/>
                <a:cs typeface="Montserrat"/>
                <a:sym typeface="Montserrat"/>
              </a:rPr>
              <a:t>Data exchanged via a REST API is often in JSON or XML format. JSON is widely preferred for its simplicity and readability. Each resource has a standard representation that enables clients to read and interpret the data in a consistent manner.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749476"/>
            <a:ext cx="1175279" cy="861105"/>
            <a:chOff x="0" y="0"/>
            <a:chExt cx="1109350" cy="812800"/>
          </a:xfrm>
        </p:grpSpPr>
        <p:sp>
          <p:nvSpPr>
            <p:cNvPr id="3" name="Freeform 3"/>
            <p:cNvSpPr/>
            <p:nvPr/>
          </p:nvSpPr>
          <p:spPr>
            <a:xfrm>
              <a:off x="0" y="0"/>
              <a:ext cx="1109350" cy="812800"/>
            </a:xfrm>
            <a:custGeom>
              <a:avLst/>
              <a:gdLst/>
              <a:ahLst/>
              <a:cxnLst/>
              <a:rect l="l" t="t" r="r" b="b"/>
              <a:pathLst>
                <a:path w="1109350" h="812800">
                  <a:moveTo>
                    <a:pt x="554675" y="0"/>
                  </a:moveTo>
                  <a:cubicBezTo>
                    <a:pt x="248337" y="0"/>
                    <a:pt x="0" y="181951"/>
                    <a:pt x="0" y="406400"/>
                  </a:cubicBezTo>
                  <a:cubicBezTo>
                    <a:pt x="0" y="630849"/>
                    <a:pt x="248337" y="812800"/>
                    <a:pt x="554675" y="812800"/>
                  </a:cubicBezTo>
                  <a:cubicBezTo>
                    <a:pt x="861014" y="812800"/>
                    <a:pt x="1109350" y="630849"/>
                    <a:pt x="1109350" y="406400"/>
                  </a:cubicBezTo>
                  <a:cubicBezTo>
                    <a:pt x="1109350" y="181951"/>
                    <a:pt x="861014" y="0"/>
                    <a:pt x="554675" y="0"/>
                  </a:cubicBezTo>
                  <a:close/>
                </a:path>
              </a:pathLst>
            </a:custGeom>
            <a:solidFill>
              <a:srgbClr val="000000">
                <a:alpha val="0"/>
              </a:srgbClr>
            </a:solidFill>
            <a:ln w="9525" cap="sq">
              <a:solidFill>
                <a:srgbClr val="856EE0"/>
              </a:solidFill>
              <a:prstDash val="solid"/>
              <a:miter/>
            </a:ln>
          </p:spPr>
        </p:sp>
        <p:sp>
          <p:nvSpPr>
            <p:cNvPr id="4" name="TextBox 4"/>
            <p:cNvSpPr txBox="1"/>
            <p:nvPr/>
          </p:nvSpPr>
          <p:spPr>
            <a:xfrm>
              <a:off x="104002" y="28575"/>
              <a:ext cx="901347"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03</a:t>
              </a:r>
            </a:p>
          </p:txBody>
        </p:sp>
      </p:grpSp>
      <p:grpSp>
        <p:nvGrpSpPr>
          <p:cNvPr id="5" name="Group 5"/>
          <p:cNvGrpSpPr/>
          <p:nvPr/>
        </p:nvGrpSpPr>
        <p:grpSpPr>
          <a:xfrm>
            <a:off x="10634257" y="2610580"/>
            <a:ext cx="6515606" cy="5518255"/>
            <a:chOff x="0" y="0"/>
            <a:chExt cx="1716044" cy="1453368"/>
          </a:xfrm>
        </p:grpSpPr>
        <p:sp>
          <p:nvSpPr>
            <p:cNvPr id="6" name="Freeform 6"/>
            <p:cNvSpPr/>
            <p:nvPr/>
          </p:nvSpPr>
          <p:spPr>
            <a:xfrm>
              <a:off x="0" y="0"/>
              <a:ext cx="1716044" cy="1453368"/>
            </a:xfrm>
            <a:custGeom>
              <a:avLst/>
              <a:gdLst/>
              <a:ahLst/>
              <a:cxnLst/>
              <a:rect l="l" t="t" r="r" b="b"/>
              <a:pathLst>
                <a:path w="1716044" h="1453368">
                  <a:moveTo>
                    <a:pt x="60599" y="0"/>
                  </a:moveTo>
                  <a:lnTo>
                    <a:pt x="1655445" y="0"/>
                  </a:lnTo>
                  <a:cubicBezTo>
                    <a:pt x="1688913" y="0"/>
                    <a:pt x="1716044" y="27131"/>
                    <a:pt x="1716044" y="60599"/>
                  </a:cubicBezTo>
                  <a:lnTo>
                    <a:pt x="1716044" y="1392769"/>
                  </a:lnTo>
                  <a:cubicBezTo>
                    <a:pt x="1716044" y="1426237"/>
                    <a:pt x="1688913" y="1453368"/>
                    <a:pt x="1655445" y="1453368"/>
                  </a:cubicBezTo>
                  <a:lnTo>
                    <a:pt x="60599" y="1453368"/>
                  </a:lnTo>
                  <a:cubicBezTo>
                    <a:pt x="27131" y="1453368"/>
                    <a:pt x="0" y="1426237"/>
                    <a:pt x="0" y="1392769"/>
                  </a:cubicBezTo>
                  <a:lnTo>
                    <a:pt x="0" y="60599"/>
                  </a:lnTo>
                  <a:cubicBezTo>
                    <a:pt x="0" y="27131"/>
                    <a:pt x="27131" y="0"/>
                    <a:pt x="60599" y="0"/>
                  </a:cubicBezTo>
                  <a:close/>
                </a:path>
              </a:pathLst>
            </a:custGeom>
            <a:solidFill>
              <a:srgbClr val="CCDDFC"/>
            </a:solidFill>
          </p:spPr>
        </p:sp>
        <p:sp>
          <p:nvSpPr>
            <p:cNvPr id="7" name="TextBox 7"/>
            <p:cNvSpPr txBox="1"/>
            <p:nvPr/>
          </p:nvSpPr>
          <p:spPr>
            <a:xfrm>
              <a:off x="0" y="-38100"/>
              <a:ext cx="1716044" cy="1491468"/>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7149862" y="9258300"/>
            <a:ext cx="861105" cy="861105"/>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6</a:t>
              </a:r>
            </a:p>
          </p:txBody>
        </p:sp>
      </p:grpSp>
      <p:sp>
        <p:nvSpPr>
          <p:cNvPr id="11" name="Freeform 11"/>
          <p:cNvSpPr/>
          <p:nvPr/>
        </p:nvSpPr>
        <p:spPr>
          <a:xfrm>
            <a:off x="10634257" y="1948624"/>
            <a:ext cx="6687151" cy="5970671"/>
          </a:xfrm>
          <a:custGeom>
            <a:avLst/>
            <a:gdLst/>
            <a:ahLst/>
            <a:cxnLst/>
            <a:rect l="l" t="t" r="r" b="b"/>
            <a:pathLst>
              <a:path w="6687151" h="5970671">
                <a:moveTo>
                  <a:pt x="0" y="0"/>
                </a:moveTo>
                <a:lnTo>
                  <a:pt x="6687151" y="0"/>
                </a:lnTo>
                <a:lnTo>
                  <a:pt x="6687151" y="5970671"/>
                </a:lnTo>
                <a:lnTo>
                  <a:pt x="0" y="5970671"/>
                </a:lnTo>
                <a:lnTo>
                  <a:pt x="0" y="0"/>
                </a:lnTo>
                <a:close/>
              </a:path>
            </a:pathLst>
          </a:custGeom>
          <a:blipFill>
            <a:blip r:embed="rId2"/>
            <a:stretch>
              <a:fillRect/>
            </a:stretch>
          </a:blipFill>
        </p:spPr>
      </p:sp>
      <p:sp>
        <p:nvSpPr>
          <p:cNvPr id="12" name="TextBox 12"/>
          <p:cNvSpPr txBox="1"/>
          <p:nvPr/>
        </p:nvSpPr>
        <p:spPr>
          <a:xfrm>
            <a:off x="2512253" y="2008101"/>
            <a:ext cx="7028424" cy="430310"/>
          </a:xfrm>
          <a:prstGeom prst="rect">
            <a:avLst/>
          </a:prstGeom>
        </p:spPr>
        <p:txBody>
          <a:bodyPr lIns="0" tIns="0" rIns="0" bIns="0" rtlCol="0" anchor="t">
            <a:spAutoFit/>
          </a:bodyPr>
          <a:lstStyle/>
          <a:p>
            <a:pPr algn="l">
              <a:lnSpc>
                <a:spcPts val="3442"/>
              </a:lnSpc>
            </a:pPr>
            <a:r>
              <a:rPr lang="en-US" sz="2942" b="1">
                <a:solidFill>
                  <a:srgbClr val="856EE0"/>
                </a:solidFill>
                <a:latin typeface="Montserrat Bold"/>
                <a:ea typeface="Montserrat Bold"/>
                <a:cs typeface="Montserrat Bold"/>
                <a:sym typeface="Montserrat Bold"/>
              </a:rPr>
              <a:t>URI (Uniform Resource Identifier) :</a:t>
            </a:r>
          </a:p>
        </p:txBody>
      </p:sp>
      <p:sp>
        <p:nvSpPr>
          <p:cNvPr id="13" name="TextBox 13"/>
          <p:cNvSpPr txBox="1"/>
          <p:nvPr/>
        </p:nvSpPr>
        <p:spPr>
          <a:xfrm>
            <a:off x="1028700" y="3631653"/>
            <a:ext cx="9078836" cy="2556989"/>
          </a:xfrm>
          <a:prstGeom prst="rect">
            <a:avLst/>
          </a:prstGeom>
        </p:spPr>
        <p:txBody>
          <a:bodyPr lIns="0" tIns="0" rIns="0" bIns="0" rtlCol="0" anchor="t">
            <a:spAutoFit/>
          </a:bodyPr>
          <a:lstStyle/>
          <a:p>
            <a:pPr algn="l">
              <a:lnSpc>
                <a:spcPts val="3438"/>
              </a:lnSpc>
            </a:pPr>
            <a:endParaRPr/>
          </a:p>
          <a:p>
            <a:pPr algn="l">
              <a:lnSpc>
                <a:spcPts val="3438"/>
              </a:lnSpc>
            </a:pPr>
            <a:r>
              <a:rPr lang="en-US" sz="2456">
                <a:solidFill>
                  <a:srgbClr val="000000"/>
                </a:solidFill>
                <a:latin typeface="Montserrat"/>
                <a:ea typeface="Montserrat"/>
                <a:cs typeface="Montserrat"/>
                <a:sym typeface="Montserrat"/>
              </a:rPr>
              <a:t>Each resource in a REST API is identified by a unique URI.</a:t>
            </a:r>
          </a:p>
          <a:p>
            <a:pPr algn="l">
              <a:lnSpc>
                <a:spcPts val="3438"/>
              </a:lnSpc>
            </a:pPr>
            <a:r>
              <a:rPr lang="en-US" sz="2456">
                <a:solidFill>
                  <a:srgbClr val="000000"/>
                </a:solidFill>
                <a:latin typeface="Montserrat"/>
                <a:ea typeface="Montserrat"/>
                <a:cs typeface="Montserrat"/>
                <a:sym typeface="Montserrat"/>
              </a:rPr>
              <a:t>For example, https://api.example.com/users/123 could be a URI to access information for a specific user.</a:t>
            </a:r>
          </a:p>
          <a:p>
            <a:pPr algn="l">
              <a:lnSpc>
                <a:spcPts val="3438"/>
              </a:lnSpc>
            </a:pPr>
            <a:endParaRPr lang="en-US" sz="2456">
              <a:solidFill>
                <a:srgbClr val="000000"/>
              </a:solidFill>
              <a:latin typeface="Montserrat"/>
              <a:ea typeface="Montserrat"/>
              <a:cs typeface="Montserrat"/>
              <a:sym typeface="Montserrat"/>
            </a:endParaRPr>
          </a:p>
          <a:p>
            <a:pPr algn="l">
              <a:lnSpc>
                <a:spcPts val="3438"/>
              </a:lnSpc>
              <a:spcBef>
                <a:spcPct val="0"/>
              </a:spcBef>
            </a:pPr>
            <a:endParaRPr lang="en-US" sz="2456">
              <a:solidFill>
                <a:srgbClr val="000000"/>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752505" y="1825139"/>
            <a:ext cx="1021663" cy="861105"/>
            <a:chOff x="0" y="0"/>
            <a:chExt cx="964351" cy="812800"/>
          </a:xfrm>
        </p:grpSpPr>
        <p:sp>
          <p:nvSpPr>
            <p:cNvPr id="3" name="Freeform 3"/>
            <p:cNvSpPr/>
            <p:nvPr/>
          </p:nvSpPr>
          <p:spPr>
            <a:xfrm>
              <a:off x="0" y="0"/>
              <a:ext cx="964352" cy="812800"/>
            </a:xfrm>
            <a:custGeom>
              <a:avLst/>
              <a:gdLst/>
              <a:ahLst/>
              <a:cxnLst/>
              <a:rect l="l" t="t" r="r" b="b"/>
              <a:pathLst>
                <a:path w="964352" h="812800">
                  <a:moveTo>
                    <a:pt x="482176" y="0"/>
                  </a:moveTo>
                  <a:cubicBezTo>
                    <a:pt x="215877" y="0"/>
                    <a:pt x="0" y="181951"/>
                    <a:pt x="0" y="406400"/>
                  </a:cubicBezTo>
                  <a:cubicBezTo>
                    <a:pt x="0" y="630849"/>
                    <a:pt x="215877" y="812800"/>
                    <a:pt x="482176" y="812800"/>
                  </a:cubicBezTo>
                  <a:cubicBezTo>
                    <a:pt x="748474" y="812800"/>
                    <a:pt x="964352" y="630849"/>
                    <a:pt x="964352" y="406400"/>
                  </a:cubicBezTo>
                  <a:cubicBezTo>
                    <a:pt x="964352" y="181951"/>
                    <a:pt x="748474" y="0"/>
                    <a:pt x="482176" y="0"/>
                  </a:cubicBezTo>
                  <a:close/>
                </a:path>
              </a:pathLst>
            </a:custGeom>
            <a:solidFill>
              <a:srgbClr val="000000">
                <a:alpha val="0"/>
              </a:srgbClr>
            </a:solidFill>
            <a:ln w="9525" cap="sq">
              <a:solidFill>
                <a:srgbClr val="856EE0"/>
              </a:solidFill>
              <a:prstDash val="solid"/>
              <a:miter/>
            </a:ln>
          </p:spPr>
        </p:sp>
        <p:sp>
          <p:nvSpPr>
            <p:cNvPr id="4" name="TextBox 4"/>
            <p:cNvSpPr txBox="1"/>
            <p:nvPr/>
          </p:nvSpPr>
          <p:spPr>
            <a:xfrm>
              <a:off x="90408" y="28575"/>
              <a:ext cx="783536"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04</a:t>
              </a:r>
            </a:p>
          </p:txBody>
        </p:sp>
      </p:grpSp>
      <p:sp>
        <p:nvSpPr>
          <p:cNvPr id="5" name="Freeform 5"/>
          <p:cNvSpPr/>
          <p:nvPr/>
        </p:nvSpPr>
        <p:spPr>
          <a:xfrm>
            <a:off x="10071089" y="1471304"/>
            <a:ext cx="7188211" cy="7957544"/>
          </a:xfrm>
          <a:custGeom>
            <a:avLst/>
            <a:gdLst/>
            <a:ahLst/>
            <a:cxnLst/>
            <a:rect l="l" t="t" r="r" b="b"/>
            <a:pathLst>
              <a:path w="7188211" h="7957544">
                <a:moveTo>
                  <a:pt x="0" y="0"/>
                </a:moveTo>
                <a:lnTo>
                  <a:pt x="7188211" y="0"/>
                </a:lnTo>
                <a:lnTo>
                  <a:pt x="7188211" y="7957545"/>
                </a:lnTo>
                <a:lnTo>
                  <a:pt x="0" y="7957545"/>
                </a:lnTo>
                <a:lnTo>
                  <a:pt x="0" y="0"/>
                </a:lnTo>
                <a:close/>
              </a:path>
            </a:pathLst>
          </a:custGeom>
          <a:blipFill>
            <a:blip r:embed="rId2"/>
            <a:stretch>
              <a:fillRect/>
            </a:stretch>
          </a:blipFill>
        </p:spPr>
      </p:sp>
      <p:sp>
        <p:nvSpPr>
          <p:cNvPr id="6" name="TextBox 6"/>
          <p:cNvSpPr txBox="1"/>
          <p:nvPr/>
        </p:nvSpPr>
        <p:spPr>
          <a:xfrm>
            <a:off x="2068895" y="2045299"/>
            <a:ext cx="5275328" cy="430310"/>
          </a:xfrm>
          <a:prstGeom prst="rect">
            <a:avLst/>
          </a:prstGeom>
        </p:spPr>
        <p:txBody>
          <a:bodyPr lIns="0" tIns="0" rIns="0" bIns="0" rtlCol="0" anchor="t">
            <a:spAutoFit/>
          </a:bodyPr>
          <a:lstStyle/>
          <a:p>
            <a:pPr algn="l">
              <a:lnSpc>
                <a:spcPts val="3442"/>
              </a:lnSpc>
            </a:pPr>
            <a:r>
              <a:rPr lang="en-US" sz="2942" b="1">
                <a:solidFill>
                  <a:srgbClr val="856EE0"/>
                </a:solidFill>
                <a:latin typeface="Montserrat Bold"/>
                <a:ea typeface="Montserrat Bold"/>
                <a:cs typeface="Montserrat Bold"/>
                <a:sym typeface="Montserrat Bold"/>
              </a:rPr>
              <a:t>HTTP STATUS CODE :</a:t>
            </a:r>
          </a:p>
        </p:txBody>
      </p:sp>
      <p:sp>
        <p:nvSpPr>
          <p:cNvPr id="7" name="TextBox 7"/>
          <p:cNvSpPr txBox="1"/>
          <p:nvPr/>
        </p:nvSpPr>
        <p:spPr>
          <a:xfrm>
            <a:off x="858969" y="3419163"/>
            <a:ext cx="8105786" cy="5128627"/>
          </a:xfrm>
          <a:prstGeom prst="rect">
            <a:avLst/>
          </a:prstGeom>
        </p:spPr>
        <p:txBody>
          <a:bodyPr lIns="0" tIns="0" rIns="0" bIns="0" rtlCol="0" anchor="t">
            <a:spAutoFit/>
          </a:bodyPr>
          <a:lstStyle/>
          <a:p>
            <a:pPr algn="l">
              <a:lnSpc>
                <a:spcPts val="6140"/>
              </a:lnSpc>
            </a:pPr>
            <a:endParaRPr/>
          </a:p>
          <a:p>
            <a:pPr algn="l">
              <a:lnSpc>
                <a:spcPts val="6140"/>
              </a:lnSpc>
            </a:pPr>
            <a:r>
              <a:rPr lang="en-US" sz="2456">
                <a:solidFill>
                  <a:srgbClr val="000000"/>
                </a:solidFill>
                <a:latin typeface="Montserrat"/>
                <a:ea typeface="Montserrat"/>
                <a:cs typeface="Montserrat"/>
                <a:sym typeface="Montserrat"/>
              </a:rPr>
              <a:t>REST APIs use HTTP status codes to communicate the result of requests:</a:t>
            </a:r>
          </a:p>
          <a:p>
            <a:pPr marL="530282" lvl="1" indent="-265141" algn="l">
              <a:lnSpc>
                <a:spcPts val="6140"/>
              </a:lnSpc>
              <a:buFont typeface="Arial"/>
              <a:buChar char="•"/>
            </a:pPr>
            <a:r>
              <a:rPr lang="en-US" sz="2456">
                <a:solidFill>
                  <a:srgbClr val="000000"/>
                </a:solidFill>
                <a:latin typeface="Montserrat"/>
                <a:ea typeface="Montserrat"/>
                <a:cs typeface="Montserrat"/>
                <a:sym typeface="Montserrat"/>
              </a:rPr>
              <a:t>200 for a successful request,</a:t>
            </a:r>
          </a:p>
          <a:p>
            <a:pPr marL="530282" lvl="1" indent="-265141" algn="l">
              <a:lnSpc>
                <a:spcPts val="6140"/>
              </a:lnSpc>
              <a:buFont typeface="Arial"/>
              <a:buChar char="•"/>
            </a:pPr>
            <a:r>
              <a:rPr lang="en-US" sz="2456">
                <a:solidFill>
                  <a:srgbClr val="000000"/>
                </a:solidFill>
                <a:latin typeface="Montserrat"/>
                <a:ea typeface="Montserrat"/>
                <a:cs typeface="Montserrat"/>
                <a:sym typeface="Montserrat"/>
              </a:rPr>
              <a:t>404 for a resource not found,</a:t>
            </a:r>
          </a:p>
          <a:p>
            <a:pPr marL="530282" lvl="1" indent="-265141" algn="l">
              <a:lnSpc>
                <a:spcPts val="6140"/>
              </a:lnSpc>
              <a:buFont typeface="Arial"/>
              <a:buChar char="•"/>
            </a:pPr>
            <a:r>
              <a:rPr lang="en-US" sz="2456">
                <a:solidFill>
                  <a:srgbClr val="000000"/>
                </a:solidFill>
                <a:latin typeface="Montserrat"/>
                <a:ea typeface="Montserrat"/>
                <a:cs typeface="Montserrat"/>
                <a:sym typeface="Montserrat"/>
              </a:rPr>
              <a:t>500 for a server error, etc.</a:t>
            </a:r>
          </a:p>
          <a:p>
            <a:pPr algn="l">
              <a:lnSpc>
                <a:spcPts val="3438"/>
              </a:lnSpc>
              <a:spcBef>
                <a:spcPct val="0"/>
              </a:spcBef>
            </a:pPr>
            <a:endParaRPr lang="en-US" sz="2456">
              <a:solidFill>
                <a:srgbClr val="000000"/>
              </a:solidFill>
              <a:latin typeface="Montserrat"/>
              <a:ea typeface="Montserrat"/>
              <a:cs typeface="Montserrat"/>
              <a:sym typeface="Montserrat"/>
            </a:endParaRPr>
          </a:p>
        </p:txBody>
      </p:sp>
      <p:sp>
        <p:nvSpPr>
          <p:cNvPr id="8" name="TextBox 8"/>
          <p:cNvSpPr txBox="1"/>
          <p:nvPr/>
        </p:nvSpPr>
        <p:spPr>
          <a:xfrm>
            <a:off x="448362" y="8957043"/>
            <a:ext cx="8516394" cy="2267586"/>
          </a:xfrm>
          <a:prstGeom prst="rect">
            <a:avLst/>
          </a:prstGeom>
        </p:spPr>
        <p:txBody>
          <a:bodyPr lIns="0" tIns="0" rIns="0" bIns="0" rtlCol="0" anchor="t">
            <a:spAutoFit/>
          </a:bodyPr>
          <a:lstStyle/>
          <a:p>
            <a:pPr algn="ctr">
              <a:lnSpc>
                <a:spcPts val="3639"/>
              </a:lnSpc>
            </a:pPr>
            <a:r>
              <a:rPr lang="en-US" sz="2599" u="sng">
                <a:solidFill>
                  <a:srgbClr val="000000"/>
                </a:solidFill>
                <a:latin typeface="Montserrat"/>
                <a:ea typeface="Montserrat"/>
                <a:cs typeface="Montserrat"/>
                <a:sym typeface="Montserrat"/>
              </a:rPr>
              <a:t>These codes allow clients to instantly understand the status of their request.</a:t>
            </a:r>
          </a:p>
          <a:p>
            <a:pPr algn="ctr">
              <a:lnSpc>
                <a:spcPts val="3639"/>
              </a:lnSpc>
            </a:pPr>
            <a:endParaRPr lang="en-US" sz="2599" u="sng">
              <a:solidFill>
                <a:srgbClr val="000000"/>
              </a:solidFill>
              <a:latin typeface="Montserrat"/>
              <a:ea typeface="Montserrat"/>
              <a:cs typeface="Montserrat"/>
              <a:sym typeface="Montserrat"/>
            </a:endParaRPr>
          </a:p>
          <a:p>
            <a:pPr algn="ctr">
              <a:lnSpc>
                <a:spcPts val="3639"/>
              </a:lnSpc>
            </a:pPr>
            <a:endParaRPr lang="en-US" sz="2599" u="sng">
              <a:solidFill>
                <a:srgbClr val="000000"/>
              </a:solidFill>
              <a:latin typeface="Montserrat"/>
              <a:ea typeface="Montserrat"/>
              <a:cs typeface="Montserrat"/>
              <a:sym typeface="Montserrat"/>
            </a:endParaRPr>
          </a:p>
          <a:p>
            <a:pPr algn="ctr">
              <a:lnSpc>
                <a:spcPts val="3639"/>
              </a:lnSpc>
              <a:spcBef>
                <a:spcPct val="0"/>
              </a:spcBef>
            </a:pPr>
            <a:endParaRPr lang="en-US" sz="2599" u="sng">
              <a:solidFill>
                <a:srgbClr val="000000"/>
              </a:solidFill>
              <a:latin typeface="Montserrat"/>
              <a:ea typeface="Montserrat"/>
              <a:cs typeface="Montserrat"/>
              <a:sym typeface="Montserrat"/>
            </a:endParaRPr>
          </a:p>
        </p:txBody>
      </p:sp>
      <p:grpSp>
        <p:nvGrpSpPr>
          <p:cNvPr id="9" name="Group 9"/>
          <p:cNvGrpSpPr/>
          <p:nvPr/>
        </p:nvGrpSpPr>
        <p:grpSpPr>
          <a:xfrm>
            <a:off x="17149862" y="9258300"/>
            <a:ext cx="861105" cy="861105"/>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7</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7149862" y="9258300"/>
            <a:ext cx="861105" cy="861105"/>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8</a:t>
              </a:r>
            </a:p>
          </p:txBody>
        </p:sp>
      </p:grpSp>
      <p:sp>
        <p:nvSpPr>
          <p:cNvPr id="5" name="Freeform 5"/>
          <p:cNvSpPr/>
          <p:nvPr/>
        </p:nvSpPr>
        <p:spPr>
          <a:xfrm>
            <a:off x="11826721" y="2576114"/>
            <a:ext cx="5323142" cy="5955893"/>
          </a:xfrm>
          <a:custGeom>
            <a:avLst/>
            <a:gdLst/>
            <a:ahLst/>
            <a:cxnLst/>
            <a:rect l="l" t="t" r="r" b="b"/>
            <a:pathLst>
              <a:path w="5323142" h="5955893">
                <a:moveTo>
                  <a:pt x="0" y="0"/>
                </a:moveTo>
                <a:lnTo>
                  <a:pt x="5323141" y="0"/>
                </a:lnTo>
                <a:lnTo>
                  <a:pt x="5323141" y="5955893"/>
                </a:lnTo>
                <a:lnTo>
                  <a:pt x="0" y="5955893"/>
                </a:lnTo>
                <a:lnTo>
                  <a:pt x="0" y="0"/>
                </a:lnTo>
                <a:close/>
              </a:path>
            </a:pathLst>
          </a:custGeom>
          <a:blipFill>
            <a:blip r:embed="rId2"/>
            <a:stretch>
              <a:fillRect/>
            </a:stretch>
          </a:blipFill>
        </p:spPr>
      </p:sp>
      <p:sp>
        <p:nvSpPr>
          <p:cNvPr id="6" name="TextBox 6"/>
          <p:cNvSpPr txBox="1"/>
          <p:nvPr/>
        </p:nvSpPr>
        <p:spPr>
          <a:xfrm>
            <a:off x="745121" y="4515369"/>
            <a:ext cx="9730792" cy="3480054"/>
          </a:xfrm>
          <a:prstGeom prst="rect">
            <a:avLst/>
          </a:prstGeom>
        </p:spPr>
        <p:txBody>
          <a:bodyPr lIns="0" tIns="0" rIns="0" bIns="0" rtlCol="0" anchor="t">
            <a:spAutoFit/>
          </a:bodyPr>
          <a:lstStyle/>
          <a:p>
            <a:pPr algn="l">
              <a:lnSpc>
                <a:spcPts val="3486"/>
              </a:lnSpc>
              <a:spcBef>
                <a:spcPct val="0"/>
              </a:spcBef>
            </a:pPr>
            <a:r>
              <a:rPr lang="en-US" sz="2490">
                <a:solidFill>
                  <a:srgbClr val="000000"/>
                </a:solidFill>
                <a:latin typeface="Montserrat"/>
                <a:ea typeface="Montserrat"/>
                <a:cs typeface="Montserrat"/>
                <a:sym typeface="Montserrat"/>
              </a:rPr>
              <a:t>Each request consists of three main parts:</a:t>
            </a:r>
          </a:p>
          <a:p>
            <a:pPr marL="537591" lvl="1" indent="-268796" algn="l">
              <a:lnSpc>
                <a:spcPts val="3486"/>
              </a:lnSpc>
              <a:spcBef>
                <a:spcPct val="0"/>
              </a:spcBef>
              <a:buFont typeface="Arial"/>
              <a:buChar char="•"/>
            </a:pPr>
            <a:r>
              <a:rPr lang="en-US" sz="2490">
                <a:solidFill>
                  <a:srgbClr val="000000"/>
                </a:solidFill>
                <a:latin typeface="Montserrat"/>
                <a:ea typeface="Montserrat"/>
                <a:cs typeface="Montserrat"/>
                <a:sym typeface="Montserrat"/>
              </a:rPr>
              <a:t>The header, which contains request information, such as authentication details.</a:t>
            </a:r>
          </a:p>
          <a:p>
            <a:pPr marL="537591" lvl="1" indent="-268796" algn="l">
              <a:lnSpc>
                <a:spcPts val="3486"/>
              </a:lnSpc>
              <a:spcBef>
                <a:spcPct val="0"/>
              </a:spcBef>
              <a:buFont typeface="Arial"/>
              <a:buChar char="•"/>
            </a:pPr>
            <a:r>
              <a:rPr lang="en-US" sz="2490">
                <a:solidFill>
                  <a:srgbClr val="000000"/>
                </a:solidFill>
                <a:latin typeface="Montserrat"/>
                <a:ea typeface="Montserrat"/>
                <a:cs typeface="Montserrat"/>
                <a:sym typeface="Montserrat"/>
              </a:rPr>
              <a:t>The URI, which identifies the target resource.</a:t>
            </a:r>
          </a:p>
          <a:p>
            <a:pPr marL="537591" lvl="1" indent="-268796" algn="l">
              <a:lnSpc>
                <a:spcPts val="3486"/>
              </a:lnSpc>
              <a:spcBef>
                <a:spcPct val="0"/>
              </a:spcBef>
              <a:buFont typeface="Arial"/>
              <a:buChar char="•"/>
            </a:pPr>
            <a:r>
              <a:rPr lang="en-US" sz="2490">
                <a:solidFill>
                  <a:srgbClr val="000000"/>
                </a:solidFill>
                <a:latin typeface="Montserrat"/>
                <a:ea typeface="Montserrat"/>
                <a:cs typeface="Montserrat"/>
                <a:sym typeface="Montserrat"/>
              </a:rPr>
              <a:t>The body, primarily used for POST and PUT requests, to include additional data, such as information for a new user.</a:t>
            </a:r>
          </a:p>
          <a:p>
            <a:pPr algn="l">
              <a:lnSpc>
                <a:spcPts val="3486"/>
              </a:lnSpc>
              <a:spcBef>
                <a:spcPct val="0"/>
              </a:spcBef>
            </a:pPr>
            <a:endParaRPr lang="en-US" sz="2490">
              <a:solidFill>
                <a:srgbClr val="000000"/>
              </a:solidFill>
              <a:latin typeface="Montserrat"/>
              <a:ea typeface="Montserrat"/>
              <a:cs typeface="Montserrat"/>
              <a:sym typeface="Montserrat"/>
            </a:endParaRPr>
          </a:p>
        </p:txBody>
      </p:sp>
      <p:sp>
        <p:nvSpPr>
          <p:cNvPr id="7" name="TextBox 7"/>
          <p:cNvSpPr txBox="1"/>
          <p:nvPr/>
        </p:nvSpPr>
        <p:spPr>
          <a:xfrm>
            <a:off x="3258011" y="1298702"/>
            <a:ext cx="174665" cy="488316"/>
          </a:xfrm>
          <a:prstGeom prst="rect">
            <a:avLst/>
          </a:prstGeom>
        </p:spPr>
        <p:txBody>
          <a:bodyPr lIns="0" tIns="0" rIns="0" bIns="0" rtlCol="0" anchor="t">
            <a:spAutoFit/>
          </a:bodyPr>
          <a:lstStyle/>
          <a:p>
            <a:pPr algn="ctr">
              <a:lnSpc>
                <a:spcPts val="4059"/>
              </a:lnSpc>
              <a:spcBef>
                <a:spcPct val="0"/>
              </a:spcBef>
            </a:pPr>
            <a:r>
              <a:rPr lang="en-US" sz="2899">
                <a:solidFill>
                  <a:srgbClr val="000000"/>
                </a:solidFill>
                <a:latin typeface="Montserrat"/>
                <a:ea typeface="Montserrat"/>
                <a:cs typeface="Montserrat"/>
                <a:sym typeface="Montserrat"/>
              </a:rPr>
              <a:t> :</a:t>
            </a:r>
          </a:p>
        </p:txBody>
      </p:sp>
      <p:sp>
        <p:nvSpPr>
          <p:cNvPr id="8" name="TextBox 8"/>
          <p:cNvSpPr txBox="1"/>
          <p:nvPr/>
        </p:nvSpPr>
        <p:spPr>
          <a:xfrm>
            <a:off x="745121" y="1433322"/>
            <a:ext cx="12562214" cy="1105106"/>
          </a:xfrm>
          <a:prstGeom prst="rect">
            <a:avLst/>
          </a:prstGeom>
        </p:spPr>
        <p:txBody>
          <a:bodyPr lIns="0" tIns="0" rIns="0" bIns="0" rtlCol="0" anchor="t">
            <a:spAutoFit/>
          </a:bodyPr>
          <a:lstStyle/>
          <a:p>
            <a:pPr algn="l">
              <a:lnSpc>
                <a:spcPts val="8134"/>
              </a:lnSpc>
            </a:pPr>
            <a:r>
              <a:rPr lang="en-US" sz="6405" b="1">
                <a:solidFill>
                  <a:srgbClr val="26CBB8"/>
                </a:solidFill>
                <a:latin typeface="Codec Pro Bold"/>
                <a:ea typeface="Codec Pro Bold"/>
                <a:cs typeface="Codec Pro Bold"/>
                <a:sym typeface="Codec Pro Bold"/>
              </a:rPr>
              <a:t>Structure of a REST Request: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8866660" y="3332445"/>
            <a:ext cx="9098142" cy="5404547"/>
            <a:chOff x="0" y="0"/>
            <a:chExt cx="2396218" cy="1423420"/>
          </a:xfrm>
        </p:grpSpPr>
        <p:sp>
          <p:nvSpPr>
            <p:cNvPr id="3" name="Freeform 3"/>
            <p:cNvSpPr/>
            <p:nvPr/>
          </p:nvSpPr>
          <p:spPr>
            <a:xfrm>
              <a:off x="0" y="0"/>
              <a:ext cx="2396218" cy="1423420"/>
            </a:xfrm>
            <a:custGeom>
              <a:avLst/>
              <a:gdLst/>
              <a:ahLst/>
              <a:cxnLst/>
              <a:rect l="l" t="t" r="r" b="b"/>
              <a:pathLst>
                <a:path w="2396218" h="1423420">
                  <a:moveTo>
                    <a:pt x="43398" y="0"/>
                  </a:moveTo>
                  <a:lnTo>
                    <a:pt x="2352821" y="0"/>
                  </a:lnTo>
                  <a:cubicBezTo>
                    <a:pt x="2376789" y="0"/>
                    <a:pt x="2396218" y="19430"/>
                    <a:pt x="2396218" y="43398"/>
                  </a:cubicBezTo>
                  <a:lnTo>
                    <a:pt x="2396218" y="1380022"/>
                  </a:lnTo>
                  <a:cubicBezTo>
                    <a:pt x="2396218" y="1403990"/>
                    <a:pt x="2376789" y="1423420"/>
                    <a:pt x="2352821" y="1423420"/>
                  </a:cubicBezTo>
                  <a:lnTo>
                    <a:pt x="43398" y="1423420"/>
                  </a:lnTo>
                  <a:cubicBezTo>
                    <a:pt x="19430" y="1423420"/>
                    <a:pt x="0" y="1403990"/>
                    <a:pt x="0" y="1380022"/>
                  </a:cubicBezTo>
                  <a:lnTo>
                    <a:pt x="0" y="43398"/>
                  </a:lnTo>
                  <a:cubicBezTo>
                    <a:pt x="0" y="19430"/>
                    <a:pt x="19430" y="0"/>
                    <a:pt x="43398" y="0"/>
                  </a:cubicBezTo>
                  <a:close/>
                </a:path>
              </a:pathLst>
            </a:custGeom>
            <a:solidFill>
              <a:srgbClr val="CCDDFC"/>
            </a:solidFill>
          </p:spPr>
        </p:sp>
        <p:sp>
          <p:nvSpPr>
            <p:cNvPr id="4" name="TextBox 4"/>
            <p:cNvSpPr txBox="1"/>
            <p:nvPr/>
          </p:nvSpPr>
          <p:spPr>
            <a:xfrm>
              <a:off x="0" y="-38100"/>
              <a:ext cx="2396218" cy="146152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149862" y="9258300"/>
            <a:ext cx="861105" cy="861105"/>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9</a:t>
              </a:r>
            </a:p>
          </p:txBody>
        </p:sp>
      </p:grpSp>
      <p:sp>
        <p:nvSpPr>
          <p:cNvPr id="8" name="Freeform 8"/>
          <p:cNvSpPr/>
          <p:nvPr/>
        </p:nvSpPr>
        <p:spPr>
          <a:xfrm>
            <a:off x="8562366" y="3486064"/>
            <a:ext cx="9901546" cy="4670541"/>
          </a:xfrm>
          <a:custGeom>
            <a:avLst/>
            <a:gdLst/>
            <a:ahLst/>
            <a:cxnLst/>
            <a:rect l="l" t="t" r="r" b="b"/>
            <a:pathLst>
              <a:path w="9901546" h="4670541">
                <a:moveTo>
                  <a:pt x="0" y="0"/>
                </a:moveTo>
                <a:lnTo>
                  <a:pt x="9901546" y="0"/>
                </a:lnTo>
                <a:lnTo>
                  <a:pt x="9901546" y="4670541"/>
                </a:lnTo>
                <a:lnTo>
                  <a:pt x="0" y="4670541"/>
                </a:lnTo>
                <a:lnTo>
                  <a:pt x="0" y="0"/>
                </a:lnTo>
                <a:close/>
              </a:path>
            </a:pathLst>
          </a:custGeom>
          <a:blipFill>
            <a:blip r:embed="rId2"/>
            <a:stretch>
              <a:fillRect/>
            </a:stretch>
          </a:blipFill>
        </p:spPr>
      </p:sp>
      <p:sp>
        <p:nvSpPr>
          <p:cNvPr id="9" name="TextBox 9"/>
          <p:cNvSpPr txBox="1"/>
          <p:nvPr/>
        </p:nvSpPr>
        <p:spPr>
          <a:xfrm>
            <a:off x="745121" y="4346864"/>
            <a:ext cx="7428891" cy="2910840"/>
          </a:xfrm>
          <a:prstGeom prst="rect">
            <a:avLst/>
          </a:prstGeom>
        </p:spPr>
        <p:txBody>
          <a:bodyPr lIns="0" tIns="0" rIns="0" bIns="0" rtlCol="0" anchor="t">
            <a:spAutoFit/>
          </a:bodyPr>
          <a:lstStyle/>
          <a:p>
            <a:pPr algn="l">
              <a:lnSpc>
                <a:spcPts val="3359"/>
              </a:lnSpc>
              <a:spcBef>
                <a:spcPct val="0"/>
              </a:spcBef>
            </a:pPr>
            <a:r>
              <a:rPr lang="en-US" sz="2399">
                <a:solidFill>
                  <a:srgbClr val="000000"/>
                </a:solidFill>
                <a:latin typeface="Montserrat"/>
                <a:ea typeface="Montserrat"/>
                <a:cs typeface="Montserrat"/>
                <a:sym typeface="Montserrat"/>
              </a:rPr>
              <a:t> An endpoint is a unique access point to an API, typically represented by a URL. Each endpoint is associated with a specific function, such as /users to retrieve user information. Routes define the path to access different resources, for example, /users/123 to access the user with ID 123.</a:t>
            </a:r>
          </a:p>
        </p:txBody>
      </p:sp>
      <p:sp>
        <p:nvSpPr>
          <p:cNvPr id="10" name="TextBox 10"/>
          <p:cNvSpPr txBox="1"/>
          <p:nvPr/>
        </p:nvSpPr>
        <p:spPr>
          <a:xfrm>
            <a:off x="745121" y="1423797"/>
            <a:ext cx="12699636" cy="1123533"/>
          </a:xfrm>
          <a:prstGeom prst="rect">
            <a:avLst/>
          </a:prstGeom>
        </p:spPr>
        <p:txBody>
          <a:bodyPr lIns="0" tIns="0" rIns="0" bIns="0" rtlCol="0" anchor="t">
            <a:spAutoFit/>
          </a:bodyPr>
          <a:lstStyle/>
          <a:p>
            <a:pPr algn="l">
              <a:lnSpc>
                <a:spcPts val="8223"/>
              </a:lnSpc>
            </a:pPr>
            <a:r>
              <a:rPr lang="en-US" sz="6475" b="1">
                <a:solidFill>
                  <a:srgbClr val="000000"/>
                </a:solidFill>
                <a:latin typeface="Codec Pro Bold"/>
                <a:ea typeface="Codec Pro Bold"/>
                <a:cs typeface="Codec Pro Bold"/>
                <a:sym typeface="Codec Pro Bold"/>
              </a:rPr>
              <a:t>Endpoints and routes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0012996" y="2750384"/>
            <a:ext cx="7837100" cy="6448346"/>
            <a:chOff x="0" y="0"/>
            <a:chExt cx="2064092" cy="1698330"/>
          </a:xfrm>
        </p:grpSpPr>
        <p:sp>
          <p:nvSpPr>
            <p:cNvPr id="3" name="Freeform 3"/>
            <p:cNvSpPr/>
            <p:nvPr/>
          </p:nvSpPr>
          <p:spPr>
            <a:xfrm>
              <a:off x="0" y="0"/>
              <a:ext cx="2064092" cy="1698330"/>
            </a:xfrm>
            <a:custGeom>
              <a:avLst/>
              <a:gdLst/>
              <a:ahLst/>
              <a:cxnLst/>
              <a:rect l="l" t="t" r="r" b="b"/>
              <a:pathLst>
                <a:path w="2064092" h="1698330">
                  <a:moveTo>
                    <a:pt x="50381" y="0"/>
                  </a:moveTo>
                  <a:lnTo>
                    <a:pt x="2013712" y="0"/>
                  </a:lnTo>
                  <a:cubicBezTo>
                    <a:pt x="2027073" y="0"/>
                    <a:pt x="2039888" y="5308"/>
                    <a:pt x="2049336" y="14756"/>
                  </a:cubicBezTo>
                  <a:cubicBezTo>
                    <a:pt x="2058784" y="24204"/>
                    <a:pt x="2064092" y="37019"/>
                    <a:pt x="2064092" y="50381"/>
                  </a:cubicBezTo>
                  <a:lnTo>
                    <a:pt x="2064092" y="1647949"/>
                  </a:lnTo>
                  <a:cubicBezTo>
                    <a:pt x="2064092" y="1661311"/>
                    <a:pt x="2058784" y="1674126"/>
                    <a:pt x="2049336" y="1683574"/>
                  </a:cubicBezTo>
                  <a:cubicBezTo>
                    <a:pt x="2039888" y="1693022"/>
                    <a:pt x="2027073" y="1698330"/>
                    <a:pt x="2013712" y="1698330"/>
                  </a:cubicBezTo>
                  <a:lnTo>
                    <a:pt x="50381" y="1698330"/>
                  </a:lnTo>
                  <a:cubicBezTo>
                    <a:pt x="37019" y="1698330"/>
                    <a:pt x="24204" y="1693022"/>
                    <a:pt x="14756" y="1683574"/>
                  </a:cubicBezTo>
                  <a:cubicBezTo>
                    <a:pt x="5308" y="1674126"/>
                    <a:pt x="0" y="1661311"/>
                    <a:pt x="0" y="1647949"/>
                  </a:cubicBezTo>
                  <a:lnTo>
                    <a:pt x="0" y="50381"/>
                  </a:lnTo>
                  <a:cubicBezTo>
                    <a:pt x="0" y="37019"/>
                    <a:pt x="5308" y="24204"/>
                    <a:pt x="14756" y="14756"/>
                  </a:cubicBezTo>
                  <a:cubicBezTo>
                    <a:pt x="24204" y="5308"/>
                    <a:pt x="37019" y="0"/>
                    <a:pt x="50381" y="0"/>
                  </a:cubicBezTo>
                  <a:close/>
                </a:path>
              </a:pathLst>
            </a:custGeom>
            <a:solidFill>
              <a:srgbClr val="CCDDFC"/>
            </a:solidFill>
          </p:spPr>
        </p:sp>
        <p:sp>
          <p:nvSpPr>
            <p:cNvPr id="4" name="TextBox 4"/>
            <p:cNvSpPr txBox="1"/>
            <p:nvPr/>
          </p:nvSpPr>
          <p:spPr>
            <a:xfrm>
              <a:off x="0" y="-38100"/>
              <a:ext cx="2064092" cy="173643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149862" y="9258300"/>
            <a:ext cx="861105" cy="861105"/>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10</a:t>
              </a:r>
            </a:p>
          </p:txBody>
        </p:sp>
      </p:grpSp>
      <p:sp>
        <p:nvSpPr>
          <p:cNvPr id="8" name="Freeform 8"/>
          <p:cNvSpPr/>
          <p:nvPr/>
        </p:nvSpPr>
        <p:spPr>
          <a:xfrm>
            <a:off x="10595702" y="3122945"/>
            <a:ext cx="6671689" cy="5559740"/>
          </a:xfrm>
          <a:custGeom>
            <a:avLst/>
            <a:gdLst/>
            <a:ahLst/>
            <a:cxnLst/>
            <a:rect l="l" t="t" r="r" b="b"/>
            <a:pathLst>
              <a:path w="6671689" h="5559740">
                <a:moveTo>
                  <a:pt x="0" y="0"/>
                </a:moveTo>
                <a:lnTo>
                  <a:pt x="6671689" y="0"/>
                </a:lnTo>
                <a:lnTo>
                  <a:pt x="6671689" y="5559740"/>
                </a:lnTo>
                <a:lnTo>
                  <a:pt x="0" y="5559740"/>
                </a:lnTo>
                <a:lnTo>
                  <a:pt x="0" y="0"/>
                </a:lnTo>
                <a:close/>
              </a:path>
            </a:pathLst>
          </a:custGeom>
          <a:blipFill>
            <a:blip r:embed="rId2"/>
            <a:stretch>
              <a:fillRect/>
            </a:stretch>
          </a:blipFill>
        </p:spPr>
      </p:sp>
      <p:sp>
        <p:nvSpPr>
          <p:cNvPr id="9" name="TextBox 9"/>
          <p:cNvSpPr txBox="1"/>
          <p:nvPr/>
        </p:nvSpPr>
        <p:spPr>
          <a:xfrm>
            <a:off x="1028700" y="3996405"/>
            <a:ext cx="8079441" cy="3918204"/>
          </a:xfrm>
          <a:prstGeom prst="rect">
            <a:avLst/>
          </a:prstGeom>
        </p:spPr>
        <p:txBody>
          <a:bodyPr lIns="0" tIns="0" rIns="0" bIns="0" rtlCol="0" anchor="t">
            <a:spAutoFit/>
          </a:bodyPr>
          <a:lstStyle/>
          <a:p>
            <a:pPr algn="l">
              <a:lnSpc>
                <a:spcPts val="3486"/>
              </a:lnSpc>
            </a:pPr>
            <a:endParaRPr/>
          </a:p>
          <a:p>
            <a:pPr algn="l">
              <a:lnSpc>
                <a:spcPts val="3486"/>
              </a:lnSpc>
            </a:pPr>
            <a:r>
              <a:rPr lang="en-US" sz="2490">
                <a:solidFill>
                  <a:srgbClr val="000000"/>
                </a:solidFill>
                <a:latin typeface="Montserrat"/>
                <a:ea typeface="Montserrat"/>
                <a:cs typeface="Montserrat"/>
                <a:sym typeface="Montserrat"/>
              </a:rPr>
              <a:t>Error handling is essential in a REST API. In addition to status codes, REST APIs should return explicit error messages to facilitate debugging. For example, if a resource creation attempt fails, the server might return an error message with a 400 code and an explanation, such as "The name field is required."</a:t>
            </a:r>
          </a:p>
          <a:p>
            <a:pPr algn="l">
              <a:lnSpc>
                <a:spcPts val="3486"/>
              </a:lnSpc>
              <a:spcBef>
                <a:spcPct val="0"/>
              </a:spcBef>
            </a:pPr>
            <a:endParaRPr lang="en-US" sz="2490">
              <a:solidFill>
                <a:srgbClr val="000000"/>
              </a:solidFill>
              <a:latin typeface="Montserrat"/>
              <a:ea typeface="Montserrat"/>
              <a:cs typeface="Montserrat"/>
              <a:sym typeface="Montserrat"/>
            </a:endParaRPr>
          </a:p>
        </p:txBody>
      </p:sp>
      <p:sp>
        <p:nvSpPr>
          <p:cNvPr id="10" name="TextBox 10"/>
          <p:cNvSpPr txBox="1"/>
          <p:nvPr/>
        </p:nvSpPr>
        <p:spPr>
          <a:xfrm>
            <a:off x="745121" y="1423797"/>
            <a:ext cx="12699636" cy="4238208"/>
          </a:xfrm>
          <a:prstGeom prst="rect">
            <a:avLst/>
          </a:prstGeom>
        </p:spPr>
        <p:txBody>
          <a:bodyPr lIns="0" tIns="0" rIns="0" bIns="0" rtlCol="0" anchor="t">
            <a:spAutoFit/>
          </a:bodyPr>
          <a:lstStyle/>
          <a:p>
            <a:pPr algn="l">
              <a:lnSpc>
                <a:spcPts val="8223"/>
              </a:lnSpc>
            </a:pPr>
            <a:r>
              <a:rPr lang="en-US" sz="6475" b="1">
                <a:solidFill>
                  <a:srgbClr val="000000"/>
                </a:solidFill>
                <a:latin typeface="Codec Pro Bold"/>
                <a:ea typeface="Codec Pro Bold"/>
                <a:cs typeface="Codec Pro Bold"/>
                <a:sym typeface="Codec Pro Bold"/>
              </a:rPr>
              <a:t>Error Handling:</a:t>
            </a:r>
          </a:p>
          <a:p>
            <a:pPr algn="l">
              <a:lnSpc>
                <a:spcPts val="8223"/>
              </a:lnSpc>
            </a:pPr>
            <a:endParaRPr lang="en-US" sz="6475" b="1">
              <a:solidFill>
                <a:srgbClr val="000000"/>
              </a:solidFill>
              <a:latin typeface="Codec Pro Bold"/>
              <a:ea typeface="Codec Pro Bold"/>
              <a:cs typeface="Codec Pro Bold"/>
              <a:sym typeface="Codec Pro Bold"/>
            </a:endParaRPr>
          </a:p>
          <a:p>
            <a:pPr algn="l">
              <a:lnSpc>
                <a:spcPts val="8223"/>
              </a:lnSpc>
            </a:pPr>
            <a:endParaRPr lang="en-US" sz="6475" b="1">
              <a:solidFill>
                <a:srgbClr val="000000"/>
              </a:solidFill>
              <a:latin typeface="Codec Pro Bold"/>
              <a:ea typeface="Codec Pro Bold"/>
              <a:cs typeface="Codec Pro Bold"/>
              <a:sym typeface="Codec Pro Bold"/>
            </a:endParaRPr>
          </a:p>
          <a:p>
            <a:pPr algn="l">
              <a:lnSpc>
                <a:spcPts val="8223"/>
              </a:lnSpc>
            </a:pPr>
            <a:endParaRPr lang="en-US" sz="6475" b="1">
              <a:solidFill>
                <a:srgbClr val="000000"/>
              </a:solidFill>
              <a:latin typeface="Codec Pro Bold"/>
              <a:ea typeface="Codec Pro Bold"/>
              <a:cs typeface="Codec Pro Bold"/>
              <a:sym typeface="Codec Pro Bo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1793057" y="2846616"/>
            <a:ext cx="5466243" cy="5979786"/>
            <a:chOff x="0" y="0"/>
            <a:chExt cx="1329762" cy="1454691"/>
          </a:xfrm>
        </p:grpSpPr>
        <p:sp>
          <p:nvSpPr>
            <p:cNvPr id="3" name="Freeform 3"/>
            <p:cNvSpPr/>
            <p:nvPr/>
          </p:nvSpPr>
          <p:spPr>
            <a:xfrm>
              <a:off x="0" y="0"/>
              <a:ext cx="1329762" cy="1454691"/>
            </a:xfrm>
            <a:custGeom>
              <a:avLst/>
              <a:gdLst/>
              <a:ahLst/>
              <a:cxnLst/>
              <a:rect l="l" t="t" r="r" b="b"/>
              <a:pathLst>
                <a:path w="1329762" h="1454691">
                  <a:moveTo>
                    <a:pt x="72232" y="0"/>
                  </a:moveTo>
                  <a:lnTo>
                    <a:pt x="1257530" y="0"/>
                  </a:lnTo>
                  <a:cubicBezTo>
                    <a:pt x="1297423" y="0"/>
                    <a:pt x="1329762" y="32339"/>
                    <a:pt x="1329762" y="72232"/>
                  </a:cubicBezTo>
                  <a:lnTo>
                    <a:pt x="1329762" y="1382459"/>
                  </a:lnTo>
                  <a:cubicBezTo>
                    <a:pt x="1329762" y="1422351"/>
                    <a:pt x="1297423" y="1454691"/>
                    <a:pt x="1257530" y="1454691"/>
                  </a:cubicBezTo>
                  <a:lnTo>
                    <a:pt x="72232" y="1454691"/>
                  </a:lnTo>
                  <a:cubicBezTo>
                    <a:pt x="53075" y="1454691"/>
                    <a:pt x="34702" y="1447080"/>
                    <a:pt x="21156" y="1433534"/>
                  </a:cubicBezTo>
                  <a:cubicBezTo>
                    <a:pt x="7610" y="1419988"/>
                    <a:pt x="0" y="1401616"/>
                    <a:pt x="0" y="1382459"/>
                  </a:cubicBezTo>
                  <a:lnTo>
                    <a:pt x="0" y="72232"/>
                  </a:lnTo>
                  <a:cubicBezTo>
                    <a:pt x="0" y="32339"/>
                    <a:pt x="32339" y="0"/>
                    <a:pt x="72232" y="0"/>
                  </a:cubicBezTo>
                  <a:close/>
                </a:path>
              </a:pathLst>
            </a:custGeom>
            <a:solidFill>
              <a:srgbClr val="CCDDFC"/>
            </a:solidFill>
          </p:spPr>
        </p:sp>
        <p:sp>
          <p:nvSpPr>
            <p:cNvPr id="4" name="TextBox 4"/>
            <p:cNvSpPr txBox="1"/>
            <p:nvPr/>
          </p:nvSpPr>
          <p:spPr>
            <a:xfrm>
              <a:off x="0" y="-38100"/>
              <a:ext cx="1329762" cy="1492791"/>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2033044" y="3102146"/>
            <a:ext cx="4986269" cy="5461152"/>
          </a:xfrm>
          <a:custGeom>
            <a:avLst/>
            <a:gdLst/>
            <a:ahLst/>
            <a:cxnLst/>
            <a:rect l="l" t="t" r="r" b="b"/>
            <a:pathLst>
              <a:path w="4986269" h="5461152">
                <a:moveTo>
                  <a:pt x="0" y="0"/>
                </a:moveTo>
                <a:lnTo>
                  <a:pt x="4986269" y="0"/>
                </a:lnTo>
                <a:lnTo>
                  <a:pt x="4986269" y="5461152"/>
                </a:lnTo>
                <a:lnTo>
                  <a:pt x="0" y="5461152"/>
                </a:lnTo>
                <a:lnTo>
                  <a:pt x="0" y="0"/>
                </a:lnTo>
                <a:close/>
              </a:path>
            </a:pathLst>
          </a:custGeom>
          <a:blipFill>
            <a:blip r:embed="rId2"/>
            <a:stretch>
              <a:fillRect/>
            </a:stretch>
          </a:blipFill>
        </p:spPr>
      </p:sp>
      <p:sp>
        <p:nvSpPr>
          <p:cNvPr id="6" name="TextBox 6"/>
          <p:cNvSpPr txBox="1"/>
          <p:nvPr/>
        </p:nvSpPr>
        <p:spPr>
          <a:xfrm>
            <a:off x="1933734" y="3573948"/>
            <a:ext cx="7950377" cy="3964965"/>
          </a:xfrm>
          <a:prstGeom prst="rect">
            <a:avLst/>
          </a:prstGeom>
        </p:spPr>
        <p:txBody>
          <a:bodyPr lIns="0" tIns="0" rIns="0" bIns="0" rtlCol="0" anchor="t">
            <a:spAutoFit/>
          </a:bodyPr>
          <a:lstStyle/>
          <a:p>
            <a:pPr algn="l">
              <a:lnSpc>
                <a:spcPts val="4560"/>
              </a:lnSpc>
            </a:pPr>
            <a:r>
              <a:rPr lang="en-US" sz="2942">
                <a:solidFill>
                  <a:srgbClr val="000000"/>
                </a:solidFill>
                <a:latin typeface="Montserrat"/>
                <a:ea typeface="Montserrat"/>
                <a:cs typeface="Montserrat"/>
                <a:sym typeface="Montserrat"/>
              </a:rPr>
              <a:t>One of the most common methods is the use of tokens, such as JSON Web Tokens (JWT) or API keys. The token is sent in the header of each request, allowing the identity of the user or application accessing the API to be verified without maintaining state between requests</a:t>
            </a:r>
          </a:p>
        </p:txBody>
      </p:sp>
      <p:sp>
        <p:nvSpPr>
          <p:cNvPr id="7" name="TextBox 7"/>
          <p:cNvSpPr txBox="1"/>
          <p:nvPr/>
        </p:nvSpPr>
        <p:spPr>
          <a:xfrm>
            <a:off x="596055" y="672565"/>
            <a:ext cx="12699636" cy="1232679"/>
          </a:xfrm>
          <a:prstGeom prst="rect">
            <a:avLst/>
          </a:prstGeom>
        </p:spPr>
        <p:txBody>
          <a:bodyPr lIns="0" tIns="0" rIns="0" bIns="0" rtlCol="0" anchor="t">
            <a:spAutoFit/>
          </a:bodyPr>
          <a:lstStyle/>
          <a:p>
            <a:pPr algn="l">
              <a:lnSpc>
                <a:spcPts val="9389"/>
              </a:lnSpc>
            </a:pPr>
            <a:r>
              <a:rPr lang="en-US" sz="6475" b="1">
                <a:solidFill>
                  <a:srgbClr val="000000"/>
                </a:solidFill>
                <a:latin typeface="Codec Pro Bold"/>
                <a:ea typeface="Codec Pro Bold"/>
                <a:cs typeface="Codec Pro Bold"/>
                <a:sym typeface="Codec Pro Bold"/>
              </a:rPr>
              <a:t>Security in REST APIs:</a:t>
            </a:r>
          </a:p>
        </p:txBody>
      </p:sp>
      <p:sp>
        <p:nvSpPr>
          <p:cNvPr id="8" name="TextBox 8"/>
          <p:cNvSpPr txBox="1"/>
          <p:nvPr/>
        </p:nvSpPr>
        <p:spPr>
          <a:xfrm>
            <a:off x="1028700" y="2386050"/>
            <a:ext cx="4880223" cy="806831"/>
          </a:xfrm>
          <a:prstGeom prst="rect">
            <a:avLst/>
          </a:prstGeom>
        </p:spPr>
        <p:txBody>
          <a:bodyPr lIns="0" tIns="0" rIns="0" bIns="0" rtlCol="0" anchor="t">
            <a:spAutoFit/>
          </a:bodyPr>
          <a:lstStyle/>
          <a:p>
            <a:pPr algn="ctr">
              <a:lnSpc>
                <a:spcPts val="5841"/>
              </a:lnSpc>
              <a:spcBef>
                <a:spcPct val="0"/>
              </a:spcBef>
            </a:pPr>
            <a:r>
              <a:rPr lang="en-US" sz="4599" b="1">
                <a:solidFill>
                  <a:srgbClr val="26CBB8"/>
                </a:solidFill>
                <a:latin typeface="Codec Pro Bold"/>
                <a:ea typeface="Codec Pro Bold"/>
                <a:cs typeface="Codec Pro Bold"/>
                <a:sym typeface="Codec Pro Bold"/>
              </a:rPr>
              <a:t>Authentification :</a:t>
            </a:r>
          </a:p>
        </p:txBody>
      </p:sp>
      <p:grpSp>
        <p:nvGrpSpPr>
          <p:cNvPr id="9" name="Group 9"/>
          <p:cNvGrpSpPr/>
          <p:nvPr/>
        </p:nvGrpSpPr>
        <p:grpSpPr>
          <a:xfrm>
            <a:off x="17149862" y="9258300"/>
            <a:ext cx="861105" cy="861105"/>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11</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0067010" y="3358201"/>
            <a:ext cx="7828422" cy="4433679"/>
            <a:chOff x="0" y="0"/>
            <a:chExt cx="2061807" cy="1167718"/>
          </a:xfrm>
        </p:grpSpPr>
        <p:sp>
          <p:nvSpPr>
            <p:cNvPr id="3" name="Freeform 3"/>
            <p:cNvSpPr/>
            <p:nvPr/>
          </p:nvSpPr>
          <p:spPr>
            <a:xfrm>
              <a:off x="0" y="0"/>
              <a:ext cx="2061807" cy="1167718"/>
            </a:xfrm>
            <a:custGeom>
              <a:avLst/>
              <a:gdLst/>
              <a:ahLst/>
              <a:cxnLst/>
              <a:rect l="l" t="t" r="r" b="b"/>
              <a:pathLst>
                <a:path w="2061807" h="1167718">
                  <a:moveTo>
                    <a:pt x="50436" y="0"/>
                  </a:moveTo>
                  <a:lnTo>
                    <a:pt x="2011370" y="0"/>
                  </a:lnTo>
                  <a:cubicBezTo>
                    <a:pt x="2039226" y="0"/>
                    <a:pt x="2061807" y="22581"/>
                    <a:pt x="2061807" y="50436"/>
                  </a:cubicBezTo>
                  <a:lnTo>
                    <a:pt x="2061807" y="1117281"/>
                  </a:lnTo>
                  <a:cubicBezTo>
                    <a:pt x="2061807" y="1130658"/>
                    <a:pt x="2056493" y="1143487"/>
                    <a:pt x="2047034" y="1152945"/>
                  </a:cubicBezTo>
                  <a:cubicBezTo>
                    <a:pt x="2037576" y="1162404"/>
                    <a:pt x="2024747" y="1167718"/>
                    <a:pt x="2011370" y="1167718"/>
                  </a:cubicBezTo>
                  <a:lnTo>
                    <a:pt x="50436" y="1167718"/>
                  </a:lnTo>
                  <a:cubicBezTo>
                    <a:pt x="37060" y="1167718"/>
                    <a:pt x="24231" y="1162404"/>
                    <a:pt x="14772" y="1152945"/>
                  </a:cubicBezTo>
                  <a:cubicBezTo>
                    <a:pt x="5314" y="1143487"/>
                    <a:pt x="0" y="1130658"/>
                    <a:pt x="0" y="1117281"/>
                  </a:cubicBezTo>
                  <a:lnTo>
                    <a:pt x="0" y="50436"/>
                  </a:lnTo>
                  <a:cubicBezTo>
                    <a:pt x="0" y="37060"/>
                    <a:pt x="5314" y="24231"/>
                    <a:pt x="14772" y="14772"/>
                  </a:cubicBezTo>
                  <a:cubicBezTo>
                    <a:pt x="24231" y="5314"/>
                    <a:pt x="37060" y="0"/>
                    <a:pt x="50436" y="0"/>
                  </a:cubicBezTo>
                  <a:close/>
                </a:path>
              </a:pathLst>
            </a:custGeom>
            <a:solidFill>
              <a:srgbClr val="CCDDFC"/>
            </a:solidFill>
          </p:spPr>
        </p:sp>
        <p:sp>
          <p:nvSpPr>
            <p:cNvPr id="4" name="TextBox 4"/>
            <p:cNvSpPr txBox="1"/>
            <p:nvPr/>
          </p:nvSpPr>
          <p:spPr>
            <a:xfrm>
              <a:off x="0" y="-38100"/>
              <a:ext cx="2061807" cy="1205818"/>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7149862" y="9258300"/>
            <a:ext cx="861105" cy="861105"/>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12</a:t>
              </a:r>
            </a:p>
          </p:txBody>
        </p:sp>
      </p:grpSp>
      <p:sp>
        <p:nvSpPr>
          <p:cNvPr id="8" name="Freeform 8"/>
          <p:cNvSpPr/>
          <p:nvPr/>
        </p:nvSpPr>
        <p:spPr>
          <a:xfrm>
            <a:off x="10246463" y="3725839"/>
            <a:ext cx="7648969" cy="3698403"/>
          </a:xfrm>
          <a:custGeom>
            <a:avLst/>
            <a:gdLst/>
            <a:ahLst/>
            <a:cxnLst/>
            <a:rect l="l" t="t" r="r" b="b"/>
            <a:pathLst>
              <a:path w="7648969" h="3698403">
                <a:moveTo>
                  <a:pt x="0" y="0"/>
                </a:moveTo>
                <a:lnTo>
                  <a:pt x="7648969" y="0"/>
                </a:lnTo>
                <a:lnTo>
                  <a:pt x="7648969" y="3698402"/>
                </a:lnTo>
                <a:lnTo>
                  <a:pt x="0" y="3698402"/>
                </a:lnTo>
                <a:lnTo>
                  <a:pt x="0" y="0"/>
                </a:lnTo>
                <a:close/>
              </a:path>
            </a:pathLst>
          </a:custGeom>
          <a:blipFill>
            <a:blip r:embed="rId2"/>
            <a:stretch>
              <a:fillRect/>
            </a:stretch>
          </a:blipFill>
        </p:spPr>
      </p:sp>
      <p:sp>
        <p:nvSpPr>
          <p:cNvPr id="9" name="TextBox 9"/>
          <p:cNvSpPr txBox="1"/>
          <p:nvPr/>
        </p:nvSpPr>
        <p:spPr>
          <a:xfrm>
            <a:off x="741983" y="2017329"/>
            <a:ext cx="4396680" cy="806831"/>
          </a:xfrm>
          <a:prstGeom prst="rect">
            <a:avLst/>
          </a:prstGeom>
        </p:spPr>
        <p:txBody>
          <a:bodyPr lIns="0" tIns="0" rIns="0" bIns="0" rtlCol="0" anchor="t">
            <a:spAutoFit/>
          </a:bodyPr>
          <a:lstStyle/>
          <a:p>
            <a:pPr algn="ctr">
              <a:lnSpc>
                <a:spcPts val="5841"/>
              </a:lnSpc>
              <a:spcBef>
                <a:spcPct val="0"/>
              </a:spcBef>
            </a:pPr>
            <a:r>
              <a:rPr lang="en-US" sz="4599" b="1">
                <a:solidFill>
                  <a:srgbClr val="26CBB8"/>
                </a:solidFill>
                <a:latin typeface="Codec Pro Bold"/>
                <a:ea typeface="Codec Pro Bold"/>
                <a:cs typeface="Codec Pro Bold"/>
                <a:sym typeface="Codec Pro Bold"/>
              </a:rPr>
              <a:t>HTTPS vs HTTP :</a:t>
            </a:r>
          </a:p>
        </p:txBody>
      </p:sp>
      <p:sp>
        <p:nvSpPr>
          <p:cNvPr id="10" name="TextBox 10"/>
          <p:cNvSpPr txBox="1"/>
          <p:nvPr/>
        </p:nvSpPr>
        <p:spPr>
          <a:xfrm>
            <a:off x="1541166" y="3367726"/>
            <a:ext cx="7950377" cy="5107965"/>
          </a:xfrm>
          <a:prstGeom prst="rect">
            <a:avLst/>
          </a:prstGeom>
        </p:spPr>
        <p:txBody>
          <a:bodyPr lIns="0" tIns="0" rIns="0" bIns="0" rtlCol="0" anchor="t">
            <a:spAutoFit/>
          </a:bodyPr>
          <a:lstStyle/>
          <a:p>
            <a:pPr algn="l">
              <a:lnSpc>
                <a:spcPts val="4560"/>
              </a:lnSpc>
            </a:pPr>
            <a:endParaRPr/>
          </a:p>
          <a:p>
            <a:pPr algn="l">
              <a:lnSpc>
                <a:spcPts val="4560"/>
              </a:lnSpc>
            </a:pPr>
            <a:r>
              <a:rPr lang="en-US" sz="2942">
                <a:solidFill>
                  <a:srgbClr val="000000"/>
                </a:solidFill>
                <a:latin typeface="Montserrat"/>
                <a:ea typeface="Montserrat"/>
                <a:cs typeface="Montserrat"/>
                <a:sym typeface="Montserrat"/>
              </a:rPr>
              <a:t>The use of HTTPS (HTTP Secure) is essential to secure the data exchanged between the client and the server. HTTPS encrypts the information, preventing it from being intercepted by third parties, particularly protecting sensitive data such as credentials and passwords.</a:t>
            </a:r>
          </a:p>
          <a:p>
            <a:pPr algn="l">
              <a:lnSpc>
                <a:spcPts val="4560"/>
              </a:lnSpc>
            </a:pPr>
            <a:endParaRPr lang="en-US" sz="2942">
              <a:solidFill>
                <a:srgbClr val="000000"/>
              </a:solidFill>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0368134" y="3335601"/>
            <a:ext cx="7665185" cy="4516572"/>
            <a:chOff x="0" y="0"/>
            <a:chExt cx="2018814" cy="1189550"/>
          </a:xfrm>
        </p:grpSpPr>
        <p:sp>
          <p:nvSpPr>
            <p:cNvPr id="3" name="Freeform 3"/>
            <p:cNvSpPr/>
            <p:nvPr/>
          </p:nvSpPr>
          <p:spPr>
            <a:xfrm>
              <a:off x="0" y="0"/>
              <a:ext cx="2018814" cy="1189550"/>
            </a:xfrm>
            <a:custGeom>
              <a:avLst/>
              <a:gdLst/>
              <a:ahLst/>
              <a:cxnLst/>
              <a:rect l="l" t="t" r="r" b="b"/>
              <a:pathLst>
                <a:path w="2018814" h="1189550">
                  <a:moveTo>
                    <a:pt x="51511" y="0"/>
                  </a:moveTo>
                  <a:lnTo>
                    <a:pt x="1967304" y="0"/>
                  </a:lnTo>
                  <a:cubicBezTo>
                    <a:pt x="1980965" y="0"/>
                    <a:pt x="1994067" y="5427"/>
                    <a:pt x="2003727" y="15087"/>
                  </a:cubicBezTo>
                  <a:cubicBezTo>
                    <a:pt x="2013387" y="24747"/>
                    <a:pt x="2018814" y="37849"/>
                    <a:pt x="2018814" y="51511"/>
                  </a:cubicBezTo>
                  <a:lnTo>
                    <a:pt x="2018814" y="1138039"/>
                  </a:lnTo>
                  <a:cubicBezTo>
                    <a:pt x="2018814" y="1166488"/>
                    <a:pt x="1995752" y="1189550"/>
                    <a:pt x="1967304" y="1189550"/>
                  </a:cubicBezTo>
                  <a:lnTo>
                    <a:pt x="51511" y="1189550"/>
                  </a:lnTo>
                  <a:cubicBezTo>
                    <a:pt x="23062" y="1189550"/>
                    <a:pt x="0" y="1166488"/>
                    <a:pt x="0" y="1138039"/>
                  </a:cubicBezTo>
                  <a:lnTo>
                    <a:pt x="0" y="51511"/>
                  </a:lnTo>
                  <a:cubicBezTo>
                    <a:pt x="0" y="23062"/>
                    <a:pt x="23062" y="0"/>
                    <a:pt x="51511" y="0"/>
                  </a:cubicBezTo>
                  <a:close/>
                </a:path>
              </a:pathLst>
            </a:custGeom>
            <a:solidFill>
              <a:srgbClr val="CCDDFC"/>
            </a:solidFill>
          </p:spPr>
        </p:sp>
        <p:sp>
          <p:nvSpPr>
            <p:cNvPr id="4" name="TextBox 4"/>
            <p:cNvSpPr txBox="1"/>
            <p:nvPr/>
          </p:nvSpPr>
          <p:spPr>
            <a:xfrm>
              <a:off x="0" y="-38100"/>
              <a:ext cx="2018814" cy="1227650"/>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1101356" y="3278451"/>
            <a:ext cx="8166259" cy="4693554"/>
          </a:xfrm>
          <a:prstGeom prst="rect">
            <a:avLst/>
          </a:prstGeom>
        </p:spPr>
        <p:txBody>
          <a:bodyPr lIns="0" tIns="0" rIns="0" bIns="0" rtlCol="0" anchor="t">
            <a:spAutoFit/>
          </a:bodyPr>
          <a:lstStyle/>
          <a:p>
            <a:pPr algn="l">
              <a:lnSpc>
                <a:spcPts val="4148"/>
              </a:lnSpc>
            </a:pPr>
            <a:r>
              <a:rPr lang="en-US" sz="2942">
                <a:solidFill>
                  <a:srgbClr val="000000"/>
                </a:solidFill>
                <a:latin typeface="Montserrat"/>
                <a:ea typeface="Montserrat"/>
                <a:cs typeface="Montserrat"/>
                <a:sym typeface="Montserrat"/>
              </a:rPr>
              <a:t>REST APIs are vulnerable to injection attacks, such as SQL injections, if they accept unsecured inputs. It is crucial to validate and filter all data sent by the client to prevent the execution of malicious commands.</a:t>
            </a:r>
          </a:p>
          <a:p>
            <a:pPr algn="l">
              <a:lnSpc>
                <a:spcPts val="4148"/>
              </a:lnSpc>
            </a:pPr>
            <a:endParaRPr lang="en-US" sz="2942">
              <a:solidFill>
                <a:srgbClr val="000000"/>
              </a:solidFill>
              <a:latin typeface="Montserrat"/>
              <a:ea typeface="Montserrat"/>
              <a:cs typeface="Montserrat"/>
              <a:sym typeface="Montserrat"/>
            </a:endParaRPr>
          </a:p>
          <a:p>
            <a:pPr algn="l">
              <a:lnSpc>
                <a:spcPts val="4148"/>
              </a:lnSpc>
            </a:pPr>
            <a:endParaRPr lang="en-US" sz="2942">
              <a:solidFill>
                <a:srgbClr val="000000"/>
              </a:solidFill>
              <a:latin typeface="Montserrat"/>
              <a:ea typeface="Montserrat"/>
              <a:cs typeface="Montserrat"/>
              <a:sym typeface="Montserrat"/>
            </a:endParaRPr>
          </a:p>
          <a:p>
            <a:pPr algn="l">
              <a:lnSpc>
                <a:spcPts val="4148"/>
              </a:lnSpc>
            </a:pPr>
            <a:endParaRPr lang="en-US" sz="2942">
              <a:solidFill>
                <a:srgbClr val="000000"/>
              </a:solidFill>
              <a:latin typeface="Montserrat"/>
              <a:ea typeface="Montserrat"/>
              <a:cs typeface="Montserrat"/>
              <a:sym typeface="Montserrat"/>
            </a:endParaRPr>
          </a:p>
        </p:txBody>
      </p:sp>
      <p:sp>
        <p:nvSpPr>
          <p:cNvPr id="6" name="TextBox 6"/>
          <p:cNvSpPr txBox="1"/>
          <p:nvPr/>
        </p:nvSpPr>
        <p:spPr>
          <a:xfrm>
            <a:off x="1028700" y="8353828"/>
            <a:ext cx="16930314" cy="2554224"/>
          </a:xfrm>
          <a:prstGeom prst="rect">
            <a:avLst/>
          </a:prstGeom>
        </p:spPr>
        <p:txBody>
          <a:bodyPr lIns="0" tIns="0" rIns="0" bIns="0" rtlCol="0" anchor="t">
            <a:spAutoFit/>
          </a:bodyPr>
          <a:lstStyle/>
          <a:p>
            <a:pPr algn="l">
              <a:lnSpc>
                <a:spcPts val="4116"/>
              </a:lnSpc>
            </a:pPr>
            <a:r>
              <a:rPr lang="en-US" sz="2940">
                <a:solidFill>
                  <a:srgbClr val="000000"/>
                </a:solidFill>
                <a:latin typeface="Montserrat"/>
                <a:ea typeface="Montserrat"/>
                <a:cs typeface="Montserrat"/>
                <a:sym typeface="Montserrat"/>
              </a:rPr>
              <a:t>By limiting the types of requests accepted and enforcing strict rules, the risk of exploitation is significantly reduced.</a:t>
            </a:r>
          </a:p>
          <a:p>
            <a:pPr algn="l">
              <a:lnSpc>
                <a:spcPts val="4116"/>
              </a:lnSpc>
            </a:pPr>
            <a:endParaRPr lang="en-US" sz="2940">
              <a:solidFill>
                <a:srgbClr val="000000"/>
              </a:solidFill>
              <a:latin typeface="Montserrat"/>
              <a:ea typeface="Montserrat"/>
              <a:cs typeface="Montserrat"/>
              <a:sym typeface="Montserrat"/>
            </a:endParaRPr>
          </a:p>
          <a:p>
            <a:pPr algn="l">
              <a:lnSpc>
                <a:spcPts val="4116"/>
              </a:lnSpc>
            </a:pPr>
            <a:endParaRPr lang="en-US" sz="2940">
              <a:solidFill>
                <a:srgbClr val="000000"/>
              </a:solidFill>
              <a:latin typeface="Montserrat"/>
              <a:ea typeface="Montserrat"/>
              <a:cs typeface="Montserrat"/>
              <a:sym typeface="Montserrat"/>
            </a:endParaRPr>
          </a:p>
          <a:p>
            <a:pPr algn="l">
              <a:lnSpc>
                <a:spcPts val="4116"/>
              </a:lnSpc>
              <a:spcBef>
                <a:spcPct val="0"/>
              </a:spcBef>
            </a:pPr>
            <a:endParaRPr lang="en-US" sz="2940">
              <a:solidFill>
                <a:srgbClr val="000000"/>
              </a:solidFill>
              <a:latin typeface="Montserrat"/>
              <a:ea typeface="Montserrat"/>
              <a:cs typeface="Montserrat"/>
              <a:sym typeface="Montserrat"/>
            </a:endParaRPr>
          </a:p>
        </p:txBody>
      </p:sp>
      <p:grpSp>
        <p:nvGrpSpPr>
          <p:cNvPr id="7" name="Group 7"/>
          <p:cNvGrpSpPr/>
          <p:nvPr/>
        </p:nvGrpSpPr>
        <p:grpSpPr>
          <a:xfrm>
            <a:off x="17149862" y="9258300"/>
            <a:ext cx="861105" cy="86110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13</a:t>
              </a:r>
            </a:p>
          </p:txBody>
        </p:sp>
      </p:grpSp>
      <p:sp>
        <p:nvSpPr>
          <p:cNvPr id="10" name="Freeform 10"/>
          <p:cNvSpPr/>
          <p:nvPr/>
        </p:nvSpPr>
        <p:spPr>
          <a:xfrm>
            <a:off x="10627157" y="3618712"/>
            <a:ext cx="6953258" cy="3950350"/>
          </a:xfrm>
          <a:custGeom>
            <a:avLst/>
            <a:gdLst/>
            <a:ahLst/>
            <a:cxnLst/>
            <a:rect l="l" t="t" r="r" b="b"/>
            <a:pathLst>
              <a:path w="6953258" h="3950350">
                <a:moveTo>
                  <a:pt x="0" y="0"/>
                </a:moveTo>
                <a:lnTo>
                  <a:pt x="6953258" y="0"/>
                </a:lnTo>
                <a:lnTo>
                  <a:pt x="6953258" y="3950350"/>
                </a:lnTo>
                <a:lnTo>
                  <a:pt x="0" y="3950350"/>
                </a:lnTo>
                <a:lnTo>
                  <a:pt x="0" y="0"/>
                </a:lnTo>
                <a:close/>
              </a:path>
            </a:pathLst>
          </a:custGeom>
          <a:blipFill>
            <a:blip r:embed="rId2"/>
            <a:stretch>
              <a:fillRect/>
            </a:stretch>
          </a:blipFill>
        </p:spPr>
      </p:sp>
      <p:sp>
        <p:nvSpPr>
          <p:cNvPr id="11" name="TextBox 11"/>
          <p:cNvSpPr txBox="1"/>
          <p:nvPr/>
        </p:nvSpPr>
        <p:spPr>
          <a:xfrm>
            <a:off x="1101356" y="1672827"/>
            <a:ext cx="9950887" cy="806831"/>
          </a:xfrm>
          <a:prstGeom prst="rect">
            <a:avLst/>
          </a:prstGeom>
        </p:spPr>
        <p:txBody>
          <a:bodyPr lIns="0" tIns="0" rIns="0" bIns="0" rtlCol="0" anchor="t">
            <a:spAutoFit/>
          </a:bodyPr>
          <a:lstStyle/>
          <a:p>
            <a:pPr algn="ctr">
              <a:lnSpc>
                <a:spcPts val="5841"/>
              </a:lnSpc>
              <a:spcBef>
                <a:spcPct val="0"/>
              </a:spcBef>
            </a:pPr>
            <a:r>
              <a:rPr lang="en-US" sz="4599" b="1">
                <a:solidFill>
                  <a:srgbClr val="26CBB8"/>
                </a:solidFill>
                <a:latin typeface="Codec Pro Bold"/>
                <a:ea typeface="Codec Pro Bold"/>
                <a:cs typeface="Codec Pro Bold"/>
                <a:sym typeface="Codec Pro Bold"/>
              </a:rPr>
              <a:t>prevention of sql-injection attacks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3724334" cy="10287000"/>
            <a:chOff x="0" y="0"/>
            <a:chExt cx="980895" cy="2709333"/>
          </a:xfrm>
        </p:grpSpPr>
        <p:sp>
          <p:nvSpPr>
            <p:cNvPr id="3" name="Freeform 3"/>
            <p:cNvSpPr/>
            <p:nvPr/>
          </p:nvSpPr>
          <p:spPr>
            <a:xfrm>
              <a:off x="0" y="0"/>
              <a:ext cx="980895" cy="2709333"/>
            </a:xfrm>
            <a:custGeom>
              <a:avLst/>
              <a:gdLst/>
              <a:ahLst/>
              <a:cxnLst/>
              <a:rect l="l" t="t" r="r" b="b"/>
              <a:pathLst>
                <a:path w="980895" h="2709333">
                  <a:moveTo>
                    <a:pt x="0" y="0"/>
                  </a:moveTo>
                  <a:lnTo>
                    <a:pt x="980895" y="0"/>
                  </a:lnTo>
                  <a:lnTo>
                    <a:pt x="980895" y="2709333"/>
                  </a:lnTo>
                  <a:lnTo>
                    <a:pt x="0" y="2709333"/>
                  </a:lnTo>
                  <a:close/>
                </a:path>
              </a:pathLst>
            </a:custGeom>
            <a:solidFill>
              <a:srgbClr val="856EE0"/>
            </a:solidFill>
          </p:spPr>
        </p:sp>
        <p:sp>
          <p:nvSpPr>
            <p:cNvPr id="4" name="TextBox 4"/>
            <p:cNvSpPr txBox="1"/>
            <p:nvPr/>
          </p:nvSpPr>
          <p:spPr>
            <a:xfrm>
              <a:off x="0" y="-38100"/>
              <a:ext cx="980895" cy="2747433"/>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5066735" y="4463413"/>
            <a:ext cx="10839331" cy="1226823"/>
          </a:xfrm>
          <a:prstGeom prst="rect">
            <a:avLst/>
          </a:prstGeom>
        </p:spPr>
        <p:txBody>
          <a:bodyPr lIns="0" tIns="0" rIns="0" bIns="0" rtlCol="0" anchor="t">
            <a:spAutoFit/>
          </a:bodyPr>
          <a:lstStyle/>
          <a:p>
            <a:pPr algn="ctr">
              <a:lnSpc>
                <a:spcPts val="10079"/>
              </a:lnSpc>
              <a:spcBef>
                <a:spcPct val="0"/>
              </a:spcBef>
            </a:pPr>
            <a:r>
              <a:rPr lang="en-US" sz="7199" b="1">
                <a:solidFill>
                  <a:srgbClr val="26CBB8"/>
                </a:solidFill>
                <a:latin typeface="Montserrat Bold"/>
                <a:ea typeface="Montserrat Bold"/>
                <a:cs typeface="Montserrat Bold"/>
                <a:sym typeface="Montserrat Bold"/>
              </a:rPr>
              <a:t>5 - HTTP Verbs in REST</a:t>
            </a:r>
          </a:p>
        </p:txBody>
      </p:sp>
      <p:sp>
        <p:nvSpPr>
          <p:cNvPr id="6" name="Freeform 6"/>
          <p:cNvSpPr/>
          <p:nvPr/>
        </p:nvSpPr>
        <p:spPr>
          <a:xfrm>
            <a:off x="14087827" y="6086827"/>
            <a:ext cx="8400347" cy="8400347"/>
          </a:xfrm>
          <a:custGeom>
            <a:avLst/>
            <a:gdLst/>
            <a:ahLst/>
            <a:cxnLst/>
            <a:rect l="l" t="t" r="r" b="b"/>
            <a:pathLst>
              <a:path w="8400347" h="8400347">
                <a:moveTo>
                  <a:pt x="0" y="0"/>
                </a:moveTo>
                <a:lnTo>
                  <a:pt x="8400346" y="0"/>
                </a:lnTo>
                <a:lnTo>
                  <a:pt x="8400346" y="8400346"/>
                </a:lnTo>
                <a:lnTo>
                  <a:pt x="0" y="840034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7" name="Freeform 7"/>
          <p:cNvSpPr/>
          <p:nvPr/>
        </p:nvSpPr>
        <p:spPr>
          <a:xfrm>
            <a:off x="1741169" y="-3878466"/>
            <a:ext cx="8400347" cy="8400347"/>
          </a:xfrm>
          <a:custGeom>
            <a:avLst/>
            <a:gdLst/>
            <a:ahLst/>
            <a:cxnLst/>
            <a:rect l="l" t="t" r="r" b="b"/>
            <a:pathLst>
              <a:path w="8400347" h="8400347">
                <a:moveTo>
                  <a:pt x="0" y="0"/>
                </a:moveTo>
                <a:lnTo>
                  <a:pt x="8400346" y="0"/>
                </a:lnTo>
                <a:lnTo>
                  <a:pt x="8400346" y="8400347"/>
                </a:lnTo>
                <a:lnTo>
                  <a:pt x="0" y="840034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8" name="Freeform 8"/>
          <p:cNvSpPr/>
          <p:nvPr/>
        </p:nvSpPr>
        <p:spPr>
          <a:xfrm>
            <a:off x="15466739" y="1028700"/>
            <a:ext cx="1761909" cy="112121"/>
          </a:xfrm>
          <a:custGeom>
            <a:avLst/>
            <a:gdLst/>
            <a:ahLst/>
            <a:cxnLst/>
            <a:rect l="l" t="t" r="r" b="b"/>
            <a:pathLst>
              <a:path w="1761909" h="112121">
                <a:moveTo>
                  <a:pt x="0" y="0"/>
                </a:moveTo>
                <a:lnTo>
                  <a:pt x="1761909" y="0"/>
                </a:lnTo>
                <a:lnTo>
                  <a:pt x="1761909" y="112121"/>
                </a:lnTo>
                <a:lnTo>
                  <a:pt x="0" y="1121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a:off x="10583632" y="9146179"/>
            <a:ext cx="1761909" cy="112121"/>
          </a:xfrm>
          <a:custGeom>
            <a:avLst/>
            <a:gdLst/>
            <a:ahLst/>
            <a:cxnLst/>
            <a:rect l="l" t="t" r="r" b="b"/>
            <a:pathLst>
              <a:path w="1761909" h="112121">
                <a:moveTo>
                  <a:pt x="0" y="0"/>
                </a:moveTo>
                <a:lnTo>
                  <a:pt x="1761908" y="0"/>
                </a:lnTo>
                <a:lnTo>
                  <a:pt x="1761908" y="112121"/>
                </a:lnTo>
                <a:lnTo>
                  <a:pt x="0" y="1121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0" name="Group 10"/>
          <p:cNvGrpSpPr/>
          <p:nvPr/>
        </p:nvGrpSpPr>
        <p:grpSpPr>
          <a:xfrm>
            <a:off x="17149862" y="9258300"/>
            <a:ext cx="861105" cy="861105"/>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12" name="TextBox 12"/>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14</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36045"/>
            <a:ext cx="16230600" cy="2927958"/>
            <a:chOff x="0" y="0"/>
            <a:chExt cx="4274726" cy="771149"/>
          </a:xfrm>
        </p:grpSpPr>
        <p:sp>
          <p:nvSpPr>
            <p:cNvPr id="3" name="Freeform 3"/>
            <p:cNvSpPr/>
            <p:nvPr/>
          </p:nvSpPr>
          <p:spPr>
            <a:xfrm>
              <a:off x="0" y="0"/>
              <a:ext cx="4274726" cy="771149"/>
            </a:xfrm>
            <a:custGeom>
              <a:avLst/>
              <a:gdLst/>
              <a:ahLst/>
              <a:cxnLst/>
              <a:rect l="l" t="t" r="r" b="b"/>
              <a:pathLst>
                <a:path w="4274726" h="771149">
                  <a:moveTo>
                    <a:pt x="47700" y="0"/>
                  </a:moveTo>
                  <a:lnTo>
                    <a:pt x="4227026" y="0"/>
                  </a:lnTo>
                  <a:cubicBezTo>
                    <a:pt x="4239677" y="0"/>
                    <a:pt x="4251809" y="5025"/>
                    <a:pt x="4260755" y="13971"/>
                  </a:cubicBezTo>
                  <a:cubicBezTo>
                    <a:pt x="4269700" y="22916"/>
                    <a:pt x="4274726" y="35049"/>
                    <a:pt x="4274726" y="47700"/>
                  </a:cubicBezTo>
                  <a:lnTo>
                    <a:pt x="4274726" y="723450"/>
                  </a:lnTo>
                  <a:cubicBezTo>
                    <a:pt x="4274726" y="736101"/>
                    <a:pt x="4269700" y="748233"/>
                    <a:pt x="4260755" y="757179"/>
                  </a:cubicBezTo>
                  <a:cubicBezTo>
                    <a:pt x="4251809" y="766124"/>
                    <a:pt x="4239677" y="771149"/>
                    <a:pt x="4227026" y="771149"/>
                  </a:cubicBezTo>
                  <a:lnTo>
                    <a:pt x="47700" y="771149"/>
                  </a:lnTo>
                  <a:cubicBezTo>
                    <a:pt x="35049" y="771149"/>
                    <a:pt x="22916" y="766124"/>
                    <a:pt x="13971" y="757179"/>
                  </a:cubicBezTo>
                  <a:cubicBezTo>
                    <a:pt x="5025" y="748233"/>
                    <a:pt x="0" y="736101"/>
                    <a:pt x="0" y="723450"/>
                  </a:cubicBezTo>
                  <a:lnTo>
                    <a:pt x="0" y="47700"/>
                  </a:lnTo>
                  <a:cubicBezTo>
                    <a:pt x="0" y="35049"/>
                    <a:pt x="5025" y="22916"/>
                    <a:pt x="13971" y="13971"/>
                  </a:cubicBezTo>
                  <a:cubicBezTo>
                    <a:pt x="22916" y="5025"/>
                    <a:pt x="35049" y="0"/>
                    <a:pt x="47700" y="0"/>
                  </a:cubicBezTo>
                  <a:close/>
                </a:path>
              </a:pathLst>
            </a:custGeom>
            <a:solidFill>
              <a:srgbClr val="26CBB8"/>
            </a:solidFill>
          </p:spPr>
        </p:sp>
        <p:sp>
          <p:nvSpPr>
            <p:cNvPr id="4" name="TextBox 4"/>
            <p:cNvSpPr txBox="1"/>
            <p:nvPr/>
          </p:nvSpPr>
          <p:spPr>
            <a:xfrm>
              <a:off x="0" y="-38100"/>
              <a:ext cx="4274726" cy="809249"/>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2905677" y="4362254"/>
            <a:ext cx="2409028" cy="4114800"/>
          </a:xfrm>
          <a:custGeom>
            <a:avLst/>
            <a:gdLst/>
            <a:ahLst/>
            <a:cxnLst/>
            <a:rect l="l" t="t" r="r" b="b"/>
            <a:pathLst>
              <a:path w="2409028" h="4114800">
                <a:moveTo>
                  <a:pt x="0" y="0"/>
                </a:moveTo>
                <a:lnTo>
                  <a:pt x="2409029" y="0"/>
                </a:lnTo>
                <a:lnTo>
                  <a:pt x="2409029"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2030145" y="4362254"/>
            <a:ext cx="3912801" cy="4114800"/>
          </a:xfrm>
          <a:custGeom>
            <a:avLst/>
            <a:gdLst/>
            <a:ahLst/>
            <a:cxnLst/>
            <a:rect l="l" t="t" r="r" b="b"/>
            <a:pathLst>
              <a:path w="3912801" h="4114800">
                <a:moveTo>
                  <a:pt x="0" y="0"/>
                </a:moveTo>
                <a:lnTo>
                  <a:pt x="3912801" y="0"/>
                </a:lnTo>
                <a:lnTo>
                  <a:pt x="3912801"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TextBox 7"/>
          <p:cNvSpPr txBox="1"/>
          <p:nvPr/>
        </p:nvSpPr>
        <p:spPr>
          <a:xfrm>
            <a:off x="2441705" y="1313210"/>
            <a:ext cx="13404590" cy="2306954"/>
          </a:xfrm>
          <a:prstGeom prst="rect">
            <a:avLst/>
          </a:prstGeom>
        </p:spPr>
        <p:txBody>
          <a:bodyPr lIns="0" tIns="0" rIns="0" bIns="0" rtlCol="0" anchor="t">
            <a:spAutoFit/>
          </a:bodyPr>
          <a:lstStyle/>
          <a:p>
            <a:pPr algn="just">
              <a:lnSpc>
                <a:spcPts val="4620"/>
              </a:lnSpc>
              <a:spcBef>
                <a:spcPct val="0"/>
              </a:spcBef>
            </a:pPr>
            <a:r>
              <a:rPr lang="en-US" sz="3300">
                <a:solidFill>
                  <a:srgbClr val="000000"/>
                </a:solidFill>
                <a:latin typeface="Montserrat"/>
                <a:ea typeface="Montserrat"/>
                <a:cs typeface="Montserrat"/>
                <a:sym typeface="Montserrat"/>
              </a:rPr>
              <a:t>HTTP verbs are a set of standardized HTTP methods used to specify the desired action to be performed on a resource. In a REST API, these verbs are the means by which clients communicate their intentions to the server.</a:t>
            </a:r>
          </a:p>
        </p:txBody>
      </p:sp>
      <p:sp>
        <p:nvSpPr>
          <p:cNvPr id="8" name="TextBox 8"/>
          <p:cNvSpPr txBox="1"/>
          <p:nvPr/>
        </p:nvSpPr>
        <p:spPr>
          <a:xfrm>
            <a:off x="2438400" y="8510063"/>
            <a:ext cx="2298894" cy="778510"/>
          </a:xfrm>
          <a:prstGeom prst="rect">
            <a:avLst/>
          </a:prstGeom>
        </p:spPr>
        <p:txBody>
          <a:bodyPr wrap="square" lIns="0" tIns="0" rIns="0" bIns="0" rtlCol="0" anchor="t">
            <a:spAutoFit/>
          </a:bodyPr>
          <a:lstStyle/>
          <a:p>
            <a:pPr algn="ctr">
              <a:lnSpc>
                <a:spcPts val="6439"/>
              </a:lnSpc>
              <a:spcBef>
                <a:spcPct val="0"/>
              </a:spcBef>
            </a:pPr>
            <a:r>
              <a:rPr lang="en-US" sz="4599" b="1" dirty="0">
                <a:solidFill>
                  <a:srgbClr val="000000"/>
                </a:solidFill>
                <a:latin typeface="Montserrat Bold"/>
                <a:ea typeface="Montserrat Bold"/>
                <a:cs typeface="Montserrat Bold"/>
                <a:sym typeface="Montserrat Bold"/>
              </a:rPr>
              <a:t>Client</a:t>
            </a:r>
          </a:p>
        </p:txBody>
      </p:sp>
      <p:sp>
        <p:nvSpPr>
          <p:cNvPr id="9" name="TextBox 9"/>
          <p:cNvSpPr txBox="1"/>
          <p:nvPr/>
        </p:nvSpPr>
        <p:spPr>
          <a:xfrm>
            <a:off x="12736609" y="8472445"/>
            <a:ext cx="2747164" cy="778510"/>
          </a:xfrm>
          <a:prstGeom prst="rect">
            <a:avLst/>
          </a:prstGeom>
        </p:spPr>
        <p:txBody>
          <a:bodyPr wrap="square" lIns="0" tIns="0" rIns="0" bIns="0" rtlCol="0" anchor="t">
            <a:spAutoFit/>
          </a:bodyPr>
          <a:lstStyle/>
          <a:p>
            <a:pPr algn="ctr">
              <a:lnSpc>
                <a:spcPts val="6439"/>
              </a:lnSpc>
              <a:spcBef>
                <a:spcPct val="0"/>
              </a:spcBef>
            </a:pPr>
            <a:r>
              <a:rPr lang="en-US" sz="4599" b="1" dirty="0">
                <a:solidFill>
                  <a:srgbClr val="000000"/>
                </a:solidFill>
                <a:latin typeface="Montserrat Bold"/>
                <a:ea typeface="Montserrat Bold"/>
                <a:cs typeface="Montserrat Bold"/>
                <a:sym typeface="Montserrat Bold"/>
              </a:rPr>
              <a:t>Server</a:t>
            </a:r>
          </a:p>
        </p:txBody>
      </p:sp>
      <p:sp>
        <p:nvSpPr>
          <p:cNvPr id="10" name="TextBox 10"/>
          <p:cNvSpPr txBox="1"/>
          <p:nvPr/>
        </p:nvSpPr>
        <p:spPr>
          <a:xfrm>
            <a:off x="7365802" y="5373541"/>
            <a:ext cx="3556397" cy="778510"/>
          </a:xfrm>
          <a:prstGeom prst="rect">
            <a:avLst/>
          </a:prstGeom>
        </p:spPr>
        <p:txBody>
          <a:bodyPr lIns="0" tIns="0" rIns="0" bIns="0" rtlCol="0" anchor="t">
            <a:spAutoFit/>
          </a:bodyPr>
          <a:lstStyle/>
          <a:p>
            <a:pPr algn="ctr">
              <a:lnSpc>
                <a:spcPts val="6439"/>
              </a:lnSpc>
              <a:spcBef>
                <a:spcPct val="0"/>
              </a:spcBef>
            </a:pPr>
            <a:r>
              <a:rPr lang="en-US" sz="4599" b="1">
                <a:solidFill>
                  <a:srgbClr val="000000"/>
                </a:solidFill>
                <a:latin typeface="Montserrat Bold"/>
                <a:ea typeface="Montserrat Bold"/>
                <a:cs typeface="Montserrat Bold"/>
                <a:sym typeface="Montserrat Bold"/>
              </a:rPr>
              <a:t>HTTP Verbs</a:t>
            </a:r>
          </a:p>
        </p:txBody>
      </p:sp>
      <p:grpSp>
        <p:nvGrpSpPr>
          <p:cNvPr id="11" name="Group 11"/>
          <p:cNvGrpSpPr/>
          <p:nvPr/>
        </p:nvGrpSpPr>
        <p:grpSpPr>
          <a:xfrm>
            <a:off x="17149862" y="9258300"/>
            <a:ext cx="861105" cy="861105"/>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13" name="TextBox 13"/>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15</a:t>
              </a: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1236561" y="3077318"/>
            <a:ext cx="15814879" cy="6180982"/>
          </a:xfrm>
          <a:custGeom>
            <a:avLst/>
            <a:gdLst/>
            <a:ahLst/>
            <a:cxnLst/>
            <a:rect l="l" t="t" r="r" b="b"/>
            <a:pathLst>
              <a:path w="15814879" h="6180982">
                <a:moveTo>
                  <a:pt x="0" y="0"/>
                </a:moveTo>
                <a:lnTo>
                  <a:pt x="15814878" y="0"/>
                </a:lnTo>
                <a:lnTo>
                  <a:pt x="15814878" y="6180982"/>
                </a:lnTo>
                <a:lnTo>
                  <a:pt x="0" y="6180982"/>
                </a:lnTo>
                <a:lnTo>
                  <a:pt x="0" y="0"/>
                </a:lnTo>
                <a:close/>
              </a:path>
            </a:pathLst>
          </a:custGeom>
          <a:blipFill>
            <a:blip r:embed="rId2"/>
            <a:stretch>
              <a:fillRect/>
            </a:stretch>
          </a:blipFill>
        </p:spPr>
      </p:sp>
      <p:sp>
        <p:nvSpPr>
          <p:cNvPr id="3" name="TextBox 3"/>
          <p:cNvSpPr txBox="1"/>
          <p:nvPr/>
        </p:nvSpPr>
        <p:spPr>
          <a:xfrm>
            <a:off x="1236561" y="923925"/>
            <a:ext cx="15814879" cy="863600"/>
          </a:xfrm>
          <a:prstGeom prst="rect">
            <a:avLst/>
          </a:prstGeom>
        </p:spPr>
        <p:txBody>
          <a:bodyPr lIns="0" tIns="0" rIns="0" bIns="0" rtlCol="0" anchor="t">
            <a:spAutoFit/>
          </a:bodyPr>
          <a:lstStyle/>
          <a:p>
            <a:pPr algn="ctr">
              <a:lnSpc>
                <a:spcPts val="7000"/>
              </a:lnSpc>
            </a:pPr>
            <a:r>
              <a:rPr lang="en-US" sz="5000" b="1">
                <a:solidFill>
                  <a:srgbClr val="26CBB8"/>
                </a:solidFill>
                <a:latin typeface="Open Sans Bold"/>
                <a:ea typeface="Open Sans Bold"/>
                <a:cs typeface="Open Sans Bold"/>
                <a:sym typeface="Open Sans Bold"/>
              </a:rPr>
              <a:t>These are the 4 main HTTP Verbs in REST</a:t>
            </a:r>
          </a:p>
        </p:txBody>
      </p:sp>
      <p:grpSp>
        <p:nvGrpSpPr>
          <p:cNvPr id="4" name="Group 4"/>
          <p:cNvGrpSpPr/>
          <p:nvPr/>
        </p:nvGrpSpPr>
        <p:grpSpPr>
          <a:xfrm>
            <a:off x="17149862" y="9258300"/>
            <a:ext cx="861105" cy="861105"/>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6" name="TextBox 6"/>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16</a:t>
              </a: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3171473" y="-3929123"/>
            <a:ext cx="8400347" cy="8400347"/>
          </a:xfrm>
          <a:custGeom>
            <a:avLst/>
            <a:gdLst/>
            <a:ahLst/>
            <a:cxnLst/>
            <a:rect l="l" t="t" r="r" b="b"/>
            <a:pathLst>
              <a:path w="8400347" h="8400347">
                <a:moveTo>
                  <a:pt x="0" y="0"/>
                </a:moveTo>
                <a:lnTo>
                  <a:pt x="8400346" y="0"/>
                </a:lnTo>
                <a:lnTo>
                  <a:pt x="8400346" y="8400347"/>
                </a:lnTo>
                <a:lnTo>
                  <a:pt x="0" y="8400347"/>
                </a:lnTo>
                <a:lnTo>
                  <a:pt x="0" y="0"/>
                </a:lnTo>
                <a:close/>
              </a:path>
            </a:pathLst>
          </a:custGeom>
          <a:blipFill>
            <a:blip r:embed="rId3">
              <a:alphaModFix amt="9999"/>
              <a:extLst>
                <a:ext uri="{96DAC541-7B7A-43D3-8B79-37D633B846F1}">
                  <asvg:svgBlip xmlns:asvg="http://schemas.microsoft.com/office/drawing/2016/SVG/main" r:embed="rId4"/>
                </a:ext>
              </a:extLst>
            </a:blip>
            <a:stretch>
              <a:fillRect/>
            </a:stretch>
          </a:blipFill>
        </p:spPr>
      </p:sp>
      <p:grpSp>
        <p:nvGrpSpPr>
          <p:cNvPr id="3" name="Group 3"/>
          <p:cNvGrpSpPr/>
          <p:nvPr/>
        </p:nvGrpSpPr>
        <p:grpSpPr>
          <a:xfrm>
            <a:off x="1103286" y="1028700"/>
            <a:ext cx="1175279" cy="963167"/>
            <a:chOff x="0" y="0"/>
            <a:chExt cx="1109350" cy="909137"/>
          </a:xfrm>
        </p:grpSpPr>
        <p:sp>
          <p:nvSpPr>
            <p:cNvPr id="4" name="Freeform 4"/>
            <p:cNvSpPr/>
            <p:nvPr/>
          </p:nvSpPr>
          <p:spPr>
            <a:xfrm>
              <a:off x="0" y="0"/>
              <a:ext cx="1109350" cy="909137"/>
            </a:xfrm>
            <a:custGeom>
              <a:avLst/>
              <a:gdLst/>
              <a:ahLst/>
              <a:cxnLst/>
              <a:rect l="l" t="t" r="r" b="b"/>
              <a:pathLst>
                <a:path w="1109350" h="909137">
                  <a:moveTo>
                    <a:pt x="554675" y="0"/>
                  </a:moveTo>
                  <a:cubicBezTo>
                    <a:pt x="248337" y="0"/>
                    <a:pt x="0" y="203517"/>
                    <a:pt x="0" y="454569"/>
                  </a:cubicBezTo>
                  <a:cubicBezTo>
                    <a:pt x="0" y="705620"/>
                    <a:pt x="248337" y="909137"/>
                    <a:pt x="554675" y="909137"/>
                  </a:cubicBezTo>
                  <a:cubicBezTo>
                    <a:pt x="861014" y="909137"/>
                    <a:pt x="1109350" y="705620"/>
                    <a:pt x="1109350" y="454569"/>
                  </a:cubicBezTo>
                  <a:cubicBezTo>
                    <a:pt x="1109350" y="203517"/>
                    <a:pt x="861014" y="0"/>
                    <a:pt x="554675" y="0"/>
                  </a:cubicBezTo>
                  <a:close/>
                </a:path>
              </a:pathLst>
            </a:custGeom>
            <a:solidFill>
              <a:srgbClr val="000000">
                <a:alpha val="0"/>
              </a:srgbClr>
            </a:solidFill>
            <a:ln w="57150" cap="sq">
              <a:solidFill>
                <a:srgbClr val="856EE0"/>
              </a:solidFill>
              <a:prstDash val="solid"/>
              <a:miter/>
            </a:ln>
          </p:spPr>
        </p:sp>
        <p:sp>
          <p:nvSpPr>
            <p:cNvPr id="5" name="TextBox 5"/>
            <p:cNvSpPr txBox="1"/>
            <p:nvPr/>
          </p:nvSpPr>
          <p:spPr>
            <a:xfrm>
              <a:off x="104002" y="37607"/>
              <a:ext cx="901347" cy="786299"/>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1</a:t>
              </a:r>
            </a:p>
          </p:txBody>
        </p:sp>
      </p:grpSp>
      <p:sp>
        <p:nvSpPr>
          <p:cNvPr id="6" name="TextBox 6"/>
          <p:cNvSpPr txBox="1"/>
          <p:nvPr/>
        </p:nvSpPr>
        <p:spPr>
          <a:xfrm>
            <a:off x="2566265" y="1226439"/>
            <a:ext cx="8427308" cy="586740"/>
          </a:xfrm>
          <a:prstGeom prst="rect">
            <a:avLst/>
          </a:prstGeom>
        </p:spPr>
        <p:txBody>
          <a:bodyPr lIns="0" tIns="0" rIns="0" bIns="0" rtlCol="0" anchor="t">
            <a:spAutoFit/>
          </a:bodyPr>
          <a:lstStyle/>
          <a:p>
            <a:pPr algn="l">
              <a:lnSpc>
                <a:spcPts val="4679"/>
              </a:lnSpc>
            </a:pPr>
            <a:r>
              <a:rPr lang="en-US" sz="3999" b="1">
                <a:solidFill>
                  <a:srgbClr val="856EE0"/>
                </a:solidFill>
                <a:latin typeface="Montserrat Bold"/>
                <a:ea typeface="Montserrat Bold"/>
                <a:cs typeface="Montserrat Bold"/>
                <a:sym typeface="Montserrat Bold"/>
              </a:rPr>
              <a:t>GET : Retrieve a Resource</a:t>
            </a:r>
          </a:p>
        </p:txBody>
      </p:sp>
      <p:sp>
        <p:nvSpPr>
          <p:cNvPr id="7" name="TextBox 7"/>
          <p:cNvSpPr txBox="1"/>
          <p:nvPr/>
        </p:nvSpPr>
        <p:spPr>
          <a:xfrm>
            <a:off x="1028700" y="2259330"/>
            <a:ext cx="16230600" cy="7176135"/>
          </a:xfrm>
          <a:prstGeom prst="rect">
            <a:avLst/>
          </a:prstGeom>
        </p:spPr>
        <p:txBody>
          <a:bodyPr lIns="0" tIns="0" rIns="0" bIns="0" rtlCol="0" anchor="t">
            <a:spAutoFit/>
          </a:bodyPr>
          <a:lstStyle/>
          <a:p>
            <a:pPr marL="690881" lvl="1" indent="-345440" algn="just">
              <a:lnSpc>
                <a:spcPts val="5760"/>
              </a:lnSpc>
              <a:buFont typeface="Arial"/>
              <a:buChar char="•"/>
            </a:pPr>
            <a:r>
              <a:rPr lang="en-US" sz="3200" b="1">
                <a:solidFill>
                  <a:srgbClr val="000000"/>
                </a:solidFill>
                <a:latin typeface="Open Sans Bold"/>
                <a:ea typeface="Open Sans Bold"/>
                <a:cs typeface="Open Sans Bold"/>
                <a:sym typeface="Open Sans Bold"/>
              </a:rPr>
              <a:t>Purpose : </a:t>
            </a:r>
            <a:r>
              <a:rPr lang="en-US" sz="3200">
                <a:solidFill>
                  <a:srgbClr val="000000"/>
                </a:solidFill>
                <a:latin typeface="Open Sans"/>
                <a:ea typeface="Open Sans"/>
                <a:cs typeface="Open Sans"/>
                <a:sym typeface="Open Sans"/>
              </a:rPr>
              <a:t>The GET method is used to request and retrieve data from a server without modifying it. For example, if you’re retrieving a user’s profile information, you’d typically use a GET request.</a:t>
            </a:r>
          </a:p>
          <a:p>
            <a:pPr marL="690881" lvl="1" indent="-345440" algn="just">
              <a:lnSpc>
                <a:spcPts val="5760"/>
              </a:lnSpc>
              <a:buFont typeface="Arial"/>
              <a:buChar char="•"/>
            </a:pPr>
            <a:r>
              <a:rPr lang="en-US" sz="3200" b="1">
                <a:solidFill>
                  <a:srgbClr val="000000"/>
                </a:solidFill>
                <a:latin typeface="Open Sans Bold"/>
                <a:ea typeface="Open Sans Bold"/>
                <a:cs typeface="Open Sans Bold"/>
                <a:sym typeface="Open Sans Bold"/>
              </a:rPr>
              <a:t>Idempotency : </a:t>
            </a:r>
            <a:r>
              <a:rPr lang="en-US" sz="3200">
                <a:solidFill>
                  <a:srgbClr val="000000"/>
                </a:solidFill>
                <a:latin typeface="Open Sans"/>
                <a:ea typeface="Open Sans"/>
                <a:cs typeface="Open Sans"/>
                <a:sym typeface="Open Sans"/>
              </a:rPr>
              <a:t>GET is idempotent, meaning calling it multiple times produces the same result without any side effects. For instance, if you request a user’s profile ten times, you get the same data back each time.</a:t>
            </a:r>
          </a:p>
          <a:p>
            <a:pPr marL="690881" lvl="1" indent="-345440" algn="just">
              <a:lnSpc>
                <a:spcPts val="5760"/>
              </a:lnSpc>
              <a:buFont typeface="Arial"/>
              <a:buChar char="•"/>
            </a:pPr>
            <a:r>
              <a:rPr lang="en-US" sz="3200" b="1">
                <a:solidFill>
                  <a:srgbClr val="000000"/>
                </a:solidFill>
                <a:latin typeface="Open Sans Bold"/>
                <a:ea typeface="Open Sans Bold"/>
                <a:cs typeface="Open Sans Bold"/>
                <a:sym typeface="Open Sans Bold"/>
              </a:rPr>
              <a:t>Practical Example :</a:t>
            </a:r>
            <a:r>
              <a:rPr lang="en-US" sz="3200">
                <a:solidFill>
                  <a:srgbClr val="000000"/>
                </a:solidFill>
                <a:latin typeface="Open Sans"/>
                <a:ea typeface="Open Sans"/>
                <a:cs typeface="Open Sans"/>
                <a:sym typeface="Open Sans"/>
              </a:rPr>
              <a:t> In a web application, every time a page loads and displays data without needing input or modification like viewing a product list.</a:t>
            </a:r>
          </a:p>
          <a:p>
            <a:pPr marL="690881" lvl="1" indent="-345440" algn="just">
              <a:lnSpc>
                <a:spcPts val="5760"/>
              </a:lnSpc>
              <a:buFont typeface="Arial"/>
              <a:buChar char="•"/>
            </a:pPr>
            <a:r>
              <a:rPr lang="en-US" sz="3200" b="1">
                <a:solidFill>
                  <a:srgbClr val="000000"/>
                </a:solidFill>
                <a:latin typeface="Open Sans Bold"/>
                <a:ea typeface="Open Sans Bold"/>
                <a:cs typeface="Open Sans Bold"/>
                <a:sym typeface="Open Sans Bold"/>
              </a:rPr>
              <a:t>Caching :</a:t>
            </a:r>
            <a:r>
              <a:rPr lang="en-US" sz="3200">
                <a:solidFill>
                  <a:srgbClr val="000000"/>
                </a:solidFill>
                <a:latin typeface="Open Sans"/>
                <a:ea typeface="Open Sans"/>
                <a:cs typeface="Open Sans"/>
                <a:sym typeface="Open Sans"/>
              </a:rPr>
              <a:t> GET requests are often cached, which helps reduce load on the server by storing and reusing previous responses.</a:t>
            </a:r>
          </a:p>
        </p:txBody>
      </p:sp>
      <p:sp>
        <p:nvSpPr>
          <p:cNvPr id="8" name="Freeform 8"/>
          <p:cNvSpPr/>
          <p:nvPr/>
        </p:nvSpPr>
        <p:spPr>
          <a:xfrm>
            <a:off x="14087827" y="6086827"/>
            <a:ext cx="8400347" cy="8400347"/>
          </a:xfrm>
          <a:custGeom>
            <a:avLst/>
            <a:gdLst/>
            <a:ahLst/>
            <a:cxnLst/>
            <a:rect l="l" t="t" r="r" b="b"/>
            <a:pathLst>
              <a:path w="8400347" h="8400347">
                <a:moveTo>
                  <a:pt x="0" y="0"/>
                </a:moveTo>
                <a:lnTo>
                  <a:pt x="8400346" y="0"/>
                </a:lnTo>
                <a:lnTo>
                  <a:pt x="8400346" y="8400346"/>
                </a:lnTo>
                <a:lnTo>
                  <a:pt x="0" y="8400346"/>
                </a:lnTo>
                <a:lnTo>
                  <a:pt x="0" y="0"/>
                </a:lnTo>
                <a:close/>
              </a:path>
            </a:pathLst>
          </a:custGeom>
          <a:blipFill>
            <a:blip r:embed="rId3">
              <a:alphaModFix amt="9999"/>
              <a:extLst>
                <a:ext uri="{96DAC541-7B7A-43D3-8B79-37D633B846F1}">
                  <asvg:svgBlip xmlns:asvg="http://schemas.microsoft.com/office/drawing/2016/SVG/main" r:embed="rId4"/>
                </a:ext>
              </a:extLst>
            </a:blip>
            <a:stretch>
              <a:fillRect/>
            </a:stretch>
          </a:blipFill>
        </p:spPr>
      </p:sp>
      <p:grpSp>
        <p:nvGrpSpPr>
          <p:cNvPr id="9" name="Group 9"/>
          <p:cNvGrpSpPr/>
          <p:nvPr/>
        </p:nvGrpSpPr>
        <p:grpSpPr>
          <a:xfrm>
            <a:off x="17149862" y="9258300"/>
            <a:ext cx="861105" cy="861105"/>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17</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103286" y="1028700"/>
            <a:ext cx="1175279" cy="963167"/>
            <a:chOff x="0" y="0"/>
            <a:chExt cx="1109350" cy="909137"/>
          </a:xfrm>
        </p:grpSpPr>
        <p:sp>
          <p:nvSpPr>
            <p:cNvPr id="3" name="Freeform 3"/>
            <p:cNvSpPr/>
            <p:nvPr/>
          </p:nvSpPr>
          <p:spPr>
            <a:xfrm>
              <a:off x="0" y="0"/>
              <a:ext cx="1109350" cy="909137"/>
            </a:xfrm>
            <a:custGeom>
              <a:avLst/>
              <a:gdLst/>
              <a:ahLst/>
              <a:cxnLst/>
              <a:rect l="l" t="t" r="r" b="b"/>
              <a:pathLst>
                <a:path w="1109350" h="909137">
                  <a:moveTo>
                    <a:pt x="554675" y="0"/>
                  </a:moveTo>
                  <a:cubicBezTo>
                    <a:pt x="248337" y="0"/>
                    <a:pt x="0" y="203517"/>
                    <a:pt x="0" y="454569"/>
                  </a:cubicBezTo>
                  <a:cubicBezTo>
                    <a:pt x="0" y="705620"/>
                    <a:pt x="248337" y="909137"/>
                    <a:pt x="554675" y="909137"/>
                  </a:cubicBezTo>
                  <a:cubicBezTo>
                    <a:pt x="861014" y="909137"/>
                    <a:pt x="1109350" y="705620"/>
                    <a:pt x="1109350" y="454569"/>
                  </a:cubicBezTo>
                  <a:cubicBezTo>
                    <a:pt x="1109350" y="203517"/>
                    <a:pt x="861014" y="0"/>
                    <a:pt x="554675" y="0"/>
                  </a:cubicBezTo>
                  <a:close/>
                </a:path>
              </a:pathLst>
            </a:custGeom>
            <a:solidFill>
              <a:srgbClr val="000000">
                <a:alpha val="0"/>
              </a:srgbClr>
            </a:solidFill>
            <a:ln w="57150" cap="sq">
              <a:solidFill>
                <a:srgbClr val="856EE0"/>
              </a:solidFill>
              <a:prstDash val="solid"/>
              <a:miter/>
            </a:ln>
          </p:spPr>
        </p:sp>
        <p:sp>
          <p:nvSpPr>
            <p:cNvPr id="4" name="TextBox 4"/>
            <p:cNvSpPr txBox="1"/>
            <p:nvPr/>
          </p:nvSpPr>
          <p:spPr>
            <a:xfrm>
              <a:off x="104002" y="37607"/>
              <a:ext cx="901347" cy="786299"/>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2</a:t>
              </a:r>
            </a:p>
          </p:txBody>
        </p:sp>
      </p:grpSp>
      <p:sp>
        <p:nvSpPr>
          <p:cNvPr id="5" name="TextBox 5"/>
          <p:cNvSpPr txBox="1"/>
          <p:nvPr/>
        </p:nvSpPr>
        <p:spPr>
          <a:xfrm>
            <a:off x="2566265" y="1226439"/>
            <a:ext cx="8427308" cy="586740"/>
          </a:xfrm>
          <a:prstGeom prst="rect">
            <a:avLst/>
          </a:prstGeom>
        </p:spPr>
        <p:txBody>
          <a:bodyPr lIns="0" tIns="0" rIns="0" bIns="0" rtlCol="0" anchor="t">
            <a:spAutoFit/>
          </a:bodyPr>
          <a:lstStyle/>
          <a:p>
            <a:pPr algn="l">
              <a:lnSpc>
                <a:spcPts val="4679"/>
              </a:lnSpc>
            </a:pPr>
            <a:r>
              <a:rPr lang="en-US" sz="3999" b="1">
                <a:solidFill>
                  <a:srgbClr val="856EE0"/>
                </a:solidFill>
                <a:latin typeface="Montserrat Bold"/>
                <a:ea typeface="Montserrat Bold"/>
                <a:cs typeface="Montserrat Bold"/>
                <a:sym typeface="Montserrat Bold"/>
              </a:rPr>
              <a:t>POST : Create a New Resource</a:t>
            </a:r>
          </a:p>
        </p:txBody>
      </p:sp>
      <p:sp>
        <p:nvSpPr>
          <p:cNvPr id="6" name="TextBox 6"/>
          <p:cNvSpPr txBox="1"/>
          <p:nvPr/>
        </p:nvSpPr>
        <p:spPr>
          <a:xfrm>
            <a:off x="1028700" y="2259330"/>
            <a:ext cx="16230600" cy="7176135"/>
          </a:xfrm>
          <a:prstGeom prst="rect">
            <a:avLst/>
          </a:prstGeom>
        </p:spPr>
        <p:txBody>
          <a:bodyPr lIns="0" tIns="0" rIns="0" bIns="0" rtlCol="0" anchor="t">
            <a:spAutoFit/>
          </a:bodyPr>
          <a:lstStyle/>
          <a:p>
            <a:pPr marL="690881" lvl="1" indent="-345440" algn="just">
              <a:lnSpc>
                <a:spcPts val="5760"/>
              </a:lnSpc>
              <a:buFont typeface="Arial"/>
              <a:buChar char="•"/>
            </a:pPr>
            <a:r>
              <a:rPr lang="en-US" sz="3200" b="1">
                <a:solidFill>
                  <a:srgbClr val="000000"/>
                </a:solidFill>
                <a:latin typeface="Open Sans Bold"/>
                <a:ea typeface="Open Sans Bold"/>
                <a:cs typeface="Open Sans Bold"/>
                <a:sym typeface="Open Sans Bold"/>
              </a:rPr>
              <a:t>Purpose : </a:t>
            </a:r>
            <a:r>
              <a:rPr lang="en-US" sz="3200">
                <a:solidFill>
                  <a:srgbClr val="000000"/>
                </a:solidFill>
                <a:latin typeface="Open Sans"/>
                <a:ea typeface="Open Sans"/>
                <a:cs typeface="Open Sans"/>
                <a:sym typeface="Open Sans"/>
              </a:rPr>
              <a:t>POST is used to create a new resource on the server. Unlike GET, POST changes the server’s state by adding new data.</a:t>
            </a:r>
          </a:p>
          <a:p>
            <a:pPr marL="690881" lvl="1" indent="-345440" algn="just">
              <a:lnSpc>
                <a:spcPts val="5760"/>
              </a:lnSpc>
              <a:buFont typeface="Arial"/>
              <a:buChar char="•"/>
            </a:pPr>
            <a:r>
              <a:rPr lang="en-US" sz="3200" b="1">
                <a:solidFill>
                  <a:srgbClr val="000000"/>
                </a:solidFill>
                <a:latin typeface="Open Sans Bold"/>
                <a:ea typeface="Open Sans Bold"/>
                <a:cs typeface="Open Sans Bold"/>
                <a:sym typeface="Open Sans Bold"/>
              </a:rPr>
              <a:t>Non-Idempotency : </a:t>
            </a:r>
            <a:r>
              <a:rPr lang="en-US" sz="3200">
                <a:solidFill>
                  <a:srgbClr val="000000"/>
                </a:solidFill>
                <a:latin typeface="Open Sans"/>
                <a:ea typeface="Open Sans"/>
                <a:cs typeface="Open Sans"/>
                <a:sym typeface="Open Sans"/>
              </a:rPr>
              <a:t>POST is non-idempotent. This means if you send the same POST request multiple times, you might create multiple resources. For example, submitting a form twice could lead to duplicate entries.</a:t>
            </a:r>
          </a:p>
          <a:p>
            <a:pPr marL="690881" lvl="1" indent="-345440" algn="just">
              <a:lnSpc>
                <a:spcPts val="5760"/>
              </a:lnSpc>
              <a:buFont typeface="Arial"/>
              <a:buChar char="•"/>
            </a:pPr>
            <a:r>
              <a:rPr lang="en-US" sz="3200" b="1">
                <a:solidFill>
                  <a:srgbClr val="000000"/>
                </a:solidFill>
                <a:latin typeface="Open Sans Bold"/>
                <a:ea typeface="Open Sans Bold"/>
                <a:cs typeface="Open Sans Bold"/>
                <a:sym typeface="Open Sans Bold"/>
              </a:rPr>
              <a:t>Practical Example :</a:t>
            </a:r>
            <a:r>
              <a:rPr lang="en-US" sz="3200">
                <a:solidFill>
                  <a:srgbClr val="000000"/>
                </a:solidFill>
                <a:latin typeface="Open Sans"/>
                <a:ea typeface="Open Sans"/>
                <a:cs typeface="Open Sans"/>
                <a:sym typeface="Open Sans"/>
              </a:rPr>
              <a:t> Registering a new user, adding a new product, or submitting an online order are common scenarios where POST is used. Each action results in a new record on the server.</a:t>
            </a:r>
          </a:p>
          <a:p>
            <a:pPr marL="690881" lvl="1" indent="-345440" algn="just">
              <a:lnSpc>
                <a:spcPts val="5760"/>
              </a:lnSpc>
              <a:buFont typeface="Arial"/>
              <a:buChar char="•"/>
            </a:pPr>
            <a:r>
              <a:rPr lang="en-US" sz="3200" b="1">
                <a:solidFill>
                  <a:srgbClr val="000000"/>
                </a:solidFill>
                <a:latin typeface="Open Sans Bold"/>
                <a:ea typeface="Open Sans Bold"/>
                <a:cs typeface="Open Sans Bold"/>
                <a:sym typeface="Open Sans Bold"/>
              </a:rPr>
              <a:t>Common Usage :</a:t>
            </a:r>
            <a:r>
              <a:rPr lang="en-US" sz="3200">
                <a:solidFill>
                  <a:srgbClr val="000000"/>
                </a:solidFill>
                <a:latin typeface="Open Sans"/>
                <a:ea typeface="Open Sans"/>
                <a:cs typeface="Open Sans"/>
                <a:sym typeface="Open Sans"/>
              </a:rPr>
              <a:t> POST requests include a body with data, such as JSON, XML, or form data. This data is then used to create a new resource.</a:t>
            </a:r>
          </a:p>
        </p:txBody>
      </p:sp>
      <p:sp>
        <p:nvSpPr>
          <p:cNvPr id="7" name="Freeform 7"/>
          <p:cNvSpPr/>
          <p:nvPr/>
        </p:nvSpPr>
        <p:spPr>
          <a:xfrm>
            <a:off x="-3171473" y="-3929123"/>
            <a:ext cx="8400347" cy="8400347"/>
          </a:xfrm>
          <a:custGeom>
            <a:avLst/>
            <a:gdLst/>
            <a:ahLst/>
            <a:cxnLst/>
            <a:rect l="l" t="t" r="r" b="b"/>
            <a:pathLst>
              <a:path w="8400347" h="8400347">
                <a:moveTo>
                  <a:pt x="0" y="0"/>
                </a:moveTo>
                <a:lnTo>
                  <a:pt x="8400346" y="0"/>
                </a:lnTo>
                <a:lnTo>
                  <a:pt x="8400346" y="8400347"/>
                </a:lnTo>
                <a:lnTo>
                  <a:pt x="0" y="840034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8" name="Freeform 8"/>
          <p:cNvSpPr/>
          <p:nvPr/>
        </p:nvSpPr>
        <p:spPr>
          <a:xfrm>
            <a:off x="14087827" y="6086827"/>
            <a:ext cx="8400347" cy="8400347"/>
          </a:xfrm>
          <a:custGeom>
            <a:avLst/>
            <a:gdLst/>
            <a:ahLst/>
            <a:cxnLst/>
            <a:rect l="l" t="t" r="r" b="b"/>
            <a:pathLst>
              <a:path w="8400347" h="8400347">
                <a:moveTo>
                  <a:pt x="0" y="0"/>
                </a:moveTo>
                <a:lnTo>
                  <a:pt x="8400346" y="0"/>
                </a:lnTo>
                <a:lnTo>
                  <a:pt x="8400346" y="8400346"/>
                </a:lnTo>
                <a:lnTo>
                  <a:pt x="0" y="840034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17149862" y="9258300"/>
            <a:ext cx="861105" cy="861105"/>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18</a:t>
              </a: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103286" y="1028700"/>
            <a:ext cx="1175279" cy="963167"/>
            <a:chOff x="0" y="0"/>
            <a:chExt cx="1109350" cy="909137"/>
          </a:xfrm>
        </p:grpSpPr>
        <p:sp>
          <p:nvSpPr>
            <p:cNvPr id="3" name="Freeform 3"/>
            <p:cNvSpPr/>
            <p:nvPr/>
          </p:nvSpPr>
          <p:spPr>
            <a:xfrm>
              <a:off x="0" y="0"/>
              <a:ext cx="1109350" cy="909137"/>
            </a:xfrm>
            <a:custGeom>
              <a:avLst/>
              <a:gdLst/>
              <a:ahLst/>
              <a:cxnLst/>
              <a:rect l="l" t="t" r="r" b="b"/>
              <a:pathLst>
                <a:path w="1109350" h="909137">
                  <a:moveTo>
                    <a:pt x="554675" y="0"/>
                  </a:moveTo>
                  <a:cubicBezTo>
                    <a:pt x="248337" y="0"/>
                    <a:pt x="0" y="203517"/>
                    <a:pt x="0" y="454569"/>
                  </a:cubicBezTo>
                  <a:cubicBezTo>
                    <a:pt x="0" y="705620"/>
                    <a:pt x="248337" y="909137"/>
                    <a:pt x="554675" y="909137"/>
                  </a:cubicBezTo>
                  <a:cubicBezTo>
                    <a:pt x="861014" y="909137"/>
                    <a:pt x="1109350" y="705620"/>
                    <a:pt x="1109350" y="454569"/>
                  </a:cubicBezTo>
                  <a:cubicBezTo>
                    <a:pt x="1109350" y="203517"/>
                    <a:pt x="861014" y="0"/>
                    <a:pt x="554675" y="0"/>
                  </a:cubicBezTo>
                  <a:close/>
                </a:path>
              </a:pathLst>
            </a:custGeom>
            <a:solidFill>
              <a:srgbClr val="000000">
                <a:alpha val="0"/>
              </a:srgbClr>
            </a:solidFill>
            <a:ln w="57150" cap="sq">
              <a:solidFill>
                <a:srgbClr val="856EE0"/>
              </a:solidFill>
              <a:prstDash val="solid"/>
              <a:miter/>
            </a:ln>
          </p:spPr>
        </p:sp>
        <p:sp>
          <p:nvSpPr>
            <p:cNvPr id="4" name="TextBox 4"/>
            <p:cNvSpPr txBox="1"/>
            <p:nvPr/>
          </p:nvSpPr>
          <p:spPr>
            <a:xfrm>
              <a:off x="104002" y="37607"/>
              <a:ext cx="901347" cy="786299"/>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3</a:t>
              </a:r>
            </a:p>
          </p:txBody>
        </p:sp>
      </p:grpSp>
      <p:sp>
        <p:nvSpPr>
          <p:cNvPr id="5" name="TextBox 5"/>
          <p:cNvSpPr txBox="1"/>
          <p:nvPr/>
        </p:nvSpPr>
        <p:spPr>
          <a:xfrm>
            <a:off x="2566265" y="1226439"/>
            <a:ext cx="12479839" cy="586740"/>
          </a:xfrm>
          <a:prstGeom prst="rect">
            <a:avLst/>
          </a:prstGeom>
        </p:spPr>
        <p:txBody>
          <a:bodyPr lIns="0" tIns="0" rIns="0" bIns="0" rtlCol="0" anchor="t">
            <a:spAutoFit/>
          </a:bodyPr>
          <a:lstStyle/>
          <a:p>
            <a:pPr algn="l">
              <a:lnSpc>
                <a:spcPts val="4679"/>
              </a:lnSpc>
            </a:pPr>
            <a:r>
              <a:rPr lang="en-US" sz="3999" b="1">
                <a:solidFill>
                  <a:srgbClr val="856EE0"/>
                </a:solidFill>
                <a:latin typeface="Montserrat Bold"/>
                <a:ea typeface="Montserrat Bold"/>
                <a:cs typeface="Montserrat Bold"/>
                <a:sym typeface="Montserrat Bold"/>
              </a:rPr>
              <a:t>PUT : Update or Replace a Resource</a:t>
            </a:r>
          </a:p>
        </p:txBody>
      </p:sp>
      <p:sp>
        <p:nvSpPr>
          <p:cNvPr id="6" name="TextBox 6"/>
          <p:cNvSpPr txBox="1"/>
          <p:nvPr/>
        </p:nvSpPr>
        <p:spPr>
          <a:xfrm>
            <a:off x="1028700" y="2259330"/>
            <a:ext cx="16230600" cy="6452234"/>
          </a:xfrm>
          <a:prstGeom prst="rect">
            <a:avLst/>
          </a:prstGeom>
        </p:spPr>
        <p:txBody>
          <a:bodyPr lIns="0" tIns="0" rIns="0" bIns="0" rtlCol="0" anchor="t">
            <a:spAutoFit/>
          </a:bodyPr>
          <a:lstStyle/>
          <a:p>
            <a:pPr marL="690882" lvl="1" indent="-345441" algn="just">
              <a:lnSpc>
                <a:spcPts val="5760"/>
              </a:lnSpc>
              <a:buFont typeface="Arial"/>
              <a:buChar char="•"/>
            </a:pPr>
            <a:r>
              <a:rPr lang="en-US" sz="3200" b="1">
                <a:solidFill>
                  <a:srgbClr val="000000"/>
                </a:solidFill>
                <a:latin typeface="Open Sans Bold"/>
                <a:ea typeface="Open Sans Bold"/>
                <a:cs typeface="Open Sans Bold"/>
                <a:sym typeface="Open Sans Bold"/>
              </a:rPr>
              <a:t>Purpose : </a:t>
            </a:r>
            <a:r>
              <a:rPr lang="en-US" sz="3200">
                <a:solidFill>
                  <a:srgbClr val="000000"/>
                </a:solidFill>
                <a:latin typeface="Open Sans"/>
                <a:ea typeface="Open Sans"/>
                <a:cs typeface="Open Sans"/>
                <a:sym typeface="Open Sans"/>
              </a:rPr>
              <a:t>The PUT method updates or fully replaces a resource at a specified URI. It’s used to send a complete update, where the entire resource is modified.</a:t>
            </a:r>
          </a:p>
          <a:p>
            <a:pPr marL="690882" lvl="1" indent="-345441" algn="just">
              <a:lnSpc>
                <a:spcPts val="5760"/>
              </a:lnSpc>
              <a:buFont typeface="Arial"/>
              <a:buChar char="•"/>
            </a:pPr>
            <a:r>
              <a:rPr lang="en-US" sz="3200" b="1">
                <a:solidFill>
                  <a:srgbClr val="000000"/>
                </a:solidFill>
                <a:latin typeface="Open Sans Bold"/>
                <a:ea typeface="Open Sans Bold"/>
                <a:cs typeface="Open Sans Bold"/>
                <a:sym typeface="Open Sans Bold"/>
              </a:rPr>
              <a:t>Idempotency : </a:t>
            </a:r>
            <a:r>
              <a:rPr lang="en-US" sz="3200">
                <a:solidFill>
                  <a:srgbClr val="000000"/>
                </a:solidFill>
                <a:latin typeface="Open Sans"/>
                <a:ea typeface="Open Sans"/>
                <a:cs typeface="Open Sans"/>
                <a:sym typeface="Open Sans"/>
              </a:rPr>
              <a:t>PUT is idempotent, meaning repeated requests with the same data produce the same result. For example, if you update a user’s profile with the same details five times, the profile remains the same.</a:t>
            </a:r>
          </a:p>
          <a:p>
            <a:pPr marL="690882" lvl="1" indent="-345441" algn="just">
              <a:lnSpc>
                <a:spcPts val="5760"/>
              </a:lnSpc>
              <a:buFont typeface="Arial"/>
              <a:buChar char="•"/>
            </a:pPr>
            <a:r>
              <a:rPr lang="en-US" sz="3200" b="1">
                <a:solidFill>
                  <a:srgbClr val="000000"/>
                </a:solidFill>
                <a:latin typeface="Open Sans Bold"/>
                <a:ea typeface="Open Sans Bold"/>
                <a:cs typeface="Open Sans Bold"/>
                <a:sym typeface="Open Sans Bold"/>
              </a:rPr>
              <a:t>Practical Example :</a:t>
            </a:r>
            <a:r>
              <a:rPr lang="en-US" sz="3200">
                <a:solidFill>
                  <a:srgbClr val="000000"/>
                </a:solidFill>
                <a:latin typeface="Open Sans"/>
                <a:ea typeface="Open Sans"/>
                <a:cs typeface="Open Sans"/>
                <a:sym typeface="Open Sans"/>
              </a:rPr>
              <a:t> In an e-commerce application, if a user edits their address details, a PUT request can replace the current address with the new one.</a:t>
            </a:r>
          </a:p>
          <a:p>
            <a:pPr marL="690882" lvl="1" indent="-345441" algn="just">
              <a:lnSpc>
                <a:spcPts val="5760"/>
              </a:lnSpc>
              <a:buFont typeface="Arial"/>
              <a:buChar char="•"/>
            </a:pPr>
            <a:r>
              <a:rPr lang="en-US" sz="3200" b="1">
                <a:solidFill>
                  <a:srgbClr val="000000"/>
                </a:solidFill>
                <a:latin typeface="Open Sans Bold"/>
                <a:ea typeface="Open Sans Bold"/>
                <a:cs typeface="Open Sans Bold"/>
                <a:sym typeface="Open Sans Bold"/>
              </a:rPr>
              <a:t>Use Cases :</a:t>
            </a:r>
            <a:r>
              <a:rPr lang="en-US" sz="3200">
                <a:solidFill>
                  <a:srgbClr val="000000"/>
                </a:solidFill>
                <a:latin typeface="Open Sans"/>
                <a:ea typeface="Open Sans"/>
                <a:cs typeface="Open Sans"/>
                <a:sym typeface="Open Sans"/>
              </a:rPr>
              <a:t> PUT often requires sending the full updated resource. So, if you only want to change one field, you must include all fields for a complete replacement.</a:t>
            </a:r>
          </a:p>
        </p:txBody>
      </p:sp>
      <p:sp>
        <p:nvSpPr>
          <p:cNvPr id="7" name="Freeform 7"/>
          <p:cNvSpPr/>
          <p:nvPr/>
        </p:nvSpPr>
        <p:spPr>
          <a:xfrm>
            <a:off x="14087827" y="6086827"/>
            <a:ext cx="8400347" cy="8400347"/>
          </a:xfrm>
          <a:custGeom>
            <a:avLst/>
            <a:gdLst/>
            <a:ahLst/>
            <a:cxnLst/>
            <a:rect l="l" t="t" r="r" b="b"/>
            <a:pathLst>
              <a:path w="8400347" h="8400347">
                <a:moveTo>
                  <a:pt x="0" y="0"/>
                </a:moveTo>
                <a:lnTo>
                  <a:pt x="8400346" y="0"/>
                </a:lnTo>
                <a:lnTo>
                  <a:pt x="8400346" y="8400346"/>
                </a:lnTo>
                <a:lnTo>
                  <a:pt x="0" y="840034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8" name="Freeform 8"/>
          <p:cNvSpPr/>
          <p:nvPr/>
        </p:nvSpPr>
        <p:spPr>
          <a:xfrm>
            <a:off x="-3171473" y="-3929123"/>
            <a:ext cx="8400347" cy="8400347"/>
          </a:xfrm>
          <a:custGeom>
            <a:avLst/>
            <a:gdLst/>
            <a:ahLst/>
            <a:cxnLst/>
            <a:rect l="l" t="t" r="r" b="b"/>
            <a:pathLst>
              <a:path w="8400347" h="8400347">
                <a:moveTo>
                  <a:pt x="0" y="0"/>
                </a:moveTo>
                <a:lnTo>
                  <a:pt x="8400346" y="0"/>
                </a:lnTo>
                <a:lnTo>
                  <a:pt x="8400346" y="8400347"/>
                </a:lnTo>
                <a:lnTo>
                  <a:pt x="0" y="840034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17149862" y="9258300"/>
            <a:ext cx="861105" cy="861105"/>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19</a:t>
              </a: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103286" y="1028700"/>
            <a:ext cx="1175279" cy="963167"/>
            <a:chOff x="0" y="0"/>
            <a:chExt cx="1109350" cy="909137"/>
          </a:xfrm>
        </p:grpSpPr>
        <p:sp>
          <p:nvSpPr>
            <p:cNvPr id="3" name="Freeform 3"/>
            <p:cNvSpPr/>
            <p:nvPr/>
          </p:nvSpPr>
          <p:spPr>
            <a:xfrm>
              <a:off x="0" y="0"/>
              <a:ext cx="1109350" cy="909137"/>
            </a:xfrm>
            <a:custGeom>
              <a:avLst/>
              <a:gdLst/>
              <a:ahLst/>
              <a:cxnLst/>
              <a:rect l="l" t="t" r="r" b="b"/>
              <a:pathLst>
                <a:path w="1109350" h="909137">
                  <a:moveTo>
                    <a:pt x="554675" y="0"/>
                  </a:moveTo>
                  <a:cubicBezTo>
                    <a:pt x="248337" y="0"/>
                    <a:pt x="0" y="203517"/>
                    <a:pt x="0" y="454569"/>
                  </a:cubicBezTo>
                  <a:cubicBezTo>
                    <a:pt x="0" y="705620"/>
                    <a:pt x="248337" y="909137"/>
                    <a:pt x="554675" y="909137"/>
                  </a:cubicBezTo>
                  <a:cubicBezTo>
                    <a:pt x="861014" y="909137"/>
                    <a:pt x="1109350" y="705620"/>
                    <a:pt x="1109350" y="454569"/>
                  </a:cubicBezTo>
                  <a:cubicBezTo>
                    <a:pt x="1109350" y="203517"/>
                    <a:pt x="861014" y="0"/>
                    <a:pt x="554675" y="0"/>
                  </a:cubicBezTo>
                  <a:close/>
                </a:path>
              </a:pathLst>
            </a:custGeom>
            <a:solidFill>
              <a:srgbClr val="000000">
                <a:alpha val="0"/>
              </a:srgbClr>
            </a:solidFill>
            <a:ln w="57150" cap="sq">
              <a:solidFill>
                <a:srgbClr val="856EE0"/>
              </a:solidFill>
              <a:prstDash val="solid"/>
              <a:miter/>
            </a:ln>
          </p:spPr>
        </p:sp>
        <p:sp>
          <p:nvSpPr>
            <p:cNvPr id="4" name="TextBox 4"/>
            <p:cNvSpPr txBox="1"/>
            <p:nvPr/>
          </p:nvSpPr>
          <p:spPr>
            <a:xfrm>
              <a:off x="104002" y="37607"/>
              <a:ext cx="901347" cy="786299"/>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4</a:t>
              </a:r>
            </a:p>
          </p:txBody>
        </p:sp>
      </p:grpSp>
      <p:sp>
        <p:nvSpPr>
          <p:cNvPr id="5" name="TextBox 5"/>
          <p:cNvSpPr txBox="1"/>
          <p:nvPr/>
        </p:nvSpPr>
        <p:spPr>
          <a:xfrm>
            <a:off x="2566265" y="1226439"/>
            <a:ext cx="12479839" cy="586740"/>
          </a:xfrm>
          <a:prstGeom prst="rect">
            <a:avLst/>
          </a:prstGeom>
        </p:spPr>
        <p:txBody>
          <a:bodyPr lIns="0" tIns="0" rIns="0" bIns="0" rtlCol="0" anchor="t">
            <a:spAutoFit/>
          </a:bodyPr>
          <a:lstStyle/>
          <a:p>
            <a:pPr algn="l">
              <a:lnSpc>
                <a:spcPts val="4679"/>
              </a:lnSpc>
            </a:pPr>
            <a:r>
              <a:rPr lang="en-US" sz="3999" b="1">
                <a:solidFill>
                  <a:srgbClr val="856EE0"/>
                </a:solidFill>
                <a:latin typeface="Montserrat Bold"/>
                <a:ea typeface="Montserrat Bold"/>
                <a:cs typeface="Montserrat Bold"/>
                <a:sym typeface="Montserrat Bold"/>
              </a:rPr>
              <a:t>DELETE : Remove a Resource</a:t>
            </a:r>
          </a:p>
        </p:txBody>
      </p:sp>
      <p:sp>
        <p:nvSpPr>
          <p:cNvPr id="6" name="TextBox 6"/>
          <p:cNvSpPr txBox="1"/>
          <p:nvPr/>
        </p:nvSpPr>
        <p:spPr>
          <a:xfrm>
            <a:off x="1028700" y="2259330"/>
            <a:ext cx="16230600" cy="7176134"/>
          </a:xfrm>
          <a:prstGeom prst="rect">
            <a:avLst/>
          </a:prstGeom>
        </p:spPr>
        <p:txBody>
          <a:bodyPr lIns="0" tIns="0" rIns="0" bIns="0" rtlCol="0" anchor="t">
            <a:spAutoFit/>
          </a:bodyPr>
          <a:lstStyle/>
          <a:p>
            <a:pPr marL="690882" lvl="1" indent="-345441" algn="just">
              <a:lnSpc>
                <a:spcPts val="5760"/>
              </a:lnSpc>
              <a:buFont typeface="Arial"/>
              <a:buChar char="•"/>
            </a:pPr>
            <a:r>
              <a:rPr lang="en-US" sz="3200" b="1">
                <a:solidFill>
                  <a:srgbClr val="000000"/>
                </a:solidFill>
                <a:latin typeface="Open Sans Bold"/>
                <a:ea typeface="Open Sans Bold"/>
                <a:cs typeface="Open Sans Bold"/>
                <a:sym typeface="Open Sans Bold"/>
              </a:rPr>
              <a:t>Purpose : </a:t>
            </a:r>
            <a:r>
              <a:rPr lang="en-US" sz="3200">
                <a:solidFill>
                  <a:srgbClr val="000000"/>
                </a:solidFill>
                <a:latin typeface="Open Sans"/>
                <a:ea typeface="Open Sans"/>
                <a:cs typeface="Open Sans"/>
                <a:sym typeface="Open Sans"/>
              </a:rPr>
              <a:t>DELETE is used to remove a specified resource from the server, like deleting a user account or removing an item from a shopping cart.</a:t>
            </a:r>
          </a:p>
          <a:p>
            <a:pPr marL="690882" lvl="1" indent="-345441" algn="just">
              <a:lnSpc>
                <a:spcPts val="5760"/>
              </a:lnSpc>
              <a:buFont typeface="Arial"/>
              <a:buChar char="•"/>
            </a:pPr>
            <a:r>
              <a:rPr lang="en-US" sz="3200" b="1">
                <a:solidFill>
                  <a:srgbClr val="000000"/>
                </a:solidFill>
                <a:latin typeface="Open Sans Bold"/>
                <a:ea typeface="Open Sans Bold"/>
                <a:cs typeface="Open Sans Bold"/>
                <a:sym typeface="Open Sans Bold"/>
              </a:rPr>
              <a:t>Idempotency : </a:t>
            </a:r>
            <a:r>
              <a:rPr lang="en-US" sz="3200">
                <a:solidFill>
                  <a:srgbClr val="000000"/>
                </a:solidFill>
                <a:latin typeface="Open Sans"/>
                <a:ea typeface="Open Sans"/>
                <a:cs typeface="Open Sans"/>
                <a:sym typeface="Open Sans"/>
              </a:rPr>
              <a:t>DELETE is idempotent. Calling DELETE multiple times on the same resource has the same outcome, the resource is deleted, and further calls have no effect.</a:t>
            </a:r>
          </a:p>
          <a:p>
            <a:pPr marL="690882" lvl="1" indent="-345441" algn="just">
              <a:lnSpc>
                <a:spcPts val="5760"/>
              </a:lnSpc>
              <a:buFont typeface="Arial"/>
              <a:buChar char="•"/>
            </a:pPr>
            <a:r>
              <a:rPr lang="en-US" sz="3200" b="1">
                <a:solidFill>
                  <a:srgbClr val="000000"/>
                </a:solidFill>
                <a:latin typeface="Open Sans Bold"/>
                <a:ea typeface="Open Sans Bold"/>
                <a:cs typeface="Open Sans Bold"/>
                <a:sym typeface="Open Sans Bold"/>
              </a:rPr>
              <a:t>Important Note :</a:t>
            </a:r>
            <a:r>
              <a:rPr lang="en-US" sz="3200">
                <a:solidFill>
                  <a:srgbClr val="000000"/>
                </a:solidFill>
                <a:latin typeface="Open Sans"/>
                <a:ea typeface="Open Sans"/>
                <a:cs typeface="Open Sans"/>
                <a:sym typeface="Open Sans"/>
              </a:rPr>
              <a:t> While DELETE removes the resource, some systems may mark it as deleted rather than erasing it permanently, depending on data retention policies.</a:t>
            </a:r>
          </a:p>
          <a:p>
            <a:pPr marL="690882" lvl="1" indent="-345441" algn="just">
              <a:lnSpc>
                <a:spcPts val="5760"/>
              </a:lnSpc>
              <a:buFont typeface="Arial"/>
              <a:buChar char="•"/>
            </a:pPr>
            <a:r>
              <a:rPr lang="en-US" sz="3200" b="1">
                <a:solidFill>
                  <a:srgbClr val="000000"/>
                </a:solidFill>
                <a:latin typeface="Open Sans Bold"/>
                <a:ea typeface="Open Sans Bold"/>
                <a:cs typeface="Open Sans Bold"/>
                <a:sym typeface="Open Sans Bold"/>
              </a:rPr>
              <a:t>Practical Example :</a:t>
            </a:r>
            <a:r>
              <a:rPr lang="en-US" sz="3200">
                <a:solidFill>
                  <a:srgbClr val="000000"/>
                </a:solidFill>
                <a:latin typeface="Open Sans"/>
                <a:ea typeface="Open Sans"/>
                <a:cs typeface="Open Sans"/>
                <a:sym typeface="Open Sans"/>
              </a:rPr>
              <a:t> In social media apps, deleting a post or a comment typically involves a DELETE request to remove it from the server.</a:t>
            </a:r>
          </a:p>
        </p:txBody>
      </p:sp>
      <p:sp>
        <p:nvSpPr>
          <p:cNvPr id="7" name="Freeform 7"/>
          <p:cNvSpPr/>
          <p:nvPr/>
        </p:nvSpPr>
        <p:spPr>
          <a:xfrm>
            <a:off x="14087827" y="6086827"/>
            <a:ext cx="8400347" cy="8400347"/>
          </a:xfrm>
          <a:custGeom>
            <a:avLst/>
            <a:gdLst/>
            <a:ahLst/>
            <a:cxnLst/>
            <a:rect l="l" t="t" r="r" b="b"/>
            <a:pathLst>
              <a:path w="8400347" h="8400347">
                <a:moveTo>
                  <a:pt x="0" y="0"/>
                </a:moveTo>
                <a:lnTo>
                  <a:pt x="8400346" y="0"/>
                </a:lnTo>
                <a:lnTo>
                  <a:pt x="8400346" y="8400346"/>
                </a:lnTo>
                <a:lnTo>
                  <a:pt x="0" y="840034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8" name="Freeform 8"/>
          <p:cNvSpPr/>
          <p:nvPr/>
        </p:nvSpPr>
        <p:spPr>
          <a:xfrm>
            <a:off x="-3171473" y="-3929123"/>
            <a:ext cx="8400347" cy="8400347"/>
          </a:xfrm>
          <a:custGeom>
            <a:avLst/>
            <a:gdLst/>
            <a:ahLst/>
            <a:cxnLst/>
            <a:rect l="l" t="t" r="r" b="b"/>
            <a:pathLst>
              <a:path w="8400347" h="8400347">
                <a:moveTo>
                  <a:pt x="0" y="0"/>
                </a:moveTo>
                <a:lnTo>
                  <a:pt x="8400346" y="0"/>
                </a:lnTo>
                <a:lnTo>
                  <a:pt x="8400346" y="8400347"/>
                </a:lnTo>
                <a:lnTo>
                  <a:pt x="0" y="840034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17149862" y="9258300"/>
            <a:ext cx="861105" cy="861105"/>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20</a:t>
              </a: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Box 2"/>
          <p:cNvSpPr txBox="1"/>
          <p:nvPr/>
        </p:nvSpPr>
        <p:spPr>
          <a:xfrm>
            <a:off x="4355710" y="4463413"/>
            <a:ext cx="12455843" cy="1226823"/>
          </a:xfrm>
          <a:prstGeom prst="rect">
            <a:avLst/>
          </a:prstGeom>
        </p:spPr>
        <p:txBody>
          <a:bodyPr lIns="0" tIns="0" rIns="0" bIns="0" rtlCol="0" anchor="t">
            <a:spAutoFit/>
          </a:bodyPr>
          <a:lstStyle/>
          <a:p>
            <a:pPr algn="ctr">
              <a:lnSpc>
                <a:spcPts val="10079"/>
              </a:lnSpc>
              <a:spcBef>
                <a:spcPct val="0"/>
              </a:spcBef>
            </a:pPr>
            <a:r>
              <a:rPr lang="en-US" sz="7199" b="1">
                <a:solidFill>
                  <a:srgbClr val="26CBB8"/>
                </a:solidFill>
                <a:latin typeface="Montserrat Bold"/>
                <a:ea typeface="Montserrat Bold"/>
                <a:cs typeface="Montserrat Bold"/>
                <a:sym typeface="Montserrat Bold"/>
              </a:rPr>
              <a:t>Other HTTP Verbs in REST</a:t>
            </a:r>
          </a:p>
        </p:txBody>
      </p:sp>
      <p:grpSp>
        <p:nvGrpSpPr>
          <p:cNvPr id="3" name="Group 3"/>
          <p:cNvGrpSpPr/>
          <p:nvPr/>
        </p:nvGrpSpPr>
        <p:grpSpPr>
          <a:xfrm>
            <a:off x="0" y="0"/>
            <a:ext cx="3724334" cy="10287000"/>
            <a:chOff x="0" y="0"/>
            <a:chExt cx="980895" cy="2709333"/>
          </a:xfrm>
        </p:grpSpPr>
        <p:sp>
          <p:nvSpPr>
            <p:cNvPr id="4" name="Freeform 4"/>
            <p:cNvSpPr/>
            <p:nvPr/>
          </p:nvSpPr>
          <p:spPr>
            <a:xfrm>
              <a:off x="0" y="0"/>
              <a:ext cx="980895" cy="2709333"/>
            </a:xfrm>
            <a:custGeom>
              <a:avLst/>
              <a:gdLst/>
              <a:ahLst/>
              <a:cxnLst/>
              <a:rect l="l" t="t" r="r" b="b"/>
              <a:pathLst>
                <a:path w="980895" h="2709333">
                  <a:moveTo>
                    <a:pt x="0" y="0"/>
                  </a:moveTo>
                  <a:lnTo>
                    <a:pt x="980895" y="0"/>
                  </a:lnTo>
                  <a:lnTo>
                    <a:pt x="980895" y="2709333"/>
                  </a:lnTo>
                  <a:lnTo>
                    <a:pt x="0" y="2709333"/>
                  </a:lnTo>
                  <a:close/>
                </a:path>
              </a:pathLst>
            </a:custGeom>
            <a:solidFill>
              <a:srgbClr val="856EE0"/>
            </a:solidFill>
          </p:spPr>
        </p:sp>
        <p:sp>
          <p:nvSpPr>
            <p:cNvPr id="5" name="TextBox 5"/>
            <p:cNvSpPr txBox="1"/>
            <p:nvPr/>
          </p:nvSpPr>
          <p:spPr>
            <a:xfrm>
              <a:off x="0" y="-38100"/>
              <a:ext cx="980895" cy="2747433"/>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4087827" y="6086827"/>
            <a:ext cx="8400347" cy="8400347"/>
          </a:xfrm>
          <a:custGeom>
            <a:avLst/>
            <a:gdLst/>
            <a:ahLst/>
            <a:cxnLst/>
            <a:rect l="l" t="t" r="r" b="b"/>
            <a:pathLst>
              <a:path w="8400347" h="8400347">
                <a:moveTo>
                  <a:pt x="0" y="0"/>
                </a:moveTo>
                <a:lnTo>
                  <a:pt x="8400346" y="0"/>
                </a:lnTo>
                <a:lnTo>
                  <a:pt x="8400346" y="8400346"/>
                </a:lnTo>
                <a:lnTo>
                  <a:pt x="0" y="840034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7" name="Freeform 7"/>
          <p:cNvSpPr/>
          <p:nvPr/>
        </p:nvSpPr>
        <p:spPr>
          <a:xfrm>
            <a:off x="1741169" y="-3878466"/>
            <a:ext cx="8400347" cy="8400347"/>
          </a:xfrm>
          <a:custGeom>
            <a:avLst/>
            <a:gdLst/>
            <a:ahLst/>
            <a:cxnLst/>
            <a:rect l="l" t="t" r="r" b="b"/>
            <a:pathLst>
              <a:path w="8400347" h="8400347">
                <a:moveTo>
                  <a:pt x="0" y="0"/>
                </a:moveTo>
                <a:lnTo>
                  <a:pt x="8400346" y="0"/>
                </a:lnTo>
                <a:lnTo>
                  <a:pt x="8400346" y="8400347"/>
                </a:lnTo>
                <a:lnTo>
                  <a:pt x="0" y="840034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8" name="Freeform 8"/>
          <p:cNvSpPr/>
          <p:nvPr/>
        </p:nvSpPr>
        <p:spPr>
          <a:xfrm>
            <a:off x="15466739" y="1028700"/>
            <a:ext cx="1761909" cy="112121"/>
          </a:xfrm>
          <a:custGeom>
            <a:avLst/>
            <a:gdLst/>
            <a:ahLst/>
            <a:cxnLst/>
            <a:rect l="l" t="t" r="r" b="b"/>
            <a:pathLst>
              <a:path w="1761909" h="112121">
                <a:moveTo>
                  <a:pt x="0" y="0"/>
                </a:moveTo>
                <a:lnTo>
                  <a:pt x="1761909" y="0"/>
                </a:lnTo>
                <a:lnTo>
                  <a:pt x="1761909" y="112121"/>
                </a:lnTo>
                <a:lnTo>
                  <a:pt x="0" y="1121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a:off x="10583632" y="9146179"/>
            <a:ext cx="1761909" cy="112121"/>
          </a:xfrm>
          <a:custGeom>
            <a:avLst/>
            <a:gdLst/>
            <a:ahLst/>
            <a:cxnLst/>
            <a:rect l="l" t="t" r="r" b="b"/>
            <a:pathLst>
              <a:path w="1761909" h="112121">
                <a:moveTo>
                  <a:pt x="0" y="0"/>
                </a:moveTo>
                <a:lnTo>
                  <a:pt x="1761908" y="0"/>
                </a:lnTo>
                <a:lnTo>
                  <a:pt x="1761908" y="112121"/>
                </a:lnTo>
                <a:lnTo>
                  <a:pt x="0" y="1121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0" name="Group 10"/>
          <p:cNvGrpSpPr/>
          <p:nvPr/>
        </p:nvGrpSpPr>
        <p:grpSpPr>
          <a:xfrm>
            <a:off x="17149862" y="9258300"/>
            <a:ext cx="861105" cy="861105"/>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12" name="TextBox 12"/>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21</a:t>
              </a: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Box 2"/>
          <p:cNvSpPr txBox="1"/>
          <p:nvPr/>
        </p:nvSpPr>
        <p:spPr>
          <a:xfrm>
            <a:off x="8020402" y="1047750"/>
            <a:ext cx="2247197" cy="586740"/>
          </a:xfrm>
          <a:prstGeom prst="rect">
            <a:avLst/>
          </a:prstGeom>
        </p:spPr>
        <p:txBody>
          <a:bodyPr lIns="0" tIns="0" rIns="0" bIns="0" rtlCol="0" anchor="t">
            <a:spAutoFit/>
          </a:bodyPr>
          <a:lstStyle/>
          <a:p>
            <a:pPr algn="ctr">
              <a:lnSpc>
                <a:spcPts val="4679"/>
              </a:lnSpc>
            </a:pPr>
            <a:r>
              <a:rPr lang="en-US" sz="3999" b="1">
                <a:solidFill>
                  <a:srgbClr val="856EE0"/>
                </a:solidFill>
                <a:latin typeface="Montserrat Bold"/>
                <a:ea typeface="Montserrat Bold"/>
                <a:cs typeface="Montserrat Bold"/>
                <a:sym typeface="Montserrat Bold"/>
              </a:rPr>
              <a:t>HEAD</a:t>
            </a:r>
          </a:p>
        </p:txBody>
      </p:sp>
      <p:sp>
        <p:nvSpPr>
          <p:cNvPr id="3" name="TextBox 3"/>
          <p:cNvSpPr txBox="1"/>
          <p:nvPr/>
        </p:nvSpPr>
        <p:spPr>
          <a:xfrm>
            <a:off x="1028700" y="3274695"/>
            <a:ext cx="16230600" cy="3556634"/>
          </a:xfrm>
          <a:prstGeom prst="rect">
            <a:avLst/>
          </a:prstGeom>
        </p:spPr>
        <p:txBody>
          <a:bodyPr lIns="0" tIns="0" rIns="0" bIns="0" rtlCol="0" anchor="t">
            <a:spAutoFit/>
          </a:bodyPr>
          <a:lstStyle/>
          <a:p>
            <a:pPr marL="690882" lvl="1" indent="-345441" algn="just">
              <a:lnSpc>
                <a:spcPts val="5760"/>
              </a:lnSpc>
              <a:buFont typeface="Arial"/>
              <a:buChar char="•"/>
            </a:pPr>
            <a:r>
              <a:rPr lang="en-US" sz="3200" b="1">
                <a:solidFill>
                  <a:srgbClr val="000000"/>
                </a:solidFill>
                <a:latin typeface="Open Sans Bold"/>
                <a:ea typeface="Open Sans Bold"/>
                <a:cs typeface="Open Sans Bold"/>
                <a:sym typeface="Open Sans Bold"/>
              </a:rPr>
              <a:t>Purpose : </a:t>
            </a:r>
            <a:r>
              <a:rPr lang="en-US" sz="3200">
                <a:solidFill>
                  <a:srgbClr val="000000"/>
                </a:solidFill>
                <a:latin typeface="Open Sans"/>
                <a:ea typeface="Open Sans"/>
                <a:cs typeface="Open Sans"/>
                <a:sym typeface="Open Sans"/>
              </a:rPr>
              <a:t>HEAD requests work like GET requests but only return headers without the response body. It’s often used to check if a resource exists or to see metadata (like file size) without downloading the whole resource.</a:t>
            </a:r>
          </a:p>
          <a:p>
            <a:pPr marL="690882" lvl="1" indent="-345441" algn="just">
              <a:lnSpc>
                <a:spcPts val="5760"/>
              </a:lnSpc>
              <a:buFont typeface="Arial"/>
              <a:buChar char="•"/>
            </a:pPr>
            <a:r>
              <a:rPr lang="en-US" sz="3200" b="1">
                <a:solidFill>
                  <a:srgbClr val="000000"/>
                </a:solidFill>
                <a:latin typeface="Open Sans Bold"/>
                <a:ea typeface="Open Sans Bold"/>
                <a:cs typeface="Open Sans Bold"/>
                <a:sym typeface="Open Sans Bold"/>
              </a:rPr>
              <a:t>Example :</a:t>
            </a:r>
            <a:r>
              <a:rPr lang="en-US" sz="3200">
                <a:solidFill>
                  <a:srgbClr val="000000"/>
                </a:solidFill>
                <a:latin typeface="Open Sans"/>
                <a:ea typeface="Open Sans"/>
                <a:cs typeface="Open Sans"/>
                <a:sym typeface="Open Sans"/>
              </a:rPr>
              <a:t> Before downloading a large file, a HEAD request could check the file size to ensure you have enough storage space.</a:t>
            </a:r>
          </a:p>
        </p:txBody>
      </p:sp>
      <p:sp>
        <p:nvSpPr>
          <p:cNvPr id="4" name="Freeform 4"/>
          <p:cNvSpPr/>
          <p:nvPr/>
        </p:nvSpPr>
        <p:spPr>
          <a:xfrm>
            <a:off x="4943827" y="-4200173"/>
            <a:ext cx="8400347" cy="8400347"/>
          </a:xfrm>
          <a:custGeom>
            <a:avLst/>
            <a:gdLst/>
            <a:ahLst/>
            <a:cxnLst/>
            <a:rect l="l" t="t" r="r" b="b"/>
            <a:pathLst>
              <a:path w="8400347" h="8400347">
                <a:moveTo>
                  <a:pt x="0" y="0"/>
                </a:moveTo>
                <a:lnTo>
                  <a:pt x="8400346" y="0"/>
                </a:lnTo>
                <a:lnTo>
                  <a:pt x="8400346" y="8400346"/>
                </a:lnTo>
                <a:lnTo>
                  <a:pt x="0" y="840034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5" name="Freeform 5"/>
          <p:cNvSpPr/>
          <p:nvPr/>
        </p:nvSpPr>
        <p:spPr>
          <a:xfrm>
            <a:off x="14087827" y="6086827"/>
            <a:ext cx="8400347" cy="8400347"/>
          </a:xfrm>
          <a:custGeom>
            <a:avLst/>
            <a:gdLst/>
            <a:ahLst/>
            <a:cxnLst/>
            <a:rect l="l" t="t" r="r" b="b"/>
            <a:pathLst>
              <a:path w="8400347" h="8400347">
                <a:moveTo>
                  <a:pt x="0" y="0"/>
                </a:moveTo>
                <a:lnTo>
                  <a:pt x="8400346" y="0"/>
                </a:lnTo>
                <a:lnTo>
                  <a:pt x="8400346" y="8400346"/>
                </a:lnTo>
                <a:lnTo>
                  <a:pt x="0" y="840034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7149862" y="9258300"/>
            <a:ext cx="861105" cy="861105"/>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8" name="TextBox 8"/>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22</a:t>
              </a: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14087827" y="6086827"/>
            <a:ext cx="8400347" cy="8400347"/>
          </a:xfrm>
          <a:custGeom>
            <a:avLst/>
            <a:gdLst/>
            <a:ahLst/>
            <a:cxnLst/>
            <a:rect l="l" t="t" r="r" b="b"/>
            <a:pathLst>
              <a:path w="8400347" h="8400347">
                <a:moveTo>
                  <a:pt x="0" y="0"/>
                </a:moveTo>
                <a:lnTo>
                  <a:pt x="8400346" y="0"/>
                </a:lnTo>
                <a:lnTo>
                  <a:pt x="8400346" y="8400346"/>
                </a:lnTo>
                <a:lnTo>
                  <a:pt x="0" y="840034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3" name="Freeform 3"/>
          <p:cNvSpPr/>
          <p:nvPr/>
        </p:nvSpPr>
        <p:spPr>
          <a:xfrm>
            <a:off x="1028700" y="1202083"/>
            <a:ext cx="16230600" cy="7882834"/>
          </a:xfrm>
          <a:custGeom>
            <a:avLst/>
            <a:gdLst/>
            <a:ahLst/>
            <a:cxnLst/>
            <a:rect l="l" t="t" r="r" b="b"/>
            <a:pathLst>
              <a:path w="16230600" h="7882834">
                <a:moveTo>
                  <a:pt x="0" y="0"/>
                </a:moveTo>
                <a:lnTo>
                  <a:pt x="16230600" y="0"/>
                </a:lnTo>
                <a:lnTo>
                  <a:pt x="16230600" y="7882834"/>
                </a:lnTo>
                <a:lnTo>
                  <a:pt x="0" y="7882834"/>
                </a:lnTo>
                <a:lnTo>
                  <a:pt x="0" y="0"/>
                </a:lnTo>
                <a:close/>
              </a:path>
            </a:pathLst>
          </a:custGeom>
          <a:blipFill>
            <a:blip r:embed="rId4"/>
            <a:stretch>
              <a:fillRect l="-238" t="-2151" r="-2585"/>
            </a:stretch>
          </a:blipFill>
        </p:spPr>
      </p:sp>
      <p:grpSp>
        <p:nvGrpSpPr>
          <p:cNvPr id="4" name="Group 4"/>
          <p:cNvGrpSpPr/>
          <p:nvPr/>
        </p:nvGrpSpPr>
        <p:grpSpPr>
          <a:xfrm>
            <a:off x="17149862" y="9258300"/>
            <a:ext cx="861105" cy="861105"/>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6" name="TextBox 6"/>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23</a:t>
              </a: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Box 2"/>
          <p:cNvSpPr txBox="1"/>
          <p:nvPr/>
        </p:nvSpPr>
        <p:spPr>
          <a:xfrm>
            <a:off x="7703798" y="1047750"/>
            <a:ext cx="2880405" cy="586740"/>
          </a:xfrm>
          <a:prstGeom prst="rect">
            <a:avLst/>
          </a:prstGeom>
        </p:spPr>
        <p:txBody>
          <a:bodyPr lIns="0" tIns="0" rIns="0" bIns="0" rtlCol="0" anchor="t">
            <a:spAutoFit/>
          </a:bodyPr>
          <a:lstStyle/>
          <a:p>
            <a:pPr algn="ctr">
              <a:lnSpc>
                <a:spcPts val="4679"/>
              </a:lnSpc>
            </a:pPr>
            <a:r>
              <a:rPr lang="en-US" sz="3999" b="1">
                <a:solidFill>
                  <a:srgbClr val="856EE0"/>
                </a:solidFill>
                <a:latin typeface="Montserrat Bold"/>
                <a:ea typeface="Montserrat Bold"/>
                <a:cs typeface="Montserrat Bold"/>
                <a:sym typeface="Montserrat Bold"/>
              </a:rPr>
              <a:t>OPTIONS</a:t>
            </a:r>
          </a:p>
        </p:txBody>
      </p:sp>
      <p:sp>
        <p:nvSpPr>
          <p:cNvPr id="3" name="TextBox 3"/>
          <p:cNvSpPr txBox="1"/>
          <p:nvPr/>
        </p:nvSpPr>
        <p:spPr>
          <a:xfrm>
            <a:off x="1028700" y="1984933"/>
            <a:ext cx="16230600" cy="3556634"/>
          </a:xfrm>
          <a:prstGeom prst="rect">
            <a:avLst/>
          </a:prstGeom>
        </p:spPr>
        <p:txBody>
          <a:bodyPr lIns="0" tIns="0" rIns="0" bIns="0" rtlCol="0" anchor="t">
            <a:spAutoFit/>
          </a:bodyPr>
          <a:lstStyle/>
          <a:p>
            <a:pPr marL="690882" lvl="1" indent="-345441" algn="just">
              <a:lnSpc>
                <a:spcPts val="5760"/>
              </a:lnSpc>
              <a:buFont typeface="Arial"/>
              <a:buChar char="•"/>
            </a:pPr>
            <a:r>
              <a:rPr lang="en-US" sz="3200" b="1">
                <a:solidFill>
                  <a:srgbClr val="000000"/>
                </a:solidFill>
                <a:latin typeface="Open Sans Bold"/>
                <a:ea typeface="Open Sans Bold"/>
                <a:cs typeface="Open Sans Bold"/>
                <a:sym typeface="Open Sans Bold"/>
              </a:rPr>
              <a:t>Purpose : </a:t>
            </a:r>
            <a:r>
              <a:rPr lang="en-US" sz="3200">
                <a:solidFill>
                  <a:srgbClr val="000000"/>
                </a:solidFill>
                <a:latin typeface="Open Sans"/>
                <a:ea typeface="Open Sans"/>
                <a:cs typeface="Open Sans"/>
                <a:sym typeface="Open Sans"/>
              </a:rPr>
              <a:t>OPTIONS is used to discover what methods are allowed for a particular resource. It’s helpful in CORS (Cross-Origin Resource Sharing) when a client and server communicate across domains.</a:t>
            </a:r>
          </a:p>
          <a:p>
            <a:pPr marL="690882" lvl="1" indent="-345441" algn="just">
              <a:lnSpc>
                <a:spcPts val="5760"/>
              </a:lnSpc>
              <a:buFont typeface="Arial"/>
              <a:buChar char="•"/>
            </a:pPr>
            <a:r>
              <a:rPr lang="en-US" sz="3200" b="1">
                <a:solidFill>
                  <a:srgbClr val="000000"/>
                </a:solidFill>
                <a:latin typeface="Open Sans Bold"/>
                <a:ea typeface="Open Sans Bold"/>
                <a:cs typeface="Open Sans Bold"/>
                <a:sym typeface="Open Sans Bold"/>
              </a:rPr>
              <a:t>Example :</a:t>
            </a:r>
            <a:r>
              <a:rPr lang="en-US" sz="3200">
                <a:solidFill>
                  <a:srgbClr val="000000"/>
                </a:solidFill>
                <a:latin typeface="Open Sans"/>
                <a:ea typeface="Open Sans"/>
                <a:cs typeface="Open Sans"/>
                <a:sym typeface="Open Sans"/>
              </a:rPr>
              <a:t> If an API only allows GET and POST on a resource, sending an OPTIONS request will reveal those allowed methods.</a:t>
            </a:r>
          </a:p>
        </p:txBody>
      </p:sp>
      <p:sp>
        <p:nvSpPr>
          <p:cNvPr id="4" name="Freeform 4"/>
          <p:cNvSpPr/>
          <p:nvPr/>
        </p:nvSpPr>
        <p:spPr>
          <a:xfrm>
            <a:off x="14087827" y="6086827"/>
            <a:ext cx="8400347" cy="8400347"/>
          </a:xfrm>
          <a:custGeom>
            <a:avLst/>
            <a:gdLst/>
            <a:ahLst/>
            <a:cxnLst/>
            <a:rect l="l" t="t" r="r" b="b"/>
            <a:pathLst>
              <a:path w="8400347" h="8400347">
                <a:moveTo>
                  <a:pt x="0" y="0"/>
                </a:moveTo>
                <a:lnTo>
                  <a:pt x="8400346" y="0"/>
                </a:lnTo>
                <a:lnTo>
                  <a:pt x="8400346" y="8400346"/>
                </a:lnTo>
                <a:lnTo>
                  <a:pt x="0" y="840034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5" name="Freeform 5"/>
          <p:cNvSpPr/>
          <p:nvPr/>
        </p:nvSpPr>
        <p:spPr>
          <a:xfrm>
            <a:off x="1143000" y="6072985"/>
            <a:ext cx="16230600" cy="3258717"/>
          </a:xfrm>
          <a:custGeom>
            <a:avLst/>
            <a:gdLst/>
            <a:ahLst/>
            <a:cxnLst/>
            <a:rect l="l" t="t" r="r" b="b"/>
            <a:pathLst>
              <a:path w="16230600" h="3258717">
                <a:moveTo>
                  <a:pt x="0" y="0"/>
                </a:moveTo>
                <a:lnTo>
                  <a:pt x="16230600" y="0"/>
                </a:lnTo>
                <a:lnTo>
                  <a:pt x="16230600" y="3258718"/>
                </a:lnTo>
                <a:lnTo>
                  <a:pt x="0" y="3258718"/>
                </a:lnTo>
                <a:lnTo>
                  <a:pt x="0" y="0"/>
                </a:lnTo>
                <a:close/>
              </a:path>
            </a:pathLst>
          </a:custGeom>
          <a:blipFill>
            <a:blip r:embed="rId4"/>
            <a:stretch>
              <a:fillRect t="-16256" b="-16256"/>
            </a:stretch>
          </a:blipFill>
        </p:spPr>
      </p:sp>
      <p:sp>
        <p:nvSpPr>
          <p:cNvPr id="6" name="Freeform 6"/>
          <p:cNvSpPr/>
          <p:nvPr/>
        </p:nvSpPr>
        <p:spPr>
          <a:xfrm>
            <a:off x="4943827" y="-4200173"/>
            <a:ext cx="8400347" cy="8400347"/>
          </a:xfrm>
          <a:custGeom>
            <a:avLst/>
            <a:gdLst/>
            <a:ahLst/>
            <a:cxnLst/>
            <a:rect l="l" t="t" r="r" b="b"/>
            <a:pathLst>
              <a:path w="8400347" h="8400347">
                <a:moveTo>
                  <a:pt x="0" y="0"/>
                </a:moveTo>
                <a:lnTo>
                  <a:pt x="8400346" y="0"/>
                </a:lnTo>
                <a:lnTo>
                  <a:pt x="8400346" y="8400346"/>
                </a:lnTo>
                <a:lnTo>
                  <a:pt x="0" y="840034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grpSp>
        <p:nvGrpSpPr>
          <p:cNvPr id="7" name="Group 7"/>
          <p:cNvGrpSpPr/>
          <p:nvPr/>
        </p:nvGrpSpPr>
        <p:grpSpPr>
          <a:xfrm>
            <a:off x="17149862" y="9258300"/>
            <a:ext cx="861105" cy="86110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24</a:t>
              </a: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2012858" y="4822396"/>
            <a:ext cx="14262284" cy="2783852"/>
          </a:xfrm>
          <a:custGeom>
            <a:avLst/>
            <a:gdLst/>
            <a:ahLst/>
            <a:cxnLst/>
            <a:rect l="l" t="t" r="r" b="b"/>
            <a:pathLst>
              <a:path w="14262284" h="2783852">
                <a:moveTo>
                  <a:pt x="0" y="0"/>
                </a:moveTo>
                <a:lnTo>
                  <a:pt x="14262284" y="0"/>
                </a:lnTo>
                <a:lnTo>
                  <a:pt x="14262284" y="2783851"/>
                </a:lnTo>
                <a:lnTo>
                  <a:pt x="0" y="2783851"/>
                </a:lnTo>
                <a:lnTo>
                  <a:pt x="0" y="0"/>
                </a:lnTo>
                <a:close/>
              </a:path>
            </a:pathLst>
          </a:custGeom>
          <a:blipFill>
            <a:blip r:embed="rId2"/>
            <a:stretch>
              <a:fillRect t="-10053" r="-6951" b="-10053"/>
            </a:stretch>
          </a:blipFill>
        </p:spPr>
      </p:sp>
      <p:sp>
        <p:nvSpPr>
          <p:cNvPr id="3" name="TextBox 3"/>
          <p:cNvSpPr txBox="1"/>
          <p:nvPr/>
        </p:nvSpPr>
        <p:spPr>
          <a:xfrm>
            <a:off x="2012858" y="2502829"/>
            <a:ext cx="14262284" cy="1541780"/>
          </a:xfrm>
          <a:prstGeom prst="rect">
            <a:avLst/>
          </a:prstGeom>
        </p:spPr>
        <p:txBody>
          <a:bodyPr lIns="0" tIns="0" rIns="0" bIns="0" rtlCol="0" anchor="t">
            <a:spAutoFit/>
          </a:bodyPr>
          <a:lstStyle/>
          <a:p>
            <a:pPr algn="just">
              <a:lnSpc>
                <a:spcPts val="6400"/>
              </a:lnSpc>
            </a:pPr>
            <a:r>
              <a:rPr lang="en-US" sz="3200">
                <a:solidFill>
                  <a:srgbClr val="000000"/>
                </a:solidFill>
                <a:latin typeface="Open Sans"/>
                <a:ea typeface="Open Sans"/>
                <a:cs typeface="Open Sans"/>
                <a:sym typeface="Open Sans"/>
              </a:rPr>
              <a:t>If a client sends an OPTIONS request, the server might respond with headers indicating the methods it allows:</a:t>
            </a:r>
          </a:p>
        </p:txBody>
      </p:sp>
      <p:sp>
        <p:nvSpPr>
          <p:cNvPr id="4" name="TextBox 4"/>
          <p:cNvSpPr txBox="1"/>
          <p:nvPr/>
        </p:nvSpPr>
        <p:spPr>
          <a:xfrm>
            <a:off x="7938849" y="914400"/>
            <a:ext cx="2410301" cy="806831"/>
          </a:xfrm>
          <a:prstGeom prst="rect">
            <a:avLst/>
          </a:prstGeom>
        </p:spPr>
        <p:txBody>
          <a:bodyPr lIns="0" tIns="0" rIns="0" bIns="0" rtlCol="0" anchor="t">
            <a:spAutoFit/>
          </a:bodyPr>
          <a:lstStyle/>
          <a:p>
            <a:pPr algn="just">
              <a:lnSpc>
                <a:spcPts val="5841"/>
              </a:lnSpc>
              <a:spcBef>
                <a:spcPct val="0"/>
              </a:spcBef>
            </a:pPr>
            <a:r>
              <a:rPr lang="en-US" sz="4599" b="1">
                <a:solidFill>
                  <a:srgbClr val="26CBB8"/>
                </a:solidFill>
                <a:latin typeface="Codec Pro Bold"/>
                <a:ea typeface="Codec Pro Bold"/>
                <a:cs typeface="Codec Pro Bold"/>
                <a:sym typeface="Codec Pro Bold"/>
              </a:rPr>
              <a:t>Example</a:t>
            </a:r>
          </a:p>
        </p:txBody>
      </p:sp>
      <p:sp>
        <p:nvSpPr>
          <p:cNvPr id="5" name="Freeform 5"/>
          <p:cNvSpPr/>
          <p:nvPr/>
        </p:nvSpPr>
        <p:spPr>
          <a:xfrm>
            <a:off x="14087827" y="6086827"/>
            <a:ext cx="8400347" cy="8400347"/>
          </a:xfrm>
          <a:custGeom>
            <a:avLst/>
            <a:gdLst/>
            <a:ahLst/>
            <a:cxnLst/>
            <a:rect l="l" t="t" r="r" b="b"/>
            <a:pathLst>
              <a:path w="8400347" h="8400347">
                <a:moveTo>
                  <a:pt x="0" y="0"/>
                </a:moveTo>
                <a:lnTo>
                  <a:pt x="8400346" y="0"/>
                </a:lnTo>
                <a:lnTo>
                  <a:pt x="8400346" y="8400346"/>
                </a:lnTo>
                <a:lnTo>
                  <a:pt x="0" y="8400346"/>
                </a:lnTo>
                <a:lnTo>
                  <a:pt x="0" y="0"/>
                </a:lnTo>
                <a:close/>
              </a:path>
            </a:pathLst>
          </a:custGeom>
          <a:blipFill>
            <a:blip r:embed="rId3">
              <a:alphaModFix amt="9999"/>
              <a:extLst>
                <a:ext uri="{96DAC541-7B7A-43D3-8B79-37D633B846F1}">
                  <asvg:svgBlip xmlns:asvg="http://schemas.microsoft.com/office/drawing/2016/SVG/main" r:embed="rId4"/>
                </a:ext>
              </a:extLst>
            </a:blip>
            <a:stretch>
              <a:fillRect/>
            </a:stretch>
          </a:blipFill>
        </p:spPr>
      </p:sp>
      <p:grpSp>
        <p:nvGrpSpPr>
          <p:cNvPr id="6" name="Group 6"/>
          <p:cNvGrpSpPr/>
          <p:nvPr/>
        </p:nvGrpSpPr>
        <p:grpSpPr>
          <a:xfrm>
            <a:off x="17149862" y="9258300"/>
            <a:ext cx="861105" cy="861105"/>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8" name="TextBox 8"/>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25</a:t>
              </a: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14087827" y="6086827"/>
            <a:ext cx="8400347" cy="8400347"/>
          </a:xfrm>
          <a:custGeom>
            <a:avLst/>
            <a:gdLst/>
            <a:ahLst/>
            <a:cxnLst/>
            <a:rect l="l" t="t" r="r" b="b"/>
            <a:pathLst>
              <a:path w="8400347" h="8400347">
                <a:moveTo>
                  <a:pt x="0" y="0"/>
                </a:moveTo>
                <a:lnTo>
                  <a:pt x="8400346" y="0"/>
                </a:lnTo>
                <a:lnTo>
                  <a:pt x="8400346" y="8400346"/>
                </a:lnTo>
                <a:lnTo>
                  <a:pt x="0" y="840034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3" name="Freeform 3"/>
          <p:cNvSpPr/>
          <p:nvPr/>
        </p:nvSpPr>
        <p:spPr>
          <a:xfrm>
            <a:off x="2061062" y="6074967"/>
            <a:ext cx="14165877" cy="3586004"/>
          </a:xfrm>
          <a:custGeom>
            <a:avLst/>
            <a:gdLst/>
            <a:ahLst/>
            <a:cxnLst/>
            <a:rect l="l" t="t" r="r" b="b"/>
            <a:pathLst>
              <a:path w="14165877" h="3586004">
                <a:moveTo>
                  <a:pt x="0" y="0"/>
                </a:moveTo>
                <a:lnTo>
                  <a:pt x="14165876" y="0"/>
                </a:lnTo>
                <a:lnTo>
                  <a:pt x="14165876" y="3586004"/>
                </a:lnTo>
                <a:lnTo>
                  <a:pt x="0" y="3586004"/>
                </a:lnTo>
                <a:lnTo>
                  <a:pt x="0" y="0"/>
                </a:lnTo>
                <a:close/>
              </a:path>
            </a:pathLst>
          </a:custGeom>
          <a:blipFill>
            <a:blip r:embed="rId4"/>
            <a:stretch>
              <a:fillRect t="-22665" b="-9868"/>
            </a:stretch>
          </a:blipFill>
        </p:spPr>
      </p:sp>
      <p:sp>
        <p:nvSpPr>
          <p:cNvPr id="4" name="TextBox 4"/>
          <p:cNvSpPr txBox="1"/>
          <p:nvPr/>
        </p:nvSpPr>
        <p:spPr>
          <a:xfrm>
            <a:off x="7703798" y="1047750"/>
            <a:ext cx="2880405" cy="586740"/>
          </a:xfrm>
          <a:prstGeom prst="rect">
            <a:avLst/>
          </a:prstGeom>
        </p:spPr>
        <p:txBody>
          <a:bodyPr lIns="0" tIns="0" rIns="0" bIns="0" rtlCol="0" anchor="t">
            <a:spAutoFit/>
          </a:bodyPr>
          <a:lstStyle/>
          <a:p>
            <a:pPr algn="ctr">
              <a:lnSpc>
                <a:spcPts val="4679"/>
              </a:lnSpc>
            </a:pPr>
            <a:r>
              <a:rPr lang="en-US" sz="3999" b="1">
                <a:solidFill>
                  <a:srgbClr val="856EE0"/>
                </a:solidFill>
                <a:latin typeface="Montserrat Bold"/>
                <a:ea typeface="Montserrat Bold"/>
                <a:cs typeface="Montserrat Bold"/>
                <a:sym typeface="Montserrat Bold"/>
              </a:rPr>
              <a:t>PATCH</a:t>
            </a:r>
          </a:p>
        </p:txBody>
      </p:sp>
      <p:sp>
        <p:nvSpPr>
          <p:cNvPr id="5" name="TextBox 5"/>
          <p:cNvSpPr txBox="1"/>
          <p:nvPr/>
        </p:nvSpPr>
        <p:spPr>
          <a:xfrm>
            <a:off x="1028700" y="1984933"/>
            <a:ext cx="16230600" cy="3556634"/>
          </a:xfrm>
          <a:prstGeom prst="rect">
            <a:avLst/>
          </a:prstGeom>
        </p:spPr>
        <p:txBody>
          <a:bodyPr lIns="0" tIns="0" rIns="0" bIns="0" rtlCol="0" anchor="t">
            <a:spAutoFit/>
          </a:bodyPr>
          <a:lstStyle/>
          <a:p>
            <a:pPr marL="690882" lvl="1" indent="-345441" algn="just">
              <a:lnSpc>
                <a:spcPts val="5760"/>
              </a:lnSpc>
              <a:buFont typeface="Arial"/>
              <a:buChar char="•"/>
            </a:pPr>
            <a:r>
              <a:rPr lang="en-US" sz="3200" b="1">
                <a:solidFill>
                  <a:srgbClr val="000000"/>
                </a:solidFill>
                <a:latin typeface="Open Sans Bold"/>
                <a:ea typeface="Open Sans Bold"/>
                <a:cs typeface="Open Sans Bold"/>
                <a:sym typeface="Open Sans Bold"/>
              </a:rPr>
              <a:t>Purpose : </a:t>
            </a:r>
            <a:r>
              <a:rPr lang="en-US" sz="3200">
                <a:solidFill>
                  <a:srgbClr val="000000"/>
                </a:solidFill>
                <a:latin typeface="Open Sans"/>
                <a:ea typeface="Open Sans"/>
                <a:cs typeface="Open Sans"/>
                <a:sym typeface="Open Sans"/>
              </a:rPr>
              <a:t>PATCH partially updates a resource, unlike PUT, which typically requires the entire resource data. PATCH is efficient for making minor updates without sending the full data payload.</a:t>
            </a:r>
          </a:p>
          <a:p>
            <a:pPr marL="690882" lvl="1" indent="-345441" algn="just">
              <a:lnSpc>
                <a:spcPts val="5760"/>
              </a:lnSpc>
              <a:buFont typeface="Arial"/>
              <a:buChar char="•"/>
            </a:pPr>
            <a:r>
              <a:rPr lang="en-US" sz="3200" b="1">
                <a:solidFill>
                  <a:srgbClr val="000000"/>
                </a:solidFill>
                <a:latin typeface="Open Sans Bold"/>
                <a:ea typeface="Open Sans Bold"/>
                <a:cs typeface="Open Sans Bold"/>
                <a:sym typeface="Open Sans Bold"/>
              </a:rPr>
              <a:t>Example :</a:t>
            </a:r>
            <a:r>
              <a:rPr lang="en-US" sz="3200">
                <a:solidFill>
                  <a:srgbClr val="000000"/>
                </a:solidFill>
                <a:latin typeface="Open Sans"/>
                <a:ea typeface="Open Sans"/>
                <a:cs typeface="Open Sans"/>
                <a:sym typeface="Open Sans"/>
              </a:rPr>
              <a:t> Updating only a user’s email in a profile without modifying other details like name or phone number.</a:t>
            </a:r>
          </a:p>
        </p:txBody>
      </p:sp>
      <p:sp>
        <p:nvSpPr>
          <p:cNvPr id="6" name="Freeform 6"/>
          <p:cNvSpPr/>
          <p:nvPr/>
        </p:nvSpPr>
        <p:spPr>
          <a:xfrm>
            <a:off x="4943827" y="-4200173"/>
            <a:ext cx="8400347" cy="8400347"/>
          </a:xfrm>
          <a:custGeom>
            <a:avLst/>
            <a:gdLst/>
            <a:ahLst/>
            <a:cxnLst/>
            <a:rect l="l" t="t" r="r" b="b"/>
            <a:pathLst>
              <a:path w="8400347" h="8400347">
                <a:moveTo>
                  <a:pt x="0" y="0"/>
                </a:moveTo>
                <a:lnTo>
                  <a:pt x="8400346" y="0"/>
                </a:lnTo>
                <a:lnTo>
                  <a:pt x="8400346" y="8400346"/>
                </a:lnTo>
                <a:lnTo>
                  <a:pt x="0" y="840034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grpSp>
        <p:nvGrpSpPr>
          <p:cNvPr id="7" name="Group 7"/>
          <p:cNvGrpSpPr/>
          <p:nvPr/>
        </p:nvGrpSpPr>
        <p:grpSpPr>
          <a:xfrm>
            <a:off x="17149862" y="9258300"/>
            <a:ext cx="861105" cy="86110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26</a:t>
              </a: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Box 2"/>
          <p:cNvSpPr txBox="1"/>
          <p:nvPr/>
        </p:nvSpPr>
        <p:spPr>
          <a:xfrm>
            <a:off x="1028700" y="2126909"/>
            <a:ext cx="16230600" cy="5004435"/>
          </a:xfrm>
          <a:prstGeom prst="rect">
            <a:avLst/>
          </a:prstGeom>
        </p:spPr>
        <p:txBody>
          <a:bodyPr lIns="0" tIns="0" rIns="0" bIns="0" rtlCol="0" anchor="t">
            <a:spAutoFit/>
          </a:bodyPr>
          <a:lstStyle/>
          <a:p>
            <a:pPr algn="just">
              <a:lnSpc>
                <a:spcPts val="5760"/>
              </a:lnSpc>
            </a:pPr>
            <a:r>
              <a:rPr lang="en-US" sz="3200">
                <a:solidFill>
                  <a:srgbClr val="000000"/>
                </a:solidFill>
                <a:latin typeface="Open Sans"/>
                <a:ea typeface="Open Sans"/>
                <a:cs typeface="Open Sans"/>
                <a:sym typeface="Open Sans"/>
              </a:rPr>
              <a:t>Suppose you have a user profile resource at https://api.example.com/users/123, where 123 is the user ID. The user profile might have several fields like username, email, and bio.</a:t>
            </a:r>
          </a:p>
          <a:p>
            <a:pPr algn="just">
              <a:lnSpc>
                <a:spcPts val="5760"/>
              </a:lnSpc>
            </a:pPr>
            <a:r>
              <a:rPr lang="en-US" sz="3200">
                <a:solidFill>
                  <a:srgbClr val="000000"/>
                </a:solidFill>
                <a:latin typeface="Open Sans"/>
                <a:ea typeface="Open Sans"/>
                <a:cs typeface="Open Sans"/>
                <a:sym typeface="Open Sans"/>
              </a:rPr>
              <a:t>"id": 123,"username": "johndoe","email": "johndoe@example.com","bio": "Software developer and tech enthusiast."</a:t>
            </a:r>
          </a:p>
          <a:p>
            <a:pPr algn="just">
              <a:lnSpc>
                <a:spcPts val="5760"/>
              </a:lnSpc>
            </a:pPr>
            <a:r>
              <a:rPr lang="en-US" sz="3200">
                <a:solidFill>
                  <a:srgbClr val="000000"/>
                </a:solidFill>
                <a:latin typeface="Open Sans"/>
                <a:ea typeface="Open Sans"/>
                <a:cs typeface="Open Sans"/>
                <a:sym typeface="Open Sans"/>
              </a:rPr>
              <a:t>If you make a PATCH Request like this one : { "bio": "Software developer, tech enthusiast, and open-source contributor." }, you will get a result like this:</a:t>
            </a:r>
          </a:p>
        </p:txBody>
      </p:sp>
      <p:sp>
        <p:nvSpPr>
          <p:cNvPr id="3" name="TextBox 3"/>
          <p:cNvSpPr txBox="1"/>
          <p:nvPr/>
        </p:nvSpPr>
        <p:spPr>
          <a:xfrm>
            <a:off x="7938849" y="914400"/>
            <a:ext cx="2410301" cy="806831"/>
          </a:xfrm>
          <a:prstGeom prst="rect">
            <a:avLst/>
          </a:prstGeom>
        </p:spPr>
        <p:txBody>
          <a:bodyPr lIns="0" tIns="0" rIns="0" bIns="0" rtlCol="0" anchor="t">
            <a:spAutoFit/>
          </a:bodyPr>
          <a:lstStyle/>
          <a:p>
            <a:pPr algn="just">
              <a:lnSpc>
                <a:spcPts val="5841"/>
              </a:lnSpc>
              <a:spcBef>
                <a:spcPct val="0"/>
              </a:spcBef>
            </a:pPr>
            <a:r>
              <a:rPr lang="en-US" sz="4599" b="1">
                <a:solidFill>
                  <a:srgbClr val="26CBB8"/>
                </a:solidFill>
                <a:latin typeface="Codec Pro Bold"/>
                <a:ea typeface="Codec Pro Bold"/>
                <a:cs typeface="Codec Pro Bold"/>
                <a:sym typeface="Codec Pro Bold"/>
              </a:rPr>
              <a:t>Example</a:t>
            </a:r>
          </a:p>
        </p:txBody>
      </p:sp>
      <p:sp>
        <p:nvSpPr>
          <p:cNvPr id="4" name="Freeform 4"/>
          <p:cNvSpPr/>
          <p:nvPr/>
        </p:nvSpPr>
        <p:spPr>
          <a:xfrm>
            <a:off x="14087827" y="6086827"/>
            <a:ext cx="8400347" cy="8400347"/>
          </a:xfrm>
          <a:custGeom>
            <a:avLst/>
            <a:gdLst/>
            <a:ahLst/>
            <a:cxnLst/>
            <a:rect l="l" t="t" r="r" b="b"/>
            <a:pathLst>
              <a:path w="8400347" h="8400347">
                <a:moveTo>
                  <a:pt x="0" y="0"/>
                </a:moveTo>
                <a:lnTo>
                  <a:pt x="8400346" y="0"/>
                </a:lnTo>
                <a:lnTo>
                  <a:pt x="8400346" y="8400346"/>
                </a:lnTo>
                <a:lnTo>
                  <a:pt x="0" y="840034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grpSp>
        <p:nvGrpSpPr>
          <p:cNvPr id="5" name="Group 5"/>
          <p:cNvGrpSpPr/>
          <p:nvPr/>
        </p:nvGrpSpPr>
        <p:grpSpPr>
          <a:xfrm>
            <a:off x="17149862" y="9258300"/>
            <a:ext cx="861105" cy="861105"/>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27</a:t>
              </a: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14087827" y="6086827"/>
            <a:ext cx="8400347" cy="8400347"/>
          </a:xfrm>
          <a:custGeom>
            <a:avLst/>
            <a:gdLst/>
            <a:ahLst/>
            <a:cxnLst/>
            <a:rect l="l" t="t" r="r" b="b"/>
            <a:pathLst>
              <a:path w="8400347" h="8400347">
                <a:moveTo>
                  <a:pt x="0" y="0"/>
                </a:moveTo>
                <a:lnTo>
                  <a:pt x="8400346" y="0"/>
                </a:lnTo>
                <a:lnTo>
                  <a:pt x="8400346" y="8400346"/>
                </a:lnTo>
                <a:lnTo>
                  <a:pt x="0" y="840034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3" name="Freeform 3"/>
          <p:cNvSpPr/>
          <p:nvPr/>
        </p:nvSpPr>
        <p:spPr>
          <a:xfrm>
            <a:off x="1028700" y="2202400"/>
            <a:ext cx="16230600" cy="5882200"/>
          </a:xfrm>
          <a:custGeom>
            <a:avLst/>
            <a:gdLst/>
            <a:ahLst/>
            <a:cxnLst/>
            <a:rect l="l" t="t" r="r" b="b"/>
            <a:pathLst>
              <a:path w="16230600" h="5882200">
                <a:moveTo>
                  <a:pt x="0" y="0"/>
                </a:moveTo>
                <a:lnTo>
                  <a:pt x="16230600" y="0"/>
                </a:lnTo>
                <a:lnTo>
                  <a:pt x="16230600" y="5882200"/>
                </a:lnTo>
                <a:lnTo>
                  <a:pt x="0" y="5882200"/>
                </a:lnTo>
                <a:lnTo>
                  <a:pt x="0" y="0"/>
                </a:lnTo>
                <a:close/>
              </a:path>
            </a:pathLst>
          </a:custGeom>
          <a:blipFill>
            <a:blip r:embed="rId4"/>
            <a:stretch>
              <a:fillRect t="-861"/>
            </a:stretch>
          </a:blipFill>
        </p:spPr>
      </p:sp>
      <p:grpSp>
        <p:nvGrpSpPr>
          <p:cNvPr id="4" name="Group 4"/>
          <p:cNvGrpSpPr/>
          <p:nvPr/>
        </p:nvGrpSpPr>
        <p:grpSpPr>
          <a:xfrm>
            <a:off x="17149862" y="9258300"/>
            <a:ext cx="861105" cy="861105"/>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6" name="TextBox 6"/>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28</a:t>
              </a: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14087827" y="6086827"/>
            <a:ext cx="8400347" cy="8400347"/>
          </a:xfrm>
          <a:custGeom>
            <a:avLst/>
            <a:gdLst/>
            <a:ahLst/>
            <a:cxnLst/>
            <a:rect l="l" t="t" r="r" b="b"/>
            <a:pathLst>
              <a:path w="8400347" h="8400347">
                <a:moveTo>
                  <a:pt x="0" y="0"/>
                </a:moveTo>
                <a:lnTo>
                  <a:pt x="8400346" y="0"/>
                </a:lnTo>
                <a:lnTo>
                  <a:pt x="8400346" y="8400346"/>
                </a:lnTo>
                <a:lnTo>
                  <a:pt x="0" y="840034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3" name="Freeform 3"/>
          <p:cNvSpPr/>
          <p:nvPr/>
        </p:nvSpPr>
        <p:spPr>
          <a:xfrm>
            <a:off x="1741169" y="-3878466"/>
            <a:ext cx="8400347" cy="8400347"/>
          </a:xfrm>
          <a:custGeom>
            <a:avLst/>
            <a:gdLst/>
            <a:ahLst/>
            <a:cxnLst/>
            <a:rect l="l" t="t" r="r" b="b"/>
            <a:pathLst>
              <a:path w="8400347" h="8400347">
                <a:moveTo>
                  <a:pt x="0" y="0"/>
                </a:moveTo>
                <a:lnTo>
                  <a:pt x="8400346" y="0"/>
                </a:lnTo>
                <a:lnTo>
                  <a:pt x="8400346" y="8400347"/>
                </a:lnTo>
                <a:lnTo>
                  <a:pt x="0" y="840034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3935651" y="2944813"/>
            <a:ext cx="13323649" cy="4321175"/>
          </a:xfrm>
          <a:prstGeom prst="rect">
            <a:avLst/>
          </a:prstGeom>
        </p:spPr>
        <p:txBody>
          <a:bodyPr lIns="0" tIns="0" rIns="0" bIns="0" rtlCol="0" anchor="t">
            <a:spAutoFit/>
          </a:bodyPr>
          <a:lstStyle/>
          <a:p>
            <a:pPr algn="just">
              <a:lnSpc>
                <a:spcPts val="4900"/>
              </a:lnSpc>
              <a:spcBef>
                <a:spcPct val="0"/>
              </a:spcBef>
            </a:pPr>
            <a:r>
              <a:rPr lang="en-US" sz="3500">
                <a:solidFill>
                  <a:srgbClr val="000000"/>
                </a:solidFill>
                <a:latin typeface="Montserrat"/>
                <a:ea typeface="Montserrat"/>
                <a:cs typeface="Montserrat"/>
                <a:sym typeface="Montserrat"/>
              </a:rPr>
              <a:t>These HTTP methods are the foundation of RESTful APIs, offering a standardized way to perform actions on resources. Each method provides specific functionality and predictable behavior, making it easy to understand and work with APIs. Using these methods correctly enables clients and servers to communicate efficiently and ensures a clear, consistent approach to managing resources.</a:t>
            </a:r>
          </a:p>
        </p:txBody>
      </p:sp>
      <p:grpSp>
        <p:nvGrpSpPr>
          <p:cNvPr id="5" name="Group 5"/>
          <p:cNvGrpSpPr/>
          <p:nvPr/>
        </p:nvGrpSpPr>
        <p:grpSpPr>
          <a:xfrm>
            <a:off x="0" y="0"/>
            <a:ext cx="3724334" cy="10287000"/>
            <a:chOff x="0" y="0"/>
            <a:chExt cx="980895" cy="2709333"/>
          </a:xfrm>
        </p:grpSpPr>
        <p:sp>
          <p:nvSpPr>
            <p:cNvPr id="6" name="Freeform 6"/>
            <p:cNvSpPr/>
            <p:nvPr/>
          </p:nvSpPr>
          <p:spPr>
            <a:xfrm>
              <a:off x="0" y="0"/>
              <a:ext cx="980895" cy="2709333"/>
            </a:xfrm>
            <a:custGeom>
              <a:avLst/>
              <a:gdLst/>
              <a:ahLst/>
              <a:cxnLst/>
              <a:rect l="l" t="t" r="r" b="b"/>
              <a:pathLst>
                <a:path w="980895" h="2709333">
                  <a:moveTo>
                    <a:pt x="0" y="0"/>
                  </a:moveTo>
                  <a:lnTo>
                    <a:pt x="980895" y="0"/>
                  </a:lnTo>
                  <a:lnTo>
                    <a:pt x="980895" y="2709333"/>
                  </a:lnTo>
                  <a:lnTo>
                    <a:pt x="0" y="2709333"/>
                  </a:lnTo>
                  <a:close/>
                </a:path>
              </a:pathLst>
            </a:custGeom>
            <a:solidFill>
              <a:srgbClr val="856EE0"/>
            </a:solidFill>
          </p:spPr>
        </p:sp>
        <p:sp>
          <p:nvSpPr>
            <p:cNvPr id="7" name="TextBox 7"/>
            <p:cNvSpPr txBox="1"/>
            <p:nvPr/>
          </p:nvSpPr>
          <p:spPr>
            <a:xfrm>
              <a:off x="0" y="-38100"/>
              <a:ext cx="980895" cy="2747433"/>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15466739" y="1028700"/>
            <a:ext cx="1761909" cy="112121"/>
          </a:xfrm>
          <a:custGeom>
            <a:avLst/>
            <a:gdLst/>
            <a:ahLst/>
            <a:cxnLst/>
            <a:rect l="l" t="t" r="r" b="b"/>
            <a:pathLst>
              <a:path w="1761909" h="112121">
                <a:moveTo>
                  <a:pt x="0" y="0"/>
                </a:moveTo>
                <a:lnTo>
                  <a:pt x="1761909" y="0"/>
                </a:lnTo>
                <a:lnTo>
                  <a:pt x="1761909" y="112121"/>
                </a:lnTo>
                <a:lnTo>
                  <a:pt x="0" y="1121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a:off x="10583632" y="9146179"/>
            <a:ext cx="1761909" cy="112121"/>
          </a:xfrm>
          <a:custGeom>
            <a:avLst/>
            <a:gdLst/>
            <a:ahLst/>
            <a:cxnLst/>
            <a:rect l="l" t="t" r="r" b="b"/>
            <a:pathLst>
              <a:path w="1761909" h="112121">
                <a:moveTo>
                  <a:pt x="0" y="0"/>
                </a:moveTo>
                <a:lnTo>
                  <a:pt x="1761908" y="0"/>
                </a:lnTo>
                <a:lnTo>
                  <a:pt x="1761908" y="112121"/>
                </a:lnTo>
                <a:lnTo>
                  <a:pt x="0" y="1121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0" name="Group 10"/>
          <p:cNvGrpSpPr/>
          <p:nvPr/>
        </p:nvGrpSpPr>
        <p:grpSpPr>
          <a:xfrm>
            <a:off x="17149862" y="9258300"/>
            <a:ext cx="861105" cy="861105"/>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12" name="TextBox 12"/>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29</a:t>
              </a: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3724334" cy="10287000"/>
            <a:chOff x="0" y="0"/>
            <a:chExt cx="980895" cy="2709333"/>
          </a:xfrm>
        </p:grpSpPr>
        <p:sp>
          <p:nvSpPr>
            <p:cNvPr id="3" name="Freeform 3"/>
            <p:cNvSpPr/>
            <p:nvPr/>
          </p:nvSpPr>
          <p:spPr>
            <a:xfrm>
              <a:off x="0" y="0"/>
              <a:ext cx="980895" cy="2709333"/>
            </a:xfrm>
            <a:custGeom>
              <a:avLst/>
              <a:gdLst/>
              <a:ahLst/>
              <a:cxnLst/>
              <a:rect l="l" t="t" r="r" b="b"/>
              <a:pathLst>
                <a:path w="980895" h="2709333">
                  <a:moveTo>
                    <a:pt x="0" y="0"/>
                  </a:moveTo>
                  <a:lnTo>
                    <a:pt x="980895" y="0"/>
                  </a:lnTo>
                  <a:lnTo>
                    <a:pt x="980895" y="2709333"/>
                  </a:lnTo>
                  <a:lnTo>
                    <a:pt x="0" y="2709333"/>
                  </a:lnTo>
                  <a:close/>
                </a:path>
              </a:pathLst>
            </a:custGeom>
            <a:solidFill>
              <a:srgbClr val="856EE0"/>
            </a:solidFill>
          </p:spPr>
        </p:sp>
        <p:sp>
          <p:nvSpPr>
            <p:cNvPr id="4" name="TextBox 4"/>
            <p:cNvSpPr txBox="1"/>
            <p:nvPr/>
          </p:nvSpPr>
          <p:spPr>
            <a:xfrm>
              <a:off x="0" y="-38100"/>
              <a:ext cx="980895" cy="274743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4087827" y="6086827"/>
            <a:ext cx="8400347" cy="8400347"/>
          </a:xfrm>
          <a:custGeom>
            <a:avLst/>
            <a:gdLst/>
            <a:ahLst/>
            <a:cxnLst/>
            <a:rect l="l" t="t" r="r" b="b"/>
            <a:pathLst>
              <a:path w="8400347" h="8400347">
                <a:moveTo>
                  <a:pt x="0" y="0"/>
                </a:moveTo>
                <a:lnTo>
                  <a:pt x="8400346" y="0"/>
                </a:lnTo>
                <a:lnTo>
                  <a:pt x="8400346" y="8400346"/>
                </a:lnTo>
                <a:lnTo>
                  <a:pt x="0" y="840034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6" name="Freeform 6"/>
          <p:cNvSpPr/>
          <p:nvPr/>
        </p:nvSpPr>
        <p:spPr>
          <a:xfrm>
            <a:off x="1741169" y="-3878466"/>
            <a:ext cx="8400347" cy="8400347"/>
          </a:xfrm>
          <a:custGeom>
            <a:avLst/>
            <a:gdLst/>
            <a:ahLst/>
            <a:cxnLst/>
            <a:rect l="l" t="t" r="r" b="b"/>
            <a:pathLst>
              <a:path w="8400347" h="8400347">
                <a:moveTo>
                  <a:pt x="0" y="0"/>
                </a:moveTo>
                <a:lnTo>
                  <a:pt x="8400346" y="0"/>
                </a:lnTo>
                <a:lnTo>
                  <a:pt x="8400346" y="8400347"/>
                </a:lnTo>
                <a:lnTo>
                  <a:pt x="0" y="840034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7" name="Freeform 7"/>
          <p:cNvSpPr/>
          <p:nvPr/>
        </p:nvSpPr>
        <p:spPr>
          <a:xfrm>
            <a:off x="15466739" y="1028700"/>
            <a:ext cx="1761909" cy="112121"/>
          </a:xfrm>
          <a:custGeom>
            <a:avLst/>
            <a:gdLst/>
            <a:ahLst/>
            <a:cxnLst/>
            <a:rect l="l" t="t" r="r" b="b"/>
            <a:pathLst>
              <a:path w="1761909" h="112121">
                <a:moveTo>
                  <a:pt x="0" y="0"/>
                </a:moveTo>
                <a:lnTo>
                  <a:pt x="1761909" y="0"/>
                </a:lnTo>
                <a:lnTo>
                  <a:pt x="1761909" y="112121"/>
                </a:lnTo>
                <a:lnTo>
                  <a:pt x="0" y="1121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10583632" y="9146179"/>
            <a:ext cx="1761909" cy="112121"/>
          </a:xfrm>
          <a:custGeom>
            <a:avLst/>
            <a:gdLst/>
            <a:ahLst/>
            <a:cxnLst/>
            <a:rect l="l" t="t" r="r" b="b"/>
            <a:pathLst>
              <a:path w="1761909" h="112121">
                <a:moveTo>
                  <a:pt x="0" y="0"/>
                </a:moveTo>
                <a:lnTo>
                  <a:pt x="1761908" y="0"/>
                </a:lnTo>
                <a:lnTo>
                  <a:pt x="1761908" y="112121"/>
                </a:lnTo>
                <a:lnTo>
                  <a:pt x="0" y="1121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TextBox 9"/>
          <p:cNvSpPr txBox="1"/>
          <p:nvPr/>
        </p:nvSpPr>
        <p:spPr>
          <a:xfrm>
            <a:off x="5001208" y="4463413"/>
            <a:ext cx="11164848" cy="1226823"/>
          </a:xfrm>
          <a:prstGeom prst="rect">
            <a:avLst/>
          </a:prstGeom>
        </p:spPr>
        <p:txBody>
          <a:bodyPr lIns="0" tIns="0" rIns="0" bIns="0" rtlCol="0" anchor="t">
            <a:spAutoFit/>
          </a:bodyPr>
          <a:lstStyle/>
          <a:p>
            <a:pPr algn="ctr">
              <a:lnSpc>
                <a:spcPts val="10079"/>
              </a:lnSpc>
              <a:spcBef>
                <a:spcPct val="0"/>
              </a:spcBef>
            </a:pPr>
            <a:r>
              <a:rPr lang="en-US" sz="7199" b="1">
                <a:solidFill>
                  <a:srgbClr val="26CBB8"/>
                </a:solidFill>
                <a:latin typeface="Montserrat Bold"/>
                <a:ea typeface="Montserrat Bold"/>
                <a:cs typeface="Montserrat Bold"/>
                <a:sym typeface="Montserrat Bold"/>
              </a:rPr>
              <a:t>6 - HTTP Status in REST</a:t>
            </a:r>
          </a:p>
        </p:txBody>
      </p:sp>
      <p:grpSp>
        <p:nvGrpSpPr>
          <p:cNvPr id="10" name="Group 10"/>
          <p:cNvGrpSpPr/>
          <p:nvPr/>
        </p:nvGrpSpPr>
        <p:grpSpPr>
          <a:xfrm>
            <a:off x="17149862" y="9258300"/>
            <a:ext cx="861105" cy="861105"/>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12" name="TextBox 12"/>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30</a:t>
              </a: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103286" y="1028700"/>
            <a:ext cx="1175279" cy="963167"/>
            <a:chOff x="0" y="0"/>
            <a:chExt cx="1109350" cy="909137"/>
          </a:xfrm>
        </p:grpSpPr>
        <p:sp>
          <p:nvSpPr>
            <p:cNvPr id="3" name="Freeform 3"/>
            <p:cNvSpPr/>
            <p:nvPr/>
          </p:nvSpPr>
          <p:spPr>
            <a:xfrm>
              <a:off x="0" y="0"/>
              <a:ext cx="1109350" cy="909137"/>
            </a:xfrm>
            <a:custGeom>
              <a:avLst/>
              <a:gdLst/>
              <a:ahLst/>
              <a:cxnLst/>
              <a:rect l="l" t="t" r="r" b="b"/>
              <a:pathLst>
                <a:path w="1109350" h="909137">
                  <a:moveTo>
                    <a:pt x="554675" y="0"/>
                  </a:moveTo>
                  <a:cubicBezTo>
                    <a:pt x="248337" y="0"/>
                    <a:pt x="0" y="203517"/>
                    <a:pt x="0" y="454569"/>
                  </a:cubicBezTo>
                  <a:cubicBezTo>
                    <a:pt x="0" y="705620"/>
                    <a:pt x="248337" y="909137"/>
                    <a:pt x="554675" y="909137"/>
                  </a:cubicBezTo>
                  <a:cubicBezTo>
                    <a:pt x="861014" y="909137"/>
                    <a:pt x="1109350" y="705620"/>
                    <a:pt x="1109350" y="454569"/>
                  </a:cubicBezTo>
                  <a:cubicBezTo>
                    <a:pt x="1109350" y="203517"/>
                    <a:pt x="861014" y="0"/>
                    <a:pt x="554675" y="0"/>
                  </a:cubicBezTo>
                  <a:close/>
                </a:path>
              </a:pathLst>
            </a:custGeom>
            <a:solidFill>
              <a:srgbClr val="000000">
                <a:alpha val="0"/>
              </a:srgbClr>
            </a:solidFill>
            <a:ln w="57150" cap="sq">
              <a:solidFill>
                <a:srgbClr val="856EE0"/>
              </a:solidFill>
              <a:prstDash val="solid"/>
              <a:miter/>
            </a:ln>
          </p:spPr>
        </p:sp>
        <p:sp>
          <p:nvSpPr>
            <p:cNvPr id="4" name="TextBox 4"/>
            <p:cNvSpPr txBox="1"/>
            <p:nvPr/>
          </p:nvSpPr>
          <p:spPr>
            <a:xfrm>
              <a:off x="104002" y="37607"/>
              <a:ext cx="901347" cy="786299"/>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1</a:t>
              </a:r>
            </a:p>
          </p:txBody>
        </p:sp>
      </p:grpSp>
      <p:sp>
        <p:nvSpPr>
          <p:cNvPr id="5" name="TextBox 5"/>
          <p:cNvSpPr txBox="1"/>
          <p:nvPr/>
        </p:nvSpPr>
        <p:spPr>
          <a:xfrm>
            <a:off x="2566265" y="1226439"/>
            <a:ext cx="13087719" cy="586740"/>
          </a:xfrm>
          <a:prstGeom prst="rect">
            <a:avLst/>
          </a:prstGeom>
        </p:spPr>
        <p:txBody>
          <a:bodyPr lIns="0" tIns="0" rIns="0" bIns="0" rtlCol="0" anchor="t">
            <a:spAutoFit/>
          </a:bodyPr>
          <a:lstStyle/>
          <a:p>
            <a:pPr algn="l">
              <a:lnSpc>
                <a:spcPts val="4679"/>
              </a:lnSpc>
            </a:pPr>
            <a:r>
              <a:rPr lang="en-US" sz="3999" b="1">
                <a:solidFill>
                  <a:srgbClr val="856EE0"/>
                </a:solidFill>
                <a:latin typeface="Montserrat Bold"/>
                <a:ea typeface="Montserrat Bold"/>
                <a:cs typeface="Montserrat Bold"/>
                <a:sym typeface="Montserrat Bold"/>
              </a:rPr>
              <a:t>What are HTTP Status ?</a:t>
            </a:r>
          </a:p>
        </p:txBody>
      </p:sp>
      <p:sp>
        <p:nvSpPr>
          <p:cNvPr id="6" name="TextBox 6"/>
          <p:cNvSpPr txBox="1"/>
          <p:nvPr/>
        </p:nvSpPr>
        <p:spPr>
          <a:xfrm>
            <a:off x="994825" y="3274695"/>
            <a:ext cx="16230600" cy="3556635"/>
          </a:xfrm>
          <a:prstGeom prst="rect">
            <a:avLst/>
          </a:prstGeom>
        </p:spPr>
        <p:txBody>
          <a:bodyPr lIns="0" tIns="0" rIns="0" bIns="0" rtlCol="0" anchor="t">
            <a:spAutoFit/>
          </a:bodyPr>
          <a:lstStyle/>
          <a:p>
            <a:pPr marL="690881" lvl="1" indent="-345440" algn="just">
              <a:lnSpc>
                <a:spcPts val="5760"/>
              </a:lnSpc>
              <a:buFont typeface="Arial"/>
              <a:buChar char="•"/>
            </a:pPr>
            <a:r>
              <a:rPr lang="en-US" sz="3200">
                <a:solidFill>
                  <a:srgbClr val="000000"/>
                </a:solidFill>
                <a:latin typeface="Open Sans"/>
                <a:ea typeface="Open Sans"/>
                <a:cs typeface="Open Sans"/>
                <a:sym typeface="Open Sans"/>
              </a:rPr>
              <a:t>They are three-digit codes sent by the server in response to a client’s request, indicating the outcome of that request.</a:t>
            </a:r>
          </a:p>
          <a:p>
            <a:pPr marL="690881" lvl="1" indent="-345440" algn="just">
              <a:lnSpc>
                <a:spcPts val="5760"/>
              </a:lnSpc>
              <a:buFont typeface="Arial"/>
              <a:buChar char="•"/>
            </a:pPr>
            <a:r>
              <a:rPr lang="en-US" sz="3200">
                <a:solidFill>
                  <a:srgbClr val="000000"/>
                </a:solidFill>
                <a:latin typeface="Open Sans"/>
                <a:ea typeface="Open Sans"/>
                <a:cs typeface="Open Sans"/>
                <a:sym typeface="Open Sans"/>
              </a:rPr>
              <a:t>These codes help the client understand if their request was successful, if an error occurred, or if further action is required. Using them correctly ensures efficient communication and a better user experience.</a:t>
            </a:r>
          </a:p>
        </p:txBody>
      </p:sp>
      <p:sp>
        <p:nvSpPr>
          <p:cNvPr id="7" name="Freeform 7"/>
          <p:cNvSpPr/>
          <p:nvPr/>
        </p:nvSpPr>
        <p:spPr>
          <a:xfrm>
            <a:off x="14087827" y="6086827"/>
            <a:ext cx="8400347" cy="8400347"/>
          </a:xfrm>
          <a:custGeom>
            <a:avLst/>
            <a:gdLst/>
            <a:ahLst/>
            <a:cxnLst/>
            <a:rect l="l" t="t" r="r" b="b"/>
            <a:pathLst>
              <a:path w="8400347" h="8400347">
                <a:moveTo>
                  <a:pt x="0" y="0"/>
                </a:moveTo>
                <a:lnTo>
                  <a:pt x="8400346" y="0"/>
                </a:lnTo>
                <a:lnTo>
                  <a:pt x="8400346" y="8400346"/>
                </a:lnTo>
                <a:lnTo>
                  <a:pt x="0" y="840034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8" name="Freeform 8"/>
          <p:cNvSpPr/>
          <p:nvPr/>
        </p:nvSpPr>
        <p:spPr>
          <a:xfrm>
            <a:off x="-3171473" y="-3929123"/>
            <a:ext cx="8400347" cy="8400347"/>
          </a:xfrm>
          <a:custGeom>
            <a:avLst/>
            <a:gdLst/>
            <a:ahLst/>
            <a:cxnLst/>
            <a:rect l="l" t="t" r="r" b="b"/>
            <a:pathLst>
              <a:path w="8400347" h="8400347">
                <a:moveTo>
                  <a:pt x="0" y="0"/>
                </a:moveTo>
                <a:lnTo>
                  <a:pt x="8400346" y="0"/>
                </a:lnTo>
                <a:lnTo>
                  <a:pt x="8400346" y="8400347"/>
                </a:lnTo>
                <a:lnTo>
                  <a:pt x="0" y="840034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17149862" y="9258300"/>
            <a:ext cx="861105" cy="861105"/>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31</a:t>
              </a: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103286" y="1028700"/>
            <a:ext cx="1175279" cy="963167"/>
            <a:chOff x="0" y="0"/>
            <a:chExt cx="1109350" cy="909137"/>
          </a:xfrm>
        </p:grpSpPr>
        <p:sp>
          <p:nvSpPr>
            <p:cNvPr id="3" name="Freeform 3"/>
            <p:cNvSpPr/>
            <p:nvPr/>
          </p:nvSpPr>
          <p:spPr>
            <a:xfrm>
              <a:off x="0" y="0"/>
              <a:ext cx="1109350" cy="909137"/>
            </a:xfrm>
            <a:custGeom>
              <a:avLst/>
              <a:gdLst/>
              <a:ahLst/>
              <a:cxnLst/>
              <a:rect l="l" t="t" r="r" b="b"/>
              <a:pathLst>
                <a:path w="1109350" h="909137">
                  <a:moveTo>
                    <a:pt x="554675" y="0"/>
                  </a:moveTo>
                  <a:cubicBezTo>
                    <a:pt x="248337" y="0"/>
                    <a:pt x="0" y="203517"/>
                    <a:pt x="0" y="454569"/>
                  </a:cubicBezTo>
                  <a:cubicBezTo>
                    <a:pt x="0" y="705620"/>
                    <a:pt x="248337" y="909137"/>
                    <a:pt x="554675" y="909137"/>
                  </a:cubicBezTo>
                  <a:cubicBezTo>
                    <a:pt x="861014" y="909137"/>
                    <a:pt x="1109350" y="705620"/>
                    <a:pt x="1109350" y="454569"/>
                  </a:cubicBezTo>
                  <a:cubicBezTo>
                    <a:pt x="1109350" y="203517"/>
                    <a:pt x="861014" y="0"/>
                    <a:pt x="554675" y="0"/>
                  </a:cubicBezTo>
                  <a:close/>
                </a:path>
              </a:pathLst>
            </a:custGeom>
            <a:solidFill>
              <a:srgbClr val="000000">
                <a:alpha val="0"/>
              </a:srgbClr>
            </a:solidFill>
            <a:ln w="57150" cap="sq">
              <a:solidFill>
                <a:srgbClr val="856EE0"/>
              </a:solidFill>
              <a:prstDash val="solid"/>
              <a:miter/>
            </a:ln>
          </p:spPr>
        </p:sp>
        <p:sp>
          <p:nvSpPr>
            <p:cNvPr id="4" name="TextBox 4"/>
            <p:cNvSpPr txBox="1"/>
            <p:nvPr/>
          </p:nvSpPr>
          <p:spPr>
            <a:xfrm>
              <a:off x="104002" y="37607"/>
              <a:ext cx="901347" cy="786299"/>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2</a:t>
              </a:r>
            </a:p>
          </p:txBody>
        </p:sp>
      </p:grpSp>
      <p:sp>
        <p:nvSpPr>
          <p:cNvPr id="5" name="TextBox 5"/>
          <p:cNvSpPr txBox="1"/>
          <p:nvPr/>
        </p:nvSpPr>
        <p:spPr>
          <a:xfrm>
            <a:off x="2566265" y="1226439"/>
            <a:ext cx="13087719" cy="586740"/>
          </a:xfrm>
          <a:prstGeom prst="rect">
            <a:avLst/>
          </a:prstGeom>
        </p:spPr>
        <p:txBody>
          <a:bodyPr lIns="0" tIns="0" rIns="0" bIns="0" rtlCol="0" anchor="t">
            <a:spAutoFit/>
          </a:bodyPr>
          <a:lstStyle/>
          <a:p>
            <a:pPr algn="l">
              <a:lnSpc>
                <a:spcPts val="4679"/>
              </a:lnSpc>
            </a:pPr>
            <a:r>
              <a:rPr lang="en-US" sz="3999" b="1">
                <a:solidFill>
                  <a:srgbClr val="856EE0"/>
                </a:solidFill>
                <a:latin typeface="Montserrat Bold"/>
                <a:ea typeface="Montserrat Bold"/>
                <a:cs typeface="Montserrat Bold"/>
                <a:sym typeface="Montserrat Bold"/>
              </a:rPr>
              <a:t>Key Categories of HTTP Status Codes</a:t>
            </a:r>
          </a:p>
        </p:txBody>
      </p:sp>
      <p:sp>
        <p:nvSpPr>
          <p:cNvPr id="6" name="TextBox 6"/>
          <p:cNvSpPr txBox="1"/>
          <p:nvPr/>
        </p:nvSpPr>
        <p:spPr>
          <a:xfrm>
            <a:off x="994825" y="2666815"/>
            <a:ext cx="16889136" cy="6452235"/>
          </a:xfrm>
          <a:prstGeom prst="rect">
            <a:avLst/>
          </a:prstGeom>
        </p:spPr>
        <p:txBody>
          <a:bodyPr lIns="0" tIns="0" rIns="0" bIns="0" rtlCol="0" anchor="t">
            <a:spAutoFit/>
          </a:bodyPr>
          <a:lstStyle/>
          <a:p>
            <a:pPr marL="690881" lvl="1" indent="-345440" algn="just">
              <a:lnSpc>
                <a:spcPts val="5760"/>
              </a:lnSpc>
              <a:buFont typeface="Arial"/>
              <a:buChar char="•"/>
            </a:pPr>
            <a:r>
              <a:rPr lang="en-US" sz="3200" b="1">
                <a:solidFill>
                  <a:srgbClr val="5284FF"/>
                </a:solidFill>
                <a:latin typeface="Open Sans Bold"/>
                <a:ea typeface="Open Sans Bold"/>
                <a:cs typeface="Open Sans Bold"/>
                <a:sym typeface="Open Sans Bold"/>
              </a:rPr>
              <a:t>1xx</a:t>
            </a:r>
            <a:r>
              <a:rPr lang="en-US" sz="3200" b="1">
                <a:solidFill>
                  <a:srgbClr val="000000"/>
                </a:solidFill>
                <a:latin typeface="Open Sans Bold"/>
                <a:ea typeface="Open Sans Bold"/>
                <a:cs typeface="Open Sans Bold"/>
                <a:sym typeface="Open Sans Bold"/>
              </a:rPr>
              <a:t> </a:t>
            </a:r>
            <a:r>
              <a:rPr lang="en-US" sz="3200" b="1">
                <a:solidFill>
                  <a:srgbClr val="5284FF"/>
                </a:solidFill>
                <a:latin typeface="Open Sans Bold"/>
                <a:ea typeface="Open Sans Bold"/>
                <a:cs typeface="Open Sans Bold"/>
                <a:sym typeface="Open Sans Bold"/>
              </a:rPr>
              <a:t>(Informational)</a:t>
            </a:r>
            <a:r>
              <a:rPr lang="en-US" sz="3200" b="1">
                <a:solidFill>
                  <a:srgbClr val="000000"/>
                </a:solidFill>
                <a:latin typeface="Open Sans Bold"/>
                <a:ea typeface="Open Sans Bold"/>
                <a:cs typeface="Open Sans Bold"/>
                <a:sym typeface="Open Sans Bold"/>
              </a:rPr>
              <a:t> : </a:t>
            </a:r>
            <a:r>
              <a:rPr lang="en-US" sz="3200">
                <a:solidFill>
                  <a:srgbClr val="000000"/>
                </a:solidFill>
                <a:latin typeface="Open Sans"/>
                <a:ea typeface="Open Sans"/>
                <a:cs typeface="Open Sans"/>
                <a:sym typeface="Open Sans"/>
              </a:rPr>
              <a:t>Rarely used in REST, these codes indicate that a request has been received and is being processed.</a:t>
            </a:r>
          </a:p>
          <a:p>
            <a:pPr marL="690881" lvl="1" indent="-345440" algn="just">
              <a:lnSpc>
                <a:spcPts val="5760"/>
              </a:lnSpc>
              <a:buFont typeface="Arial"/>
              <a:buChar char="•"/>
            </a:pPr>
            <a:r>
              <a:rPr lang="en-US" sz="3200" b="1">
                <a:solidFill>
                  <a:srgbClr val="00BF63"/>
                </a:solidFill>
                <a:latin typeface="Open Sans Bold"/>
                <a:ea typeface="Open Sans Bold"/>
                <a:cs typeface="Open Sans Bold"/>
                <a:sym typeface="Open Sans Bold"/>
              </a:rPr>
              <a:t>2xx (Success)</a:t>
            </a:r>
            <a:r>
              <a:rPr lang="en-US" sz="3200">
                <a:solidFill>
                  <a:srgbClr val="000000"/>
                </a:solidFill>
                <a:latin typeface="Open Sans"/>
                <a:ea typeface="Open Sans"/>
                <a:cs typeface="Open Sans"/>
                <a:sym typeface="Open Sans"/>
              </a:rPr>
              <a:t> : Indicate that the client’s request was successfully received and processed. </a:t>
            </a:r>
          </a:p>
          <a:p>
            <a:pPr marL="690881" lvl="1" indent="-345440" algn="just">
              <a:lnSpc>
                <a:spcPts val="5760"/>
              </a:lnSpc>
              <a:buFont typeface="Arial"/>
              <a:buChar char="•"/>
            </a:pPr>
            <a:r>
              <a:rPr lang="en-US" sz="3200" b="1" u="sng">
                <a:solidFill>
                  <a:srgbClr val="00BF63"/>
                </a:solidFill>
                <a:latin typeface="Open Sans Bold"/>
                <a:ea typeface="Open Sans Bold"/>
                <a:cs typeface="Open Sans Bold"/>
                <a:sym typeface="Open Sans Bold"/>
              </a:rPr>
              <a:t>200 OK</a:t>
            </a:r>
            <a:r>
              <a:rPr lang="en-US" sz="3200">
                <a:solidFill>
                  <a:srgbClr val="00BF63"/>
                </a:solidFill>
                <a:latin typeface="Open Sans"/>
                <a:ea typeface="Open Sans"/>
                <a:cs typeface="Open Sans"/>
                <a:sym typeface="Open Sans"/>
              </a:rPr>
              <a:t> </a:t>
            </a:r>
            <a:r>
              <a:rPr lang="en-US" sz="3200">
                <a:solidFill>
                  <a:srgbClr val="000000"/>
                </a:solidFill>
                <a:latin typeface="Open Sans"/>
                <a:ea typeface="Open Sans"/>
                <a:cs typeface="Open Sans"/>
                <a:sym typeface="Open Sans"/>
              </a:rPr>
              <a:t>: The most common success code; it means that the request was successful and data is returned, if applicable.</a:t>
            </a:r>
          </a:p>
          <a:p>
            <a:pPr marL="690881" lvl="1" indent="-345440" algn="just">
              <a:lnSpc>
                <a:spcPts val="5760"/>
              </a:lnSpc>
              <a:buFont typeface="Arial"/>
              <a:buChar char="•"/>
            </a:pPr>
            <a:r>
              <a:rPr lang="en-US" sz="3200" b="1" u="sng">
                <a:solidFill>
                  <a:srgbClr val="00BF63"/>
                </a:solidFill>
                <a:latin typeface="Open Sans Bold"/>
                <a:ea typeface="Open Sans Bold"/>
                <a:cs typeface="Open Sans Bold"/>
                <a:sym typeface="Open Sans Bold"/>
              </a:rPr>
              <a:t>201 Created</a:t>
            </a:r>
            <a:r>
              <a:rPr lang="en-US" sz="3200">
                <a:solidFill>
                  <a:srgbClr val="000000"/>
                </a:solidFill>
                <a:latin typeface="Open Sans"/>
                <a:ea typeface="Open Sans"/>
                <a:cs typeface="Open Sans"/>
                <a:sym typeface="Open Sans"/>
              </a:rPr>
              <a:t> : Used when a new resource has been successfully created (common for POST requests).</a:t>
            </a:r>
          </a:p>
          <a:p>
            <a:pPr marL="690881" lvl="1" indent="-345440" algn="just">
              <a:lnSpc>
                <a:spcPts val="5760"/>
              </a:lnSpc>
              <a:buFont typeface="Arial"/>
              <a:buChar char="•"/>
            </a:pPr>
            <a:r>
              <a:rPr lang="en-US" sz="3200" b="1">
                <a:solidFill>
                  <a:srgbClr val="000000"/>
                </a:solidFill>
                <a:latin typeface="Open Sans Bold"/>
                <a:ea typeface="Open Sans Bold"/>
                <a:cs typeface="Open Sans Bold"/>
                <a:sym typeface="Open Sans Bold"/>
              </a:rPr>
              <a:t>3xx (Redirection)</a:t>
            </a:r>
            <a:r>
              <a:rPr lang="en-US" sz="3200">
                <a:solidFill>
                  <a:srgbClr val="000000"/>
                </a:solidFill>
                <a:latin typeface="Open Sans"/>
                <a:ea typeface="Open Sans"/>
                <a:cs typeface="Open Sans"/>
                <a:sym typeface="Open Sans"/>
              </a:rPr>
              <a:t> : These indicate that further action is needed, like a redirect.</a:t>
            </a:r>
          </a:p>
        </p:txBody>
      </p:sp>
      <p:sp>
        <p:nvSpPr>
          <p:cNvPr id="7" name="Freeform 7"/>
          <p:cNvSpPr/>
          <p:nvPr/>
        </p:nvSpPr>
        <p:spPr>
          <a:xfrm>
            <a:off x="14087827" y="6086827"/>
            <a:ext cx="8400347" cy="8400347"/>
          </a:xfrm>
          <a:custGeom>
            <a:avLst/>
            <a:gdLst/>
            <a:ahLst/>
            <a:cxnLst/>
            <a:rect l="l" t="t" r="r" b="b"/>
            <a:pathLst>
              <a:path w="8400347" h="8400347">
                <a:moveTo>
                  <a:pt x="0" y="0"/>
                </a:moveTo>
                <a:lnTo>
                  <a:pt x="8400346" y="0"/>
                </a:lnTo>
                <a:lnTo>
                  <a:pt x="8400346" y="8400346"/>
                </a:lnTo>
                <a:lnTo>
                  <a:pt x="0" y="840034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8" name="Freeform 8"/>
          <p:cNvSpPr/>
          <p:nvPr/>
        </p:nvSpPr>
        <p:spPr>
          <a:xfrm>
            <a:off x="-3171473" y="-3929123"/>
            <a:ext cx="8400347" cy="8400347"/>
          </a:xfrm>
          <a:custGeom>
            <a:avLst/>
            <a:gdLst/>
            <a:ahLst/>
            <a:cxnLst/>
            <a:rect l="l" t="t" r="r" b="b"/>
            <a:pathLst>
              <a:path w="8400347" h="8400347">
                <a:moveTo>
                  <a:pt x="0" y="0"/>
                </a:moveTo>
                <a:lnTo>
                  <a:pt x="8400346" y="0"/>
                </a:lnTo>
                <a:lnTo>
                  <a:pt x="8400346" y="8400347"/>
                </a:lnTo>
                <a:lnTo>
                  <a:pt x="0" y="840034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17149862" y="9258300"/>
            <a:ext cx="861105" cy="861105"/>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32</a:t>
              </a: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103286" y="1028700"/>
            <a:ext cx="1175279" cy="963167"/>
            <a:chOff x="0" y="0"/>
            <a:chExt cx="1109350" cy="909137"/>
          </a:xfrm>
        </p:grpSpPr>
        <p:sp>
          <p:nvSpPr>
            <p:cNvPr id="3" name="Freeform 3"/>
            <p:cNvSpPr/>
            <p:nvPr/>
          </p:nvSpPr>
          <p:spPr>
            <a:xfrm>
              <a:off x="0" y="0"/>
              <a:ext cx="1109350" cy="909137"/>
            </a:xfrm>
            <a:custGeom>
              <a:avLst/>
              <a:gdLst/>
              <a:ahLst/>
              <a:cxnLst/>
              <a:rect l="l" t="t" r="r" b="b"/>
              <a:pathLst>
                <a:path w="1109350" h="909137">
                  <a:moveTo>
                    <a:pt x="554675" y="0"/>
                  </a:moveTo>
                  <a:cubicBezTo>
                    <a:pt x="248337" y="0"/>
                    <a:pt x="0" y="203517"/>
                    <a:pt x="0" y="454569"/>
                  </a:cubicBezTo>
                  <a:cubicBezTo>
                    <a:pt x="0" y="705620"/>
                    <a:pt x="248337" y="909137"/>
                    <a:pt x="554675" y="909137"/>
                  </a:cubicBezTo>
                  <a:cubicBezTo>
                    <a:pt x="861014" y="909137"/>
                    <a:pt x="1109350" y="705620"/>
                    <a:pt x="1109350" y="454569"/>
                  </a:cubicBezTo>
                  <a:cubicBezTo>
                    <a:pt x="1109350" y="203517"/>
                    <a:pt x="861014" y="0"/>
                    <a:pt x="554675" y="0"/>
                  </a:cubicBezTo>
                  <a:close/>
                </a:path>
              </a:pathLst>
            </a:custGeom>
            <a:solidFill>
              <a:srgbClr val="000000">
                <a:alpha val="0"/>
              </a:srgbClr>
            </a:solidFill>
            <a:ln w="57150" cap="sq">
              <a:solidFill>
                <a:srgbClr val="856EE0"/>
              </a:solidFill>
              <a:prstDash val="solid"/>
              <a:miter/>
            </a:ln>
          </p:spPr>
        </p:sp>
        <p:sp>
          <p:nvSpPr>
            <p:cNvPr id="4" name="TextBox 4"/>
            <p:cNvSpPr txBox="1"/>
            <p:nvPr/>
          </p:nvSpPr>
          <p:spPr>
            <a:xfrm>
              <a:off x="104002" y="37607"/>
              <a:ext cx="901347" cy="786299"/>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2</a:t>
              </a:r>
            </a:p>
          </p:txBody>
        </p:sp>
      </p:grpSp>
      <p:sp>
        <p:nvSpPr>
          <p:cNvPr id="5" name="TextBox 5"/>
          <p:cNvSpPr txBox="1"/>
          <p:nvPr/>
        </p:nvSpPr>
        <p:spPr>
          <a:xfrm>
            <a:off x="2566265" y="1226439"/>
            <a:ext cx="13087719" cy="586740"/>
          </a:xfrm>
          <a:prstGeom prst="rect">
            <a:avLst/>
          </a:prstGeom>
        </p:spPr>
        <p:txBody>
          <a:bodyPr lIns="0" tIns="0" rIns="0" bIns="0" rtlCol="0" anchor="t">
            <a:spAutoFit/>
          </a:bodyPr>
          <a:lstStyle/>
          <a:p>
            <a:pPr algn="l">
              <a:lnSpc>
                <a:spcPts val="4679"/>
              </a:lnSpc>
            </a:pPr>
            <a:r>
              <a:rPr lang="en-US" sz="3999" b="1">
                <a:solidFill>
                  <a:srgbClr val="856EE0"/>
                </a:solidFill>
                <a:latin typeface="Montserrat Bold"/>
                <a:ea typeface="Montserrat Bold"/>
                <a:cs typeface="Montserrat Bold"/>
                <a:sym typeface="Montserrat Bold"/>
              </a:rPr>
              <a:t>Key Categories of HTTP Status Codes</a:t>
            </a:r>
          </a:p>
        </p:txBody>
      </p:sp>
      <p:sp>
        <p:nvSpPr>
          <p:cNvPr id="6" name="TextBox 6"/>
          <p:cNvSpPr txBox="1"/>
          <p:nvPr/>
        </p:nvSpPr>
        <p:spPr>
          <a:xfrm>
            <a:off x="994825" y="2666815"/>
            <a:ext cx="16889136" cy="6452235"/>
          </a:xfrm>
          <a:prstGeom prst="rect">
            <a:avLst/>
          </a:prstGeom>
        </p:spPr>
        <p:txBody>
          <a:bodyPr lIns="0" tIns="0" rIns="0" bIns="0" rtlCol="0" anchor="t">
            <a:spAutoFit/>
          </a:bodyPr>
          <a:lstStyle/>
          <a:p>
            <a:pPr marL="690881" lvl="1" indent="-345440" algn="just">
              <a:lnSpc>
                <a:spcPts val="5760"/>
              </a:lnSpc>
              <a:buFont typeface="Arial"/>
              <a:buChar char="•"/>
            </a:pPr>
            <a:r>
              <a:rPr lang="en-US" sz="3200" b="1">
                <a:solidFill>
                  <a:srgbClr val="FF3131"/>
                </a:solidFill>
                <a:latin typeface="Open Sans Bold"/>
                <a:ea typeface="Open Sans Bold"/>
                <a:cs typeface="Open Sans Bold"/>
                <a:sym typeface="Open Sans Bold"/>
              </a:rPr>
              <a:t>4xx (Client Errors)</a:t>
            </a:r>
            <a:r>
              <a:rPr lang="en-US" sz="3200" b="1">
                <a:solidFill>
                  <a:srgbClr val="000000"/>
                </a:solidFill>
                <a:latin typeface="Open Sans Bold"/>
                <a:ea typeface="Open Sans Bold"/>
                <a:cs typeface="Open Sans Bold"/>
                <a:sym typeface="Open Sans Bold"/>
              </a:rPr>
              <a:t> : </a:t>
            </a:r>
            <a:r>
              <a:rPr lang="en-US" sz="3200">
                <a:solidFill>
                  <a:srgbClr val="000000"/>
                </a:solidFill>
                <a:latin typeface="Open Sans"/>
                <a:ea typeface="Open Sans"/>
                <a:cs typeface="Open Sans"/>
                <a:sym typeface="Open Sans"/>
              </a:rPr>
              <a:t>Indicate an issue with the client’s request. For example :</a:t>
            </a:r>
          </a:p>
          <a:p>
            <a:pPr marL="690881" lvl="1" indent="-345440" algn="just">
              <a:lnSpc>
                <a:spcPts val="5760"/>
              </a:lnSpc>
              <a:buFont typeface="Arial"/>
              <a:buChar char="•"/>
            </a:pPr>
            <a:r>
              <a:rPr lang="en-US" sz="3200" b="1" u="sng">
                <a:solidFill>
                  <a:srgbClr val="FF3131"/>
                </a:solidFill>
                <a:latin typeface="Open Sans Bold"/>
                <a:ea typeface="Open Sans Bold"/>
                <a:cs typeface="Open Sans Bold"/>
                <a:sym typeface="Open Sans Bold"/>
              </a:rPr>
              <a:t>400 Bad Request</a:t>
            </a:r>
            <a:r>
              <a:rPr lang="en-US" sz="3200" b="1">
                <a:solidFill>
                  <a:srgbClr val="000000"/>
                </a:solidFill>
                <a:latin typeface="Open Sans Bold"/>
                <a:ea typeface="Open Sans Bold"/>
                <a:cs typeface="Open Sans Bold"/>
                <a:sym typeface="Open Sans Bold"/>
              </a:rPr>
              <a:t> : </a:t>
            </a:r>
            <a:r>
              <a:rPr lang="en-US" sz="3200">
                <a:solidFill>
                  <a:srgbClr val="000000"/>
                </a:solidFill>
                <a:latin typeface="Open Sans"/>
                <a:ea typeface="Open Sans"/>
                <a:cs typeface="Open Sans"/>
                <a:sym typeface="Open Sans"/>
              </a:rPr>
              <a:t>The server couldn’t understand the request due to invalid syntax.</a:t>
            </a:r>
          </a:p>
          <a:p>
            <a:pPr marL="690881" lvl="1" indent="-345440" algn="just">
              <a:lnSpc>
                <a:spcPts val="5760"/>
              </a:lnSpc>
              <a:buFont typeface="Arial"/>
              <a:buChar char="•"/>
            </a:pPr>
            <a:r>
              <a:rPr lang="en-US" sz="3200" b="1" u="sng">
                <a:solidFill>
                  <a:srgbClr val="FF3131"/>
                </a:solidFill>
                <a:latin typeface="Open Sans Bold"/>
                <a:ea typeface="Open Sans Bold"/>
                <a:cs typeface="Open Sans Bold"/>
                <a:sym typeface="Open Sans Bold"/>
              </a:rPr>
              <a:t>404 Not Found</a:t>
            </a:r>
            <a:r>
              <a:rPr lang="en-US" sz="3200" b="1">
                <a:solidFill>
                  <a:srgbClr val="000000"/>
                </a:solidFill>
                <a:latin typeface="Open Sans Bold"/>
                <a:ea typeface="Open Sans Bold"/>
                <a:cs typeface="Open Sans Bold"/>
                <a:sym typeface="Open Sans Bold"/>
              </a:rPr>
              <a:t> : </a:t>
            </a:r>
            <a:r>
              <a:rPr lang="en-US" sz="3200">
                <a:solidFill>
                  <a:srgbClr val="000000"/>
                </a:solidFill>
                <a:latin typeface="Open Sans"/>
                <a:ea typeface="Open Sans"/>
                <a:cs typeface="Open Sans"/>
                <a:sym typeface="Open Sans"/>
              </a:rPr>
              <a:t>Commonly returned when a requested resource does not exist.</a:t>
            </a:r>
          </a:p>
          <a:p>
            <a:pPr marL="690881" lvl="1" indent="-345440" algn="just">
              <a:lnSpc>
                <a:spcPts val="5760"/>
              </a:lnSpc>
              <a:buFont typeface="Arial"/>
              <a:buChar char="•"/>
            </a:pPr>
            <a:r>
              <a:rPr lang="en-US" sz="3200" b="1">
                <a:solidFill>
                  <a:srgbClr val="FF914D"/>
                </a:solidFill>
                <a:latin typeface="Open Sans Bold"/>
                <a:ea typeface="Open Sans Bold"/>
                <a:cs typeface="Open Sans Bold"/>
                <a:sym typeface="Open Sans Bold"/>
              </a:rPr>
              <a:t>5xx (Server Errors)</a:t>
            </a:r>
            <a:r>
              <a:rPr lang="en-US" sz="3200" b="1">
                <a:solidFill>
                  <a:srgbClr val="5284FF"/>
                </a:solidFill>
                <a:latin typeface="Open Sans Bold"/>
                <a:ea typeface="Open Sans Bold"/>
                <a:cs typeface="Open Sans Bold"/>
                <a:sym typeface="Open Sans Bold"/>
              </a:rPr>
              <a:t> </a:t>
            </a:r>
            <a:r>
              <a:rPr lang="en-US" sz="3200" b="1">
                <a:solidFill>
                  <a:srgbClr val="000000"/>
                </a:solidFill>
                <a:latin typeface="Open Sans Bold"/>
                <a:ea typeface="Open Sans Bold"/>
                <a:cs typeface="Open Sans Bold"/>
                <a:sym typeface="Open Sans Bold"/>
              </a:rPr>
              <a:t>:</a:t>
            </a:r>
            <a:r>
              <a:rPr lang="en-US" sz="3200" b="1">
                <a:solidFill>
                  <a:srgbClr val="5284FF"/>
                </a:solidFill>
                <a:latin typeface="Open Sans Bold"/>
                <a:ea typeface="Open Sans Bold"/>
                <a:cs typeface="Open Sans Bold"/>
                <a:sym typeface="Open Sans Bold"/>
              </a:rPr>
              <a:t> </a:t>
            </a:r>
            <a:r>
              <a:rPr lang="en-US" sz="3200">
                <a:solidFill>
                  <a:srgbClr val="000000"/>
                </a:solidFill>
                <a:latin typeface="Open Sans"/>
                <a:ea typeface="Open Sans"/>
                <a:cs typeface="Open Sans"/>
                <a:sym typeface="Open Sans"/>
              </a:rPr>
              <a:t>Indicate that the server encountered an error while trying to process the request. For example :</a:t>
            </a:r>
          </a:p>
          <a:p>
            <a:pPr marL="690881" lvl="1" indent="-345440" algn="just">
              <a:lnSpc>
                <a:spcPts val="5760"/>
              </a:lnSpc>
              <a:buFont typeface="Arial"/>
              <a:buChar char="•"/>
            </a:pPr>
            <a:r>
              <a:rPr lang="en-US" sz="3200" b="1" u="sng">
                <a:solidFill>
                  <a:srgbClr val="FF914D"/>
                </a:solidFill>
                <a:latin typeface="Open Sans Bold"/>
                <a:ea typeface="Open Sans Bold"/>
                <a:cs typeface="Open Sans Bold"/>
                <a:sym typeface="Open Sans Bold"/>
              </a:rPr>
              <a:t>500 Internal Server Error</a:t>
            </a:r>
            <a:r>
              <a:rPr lang="en-US" sz="3200">
                <a:solidFill>
                  <a:srgbClr val="000000"/>
                </a:solidFill>
                <a:latin typeface="Open Sans"/>
                <a:ea typeface="Open Sans"/>
                <a:cs typeface="Open Sans"/>
                <a:sym typeface="Open Sans"/>
              </a:rPr>
              <a:t> : A general-purpose error when the server fails to handle the request.</a:t>
            </a:r>
          </a:p>
          <a:p>
            <a:pPr marL="690881" lvl="1" indent="-345440" algn="just">
              <a:lnSpc>
                <a:spcPts val="5760"/>
              </a:lnSpc>
              <a:buFont typeface="Arial"/>
              <a:buChar char="•"/>
            </a:pPr>
            <a:r>
              <a:rPr lang="en-US" sz="3200" b="1" u="sng">
                <a:solidFill>
                  <a:srgbClr val="FF914D"/>
                </a:solidFill>
                <a:latin typeface="Open Sans Bold"/>
                <a:ea typeface="Open Sans Bold"/>
                <a:cs typeface="Open Sans Bold"/>
                <a:sym typeface="Open Sans Bold"/>
              </a:rPr>
              <a:t>503 Service Unavailable</a:t>
            </a:r>
            <a:r>
              <a:rPr lang="en-US" sz="3200">
                <a:solidFill>
                  <a:srgbClr val="000000"/>
                </a:solidFill>
                <a:latin typeface="Open Sans"/>
                <a:ea typeface="Open Sans"/>
                <a:cs typeface="Open Sans"/>
                <a:sym typeface="Open Sans"/>
              </a:rPr>
              <a:t> : Indicates that the server is currently unavailable, often due to maintenance or overloading.</a:t>
            </a:r>
          </a:p>
        </p:txBody>
      </p:sp>
      <p:sp>
        <p:nvSpPr>
          <p:cNvPr id="7" name="Freeform 7"/>
          <p:cNvSpPr/>
          <p:nvPr/>
        </p:nvSpPr>
        <p:spPr>
          <a:xfrm>
            <a:off x="14087827" y="6086827"/>
            <a:ext cx="8400347" cy="8400347"/>
          </a:xfrm>
          <a:custGeom>
            <a:avLst/>
            <a:gdLst/>
            <a:ahLst/>
            <a:cxnLst/>
            <a:rect l="l" t="t" r="r" b="b"/>
            <a:pathLst>
              <a:path w="8400347" h="8400347">
                <a:moveTo>
                  <a:pt x="0" y="0"/>
                </a:moveTo>
                <a:lnTo>
                  <a:pt x="8400346" y="0"/>
                </a:lnTo>
                <a:lnTo>
                  <a:pt x="8400346" y="8400346"/>
                </a:lnTo>
                <a:lnTo>
                  <a:pt x="0" y="840034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8" name="Freeform 8"/>
          <p:cNvSpPr/>
          <p:nvPr/>
        </p:nvSpPr>
        <p:spPr>
          <a:xfrm>
            <a:off x="-3171473" y="-3929123"/>
            <a:ext cx="8400347" cy="8400347"/>
          </a:xfrm>
          <a:custGeom>
            <a:avLst/>
            <a:gdLst/>
            <a:ahLst/>
            <a:cxnLst/>
            <a:rect l="l" t="t" r="r" b="b"/>
            <a:pathLst>
              <a:path w="8400347" h="8400347">
                <a:moveTo>
                  <a:pt x="0" y="0"/>
                </a:moveTo>
                <a:lnTo>
                  <a:pt x="8400346" y="0"/>
                </a:lnTo>
                <a:lnTo>
                  <a:pt x="8400346" y="8400347"/>
                </a:lnTo>
                <a:lnTo>
                  <a:pt x="0" y="840034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17149862" y="9258300"/>
            <a:ext cx="861105" cy="861105"/>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33</a:t>
              </a: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2655567" y="350170"/>
            <a:ext cx="12976865" cy="9586659"/>
          </a:xfrm>
          <a:custGeom>
            <a:avLst/>
            <a:gdLst/>
            <a:ahLst/>
            <a:cxnLst/>
            <a:rect l="l" t="t" r="r" b="b"/>
            <a:pathLst>
              <a:path w="12976865" h="9586659">
                <a:moveTo>
                  <a:pt x="0" y="0"/>
                </a:moveTo>
                <a:lnTo>
                  <a:pt x="12976866" y="0"/>
                </a:lnTo>
                <a:lnTo>
                  <a:pt x="12976866" y="9586660"/>
                </a:lnTo>
                <a:lnTo>
                  <a:pt x="0" y="9586660"/>
                </a:lnTo>
                <a:lnTo>
                  <a:pt x="0" y="0"/>
                </a:lnTo>
                <a:close/>
              </a:path>
            </a:pathLst>
          </a:custGeom>
          <a:blipFill>
            <a:blip r:embed="rId2"/>
            <a:stretch>
              <a:fillRect/>
            </a:stretch>
          </a:blipFill>
        </p:spPr>
      </p:sp>
      <p:grpSp>
        <p:nvGrpSpPr>
          <p:cNvPr id="3" name="Group 3"/>
          <p:cNvGrpSpPr/>
          <p:nvPr/>
        </p:nvGrpSpPr>
        <p:grpSpPr>
          <a:xfrm>
            <a:off x="17149862" y="9258300"/>
            <a:ext cx="861105" cy="861105"/>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5" name="TextBox 5"/>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34</a:t>
              </a: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333067" y="317447"/>
            <a:ext cx="8455010" cy="3077191"/>
          </a:xfrm>
          <a:custGeom>
            <a:avLst/>
            <a:gdLst/>
            <a:ahLst/>
            <a:cxnLst/>
            <a:rect l="l" t="t" r="r" b="b"/>
            <a:pathLst>
              <a:path w="8455010" h="3077191">
                <a:moveTo>
                  <a:pt x="0" y="0"/>
                </a:moveTo>
                <a:lnTo>
                  <a:pt x="8455010" y="0"/>
                </a:lnTo>
                <a:lnTo>
                  <a:pt x="8455010" y="3077191"/>
                </a:lnTo>
                <a:lnTo>
                  <a:pt x="0" y="3077191"/>
                </a:lnTo>
                <a:lnTo>
                  <a:pt x="0" y="0"/>
                </a:lnTo>
                <a:close/>
              </a:path>
            </a:pathLst>
          </a:custGeom>
          <a:blipFill>
            <a:blip r:embed="rId2"/>
            <a:stretch>
              <a:fillRect r="-13034"/>
            </a:stretch>
          </a:blipFill>
        </p:spPr>
      </p:sp>
      <p:sp>
        <p:nvSpPr>
          <p:cNvPr id="3" name="Freeform 3"/>
          <p:cNvSpPr/>
          <p:nvPr/>
        </p:nvSpPr>
        <p:spPr>
          <a:xfrm>
            <a:off x="371167" y="3480363"/>
            <a:ext cx="8416910" cy="6519774"/>
          </a:xfrm>
          <a:custGeom>
            <a:avLst/>
            <a:gdLst/>
            <a:ahLst/>
            <a:cxnLst/>
            <a:rect l="l" t="t" r="r" b="b"/>
            <a:pathLst>
              <a:path w="8416910" h="6519774">
                <a:moveTo>
                  <a:pt x="0" y="0"/>
                </a:moveTo>
                <a:lnTo>
                  <a:pt x="8416910" y="0"/>
                </a:lnTo>
                <a:lnTo>
                  <a:pt x="8416910" y="6519774"/>
                </a:lnTo>
                <a:lnTo>
                  <a:pt x="0" y="6519774"/>
                </a:lnTo>
                <a:lnTo>
                  <a:pt x="0" y="0"/>
                </a:lnTo>
                <a:close/>
              </a:path>
            </a:pathLst>
          </a:custGeom>
          <a:blipFill>
            <a:blip r:embed="rId3"/>
            <a:stretch>
              <a:fillRect t="-3892" r="-740" b="-3892"/>
            </a:stretch>
          </a:blipFill>
        </p:spPr>
      </p:sp>
      <p:sp>
        <p:nvSpPr>
          <p:cNvPr id="4" name="Freeform 4"/>
          <p:cNvSpPr/>
          <p:nvPr/>
        </p:nvSpPr>
        <p:spPr>
          <a:xfrm>
            <a:off x="10789340" y="241247"/>
            <a:ext cx="5879174" cy="4060148"/>
          </a:xfrm>
          <a:custGeom>
            <a:avLst/>
            <a:gdLst/>
            <a:ahLst/>
            <a:cxnLst/>
            <a:rect l="l" t="t" r="r" b="b"/>
            <a:pathLst>
              <a:path w="5879174" h="4060148">
                <a:moveTo>
                  <a:pt x="0" y="0"/>
                </a:moveTo>
                <a:lnTo>
                  <a:pt x="5879174" y="0"/>
                </a:lnTo>
                <a:lnTo>
                  <a:pt x="5879174" y="4060147"/>
                </a:lnTo>
                <a:lnTo>
                  <a:pt x="0" y="4060147"/>
                </a:lnTo>
                <a:lnTo>
                  <a:pt x="0" y="0"/>
                </a:lnTo>
                <a:close/>
              </a:path>
            </a:pathLst>
          </a:custGeom>
          <a:blipFill>
            <a:blip r:embed="rId4"/>
            <a:stretch>
              <a:fillRect/>
            </a:stretch>
          </a:blipFill>
        </p:spPr>
      </p:sp>
      <p:sp>
        <p:nvSpPr>
          <p:cNvPr id="5" name="Freeform 5"/>
          <p:cNvSpPr/>
          <p:nvPr/>
        </p:nvSpPr>
        <p:spPr>
          <a:xfrm>
            <a:off x="10789340" y="4377594"/>
            <a:ext cx="5879174" cy="5672742"/>
          </a:xfrm>
          <a:custGeom>
            <a:avLst/>
            <a:gdLst/>
            <a:ahLst/>
            <a:cxnLst/>
            <a:rect l="l" t="t" r="r" b="b"/>
            <a:pathLst>
              <a:path w="5879174" h="5672742">
                <a:moveTo>
                  <a:pt x="0" y="0"/>
                </a:moveTo>
                <a:lnTo>
                  <a:pt x="5879174" y="0"/>
                </a:lnTo>
                <a:lnTo>
                  <a:pt x="5879174" y="5672742"/>
                </a:lnTo>
                <a:lnTo>
                  <a:pt x="0" y="5672742"/>
                </a:lnTo>
                <a:lnTo>
                  <a:pt x="0" y="0"/>
                </a:lnTo>
                <a:close/>
              </a:path>
            </a:pathLst>
          </a:custGeom>
          <a:blipFill>
            <a:blip r:embed="rId5"/>
            <a:stretch>
              <a:fillRect t="-225" b="-225"/>
            </a:stretch>
          </a:blipFill>
        </p:spPr>
      </p:sp>
      <p:grpSp>
        <p:nvGrpSpPr>
          <p:cNvPr id="6" name="Group 6"/>
          <p:cNvGrpSpPr/>
          <p:nvPr/>
        </p:nvGrpSpPr>
        <p:grpSpPr>
          <a:xfrm>
            <a:off x="17149862" y="9258300"/>
            <a:ext cx="861105" cy="861105"/>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8" name="TextBox 8"/>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35</a:t>
              </a: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1237212" y="1933459"/>
            <a:ext cx="16022088" cy="7324841"/>
          </a:xfrm>
          <a:custGeom>
            <a:avLst/>
            <a:gdLst/>
            <a:ahLst/>
            <a:cxnLst/>
            <a:rect l="l" t="t" r="r" b="b"/>
            <a:pathLst>
              <a:path w="16022088" h="7324841">
                <a:moveTo>
                  <a:pt x="0" y="0"/>
                </a:moveTo>
                <a:lnTo>
                  <a:pt x="16022088" y="0"/>
                </a:lnTo>
                <a:lnTo>
                  <a:pt x="16022088" y="7324841"/>
                </a:lnTo>
                <a:lnTo>
                  <a:pt x="0" y="7324841"/>
                </a:lnTo>
                <a:lnTo>
                  <a:pt x="0" y="0"/>
                </a:lnTo>
                <a:close/>
              </a:path>
            </a:pathLst>
          </a:custGeom>
          <a:blipFill>
            <a:blip r:embed="rId2"/>
            <a:stretch>
              <a:fillRect t="-1363" b="-13199"/>
            </a:stretch>
          </a:blipFill>
        </p:spPr>
      </p:sp>
      <p:sp>
        <p:nvSpPr>
          <p:cNvPr id="3" name="TextBox 3"/>
          <p:cNvSpPr txBox="1"/>
          <p:nvPr/>
        </p:nvSpPr>
        <p:spPr>
          <a:xfrm>
            <a:off x="5733217" y="914400"/>
            <a:ext cx="6821567" cy="806831"/>
          </a:xfrm>
          <a:prstGeom prst="rect">
            <a:avLst/>
          </a:prstGeom>
        </p:spPr>
        <p:txBody>
          <a:bodyPr lIns="0" tIns="0" rIns="0" bIns="0" rtlCol="0" anchor="t">
            <a:spAutoFit/>
          </a:bodyPr>
          <a:lstStyle/>
          <a:p>
            <a:pPr algn="just">
              <a:lnSpc>
                <a:spcPts val="5841"/>
              </a:lnSpc>
              <a:spcBef>
                <a:spcPct val="0"/>
              </a:spcBef>
            </a:pPr>
            <a:r>
              <a:rPr lang="en-US" sz="4599" b="1">
                <a:solidFill>
                  <a:srgbClr val="26CBB8"/>
                </a:solidFill>
                <a:latin typeface="Codec Pro Bold"/>
                <a:ea typeface="Codec Pro Bold"/>
                <a:cs typeface="Codec Pro Bold"/>
                <a:sym typeface="Codec Pro Bold"/>
              </a:rPr>
              <a:t>Main HTTP Status Codes</a:t>
            </a:r>
          </a:p>
        </p:txBody>
      </p:sp>
      <p:grpSp>
        <p:nvGrpSpPr>
          <p:cNvPr id="4" name="Group 4"/>
          <p:cNvGrpSpPr/>
          <p:nvPr/>
        </p:nvGrpSpPr>
        <p:grpSpPr>
          <a:xfrm>
            <a:off x="17149862" y="9258300"/>
            <a:ext cx="861105" cy="861105"/>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6" name="TextBox 6"/>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36</a:t>
              </a: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Box 2"/>
          <p:cNvSpPr txBox="1"/>
          <p:nvPr/>
        </p:nvSpPr>
        <p:spPr>
          <a:xfrm>
            <a:off x="3208020" y="1047750"/>
            <a:ext cx="11871960" cy="586740"/>
          </a:xfrm>
          <a:prstGeom prst="rect">
            <a:avLst/>
          </a:prstGeom>
        </p:spPr>
        <p:txBody>
          <a:bodyPr lIns="0" tIns="0" rIns="0" bIns="0" rtlCol="0" anchor="t">
            <a:spAutoFit/>
          </a:bodyPr>
          <a:lstStyle/>
          <a:p>
            <a:pPr algn="l">
              <a:lnSpc>
                <a:spcPts val="4679"/>
              </a:lnSpc>
            </a:pPr>
            <a:r>
              <a:rPr lang="en-US" sz="3999" b="1">
                <a:solidFill>
                  <a:srgbClr val="856EE0"/>
                </a:solidFill>
                <a:latin typeface="Montserrat Bold"/>
                <a:ea typeface="Montserrat Bold"/>
                <a:cs typeface="Montserrat Bold"/>
                <a:sym typeface="Montserrat Bold"/>
              </a:rPr>
              <a:t>Importance of Using the Right Status Codes</a:t>
            </a:r>
          </a:p>
        </p:txBody>
      </p:sp>
      <p:sp>
        <p:nvSpPr>
          <p:cNvPr id="3" name="TextBox 3"/>
          <p:cNvSpPr txBox="1"/>
          <p:nvPr/>
        </p:nvSpPr>
        <p:spPr>
          <a:xfrm>
            <a:off x="1028700" y="2806065"/>
            <a:ext cx="16230600" cy="6452235"/>
          </a:xfrm>
          <a:prstGeom prst="rect">
            <a:avLst/>
          </a:prstGeom>
        </p:spPr>
        <p:txBody>
          <a:bodyPr lIns="0" tIns="0" rIns="0" bIns="0" rtlCol="0" anchor="t">
            <a:spAutoFit/>
          </a:bodyPr>
          <a:lstStyle/>
          <a:p>
            <a:pPr marL="690881" lvl="1" indent="-345440" algn="just">
              <a:lnSpc>
                <a:spcPts val="5760"/>
              </a:lnSpc>
              <a:buFont typeface="Arial"/>
              <a:buChar char="•"/>
            </a:pPr>
            <a:r>
              <a:rPr lang="en-US" sz="3200">
                <a:solidFill>
                  <a:srgbClr val="000000"/>
                </a:solidFill>
                <a:latin typeface="Open Sans"/>
                <a:ea typeface="Open Sans"/>
                <a:cs typeface="Open Sans"/>
                <a:sym typeface="Open Sans"/>
              </a:rPr>
              <a:t>Enhanced Communication : Correctly used status codes allow clients (such as web applications) to handle responses appropriately, improving the application's overall flow.</a:t>
            </a:r>
          </a:p>
          <a:p>
            <a:pPr marL="690881" lvl="1" indent="-345440" algn="just">
              <a:lnSpc>
                <a:spcPts val="5760"/>
              </a:lnSpc>
              <a:buFont typeface="Arial"/>
              <a:buChar char="•"/>
            </a:pPr>
            <a:r>
              <a:rPr lang="en-US" sz="3200">
                <a:solidFill>
                  <a:srgbClr val="000000"/>
                </a:solidFill>
                <a:latin typeface="Open Sans"/>
                <a:ea typeface="Open Sans"/>
                <a:cs typeface="Open Sans"/>
                <a:sym typeface="Open Sans"/>
              </a:rPr>
              <a:t>Better Error Handling : When a client receives an accurate status code, it can display a more meaningful error message to the user, helping to identify issues faster.</a:t>
            </a:r>
          </a:p>
          <a:p>
            <a:pPr marL="690881" lvl="1" indent="-345440" algn="just">
              <a:lnSpc>
                <a:spcPts val="5760"/>
              </a:lnSpc>
              <a:buFont typeface="Arial"/>
              <a:buChar char="•"/>
            </a:pPr>
            <a:r>
              <a:rPr lang="en-US" sz="3200">
                <a:solidFill>
                  <a:srgbClr val="000000"/>
                </a:solidFill>
                <a:latin typeface="Open Sans"/>
                <a:ea typeface="Open Sans"/>
                <a:cs typeface="Open Sans"/>
                <a:sym typeface="Open Sans"/>
              </a:rPr>
              <a:t>Improved Security : Using clear status codes helps prevent clients from unknowingly retrying invalid requests, which could lead to potential security issues or server overload.</a:t>
            </a:r>
          </a:p>
        </p:txBody>
      </p:sp>
      <p:sp>
        <p:nvSpPr>
          <p:cNvPr id="4" name="Freeform 4"/>
          <p:cNvSpPr/>
          <p:nvPr/>
        </p:nvSpPr>
        <p:spPr>
          <a:xfrm>
            <a:off x="14087827" y="6086827"/>
            <a:ext cx="8400347" cy="8400347"/>
          </a:xfrm>
          <a:custGeom>
            <a:avLst/>
            <a:gdLst/>
            <a:ahLst/>
            <a:cxnLst/>
            <a:rect l="l" t="t" r="r" b="b"/>
            <a:pathLst>
              <a:path w="8400347" h="8400347">
                <a:moveTo>
                  <a:pt x="0" y="0"/>
                </a:moveTo>
                <a:lnTo>
                  <a:pt x="8400346" y="0"/>
                </a:lnTo>
                <a:lnTo>
                  <a:pt x="8400346" y="8400346"/>
                </a:lnTo>
                <a:lnTo>
                  <a:pt x="0" y="840034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5" name="Freeform 5"/>
          <p:cNvSpPr/>
          <p:nvPr/>
        </p:nvSpPr>
        <p:spPr>
          <a:xfrm>
            <a:off x="10583632" y="9146179"/>
            <a:ext cx="1761909" cy="112121"/>
          </a:xfrm>
          <a:custGeom>
            <a:avLst/>
            <a:gdLst/>
            <a:ahLst/>
            <a:cxnLst/>
            <a:rect l="l" t="t" r="r" b="b"/>
            <a:pathLst>
              <a:path w="1761909" h="112121">
                <a:moveTo>
                  <a:pt x="0" y="0"/>
                </a:moveTo>
                <a:lnTo>
                  <a:pt x="1761908" y="0"/>
                </a:lnTo>
                <a:lnTo>
                  <a:pt x="1761908" y="112121"/>
                </a:lnTo>
                <a:lnTo>
                  <a:pt x="0" y="1121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3171473" y="-3929123"/>
            <a:ext cx="8400347" cy="8400347"/>
          </a:xfrm>
          <a:custGeom>
            <a:avLst/>
            <a:gdLst/>
            <a:ahLst/>
            <a:cxnLst/>
            <a:rect l="l" t="t" r="r" b="b"/>
            <a:pathLst>
              <a:path w="8400347" h="8400347">
                <a:moveTo>
                  <a:pt x="0" y="0"/>
                </a:moveTo>
                <a:lnTo>
                  <a:pt x="8400346" y="0"/>
                </a:lnTo>
                <a:lnTo>
                  <a:pt x="8400346" y="8400347"/>
                </a:lnTo>
                <a:lnTo>
                  <a:pt x="0" y="840034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grpSp>
        <p:nvGrpSpPr>
          <p:cNvPr id="7" name="Group 7"/>
          <p:cNvGrpSpPr/>
          <p:nvPr/>
        </p:nvGrpSpPr>
        <p:grpSpPr>
          <a:xfrm>
            <a:off x="17149862" y="9258300"/>
            <a:ext cx="861105" cy="86110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37</a:t>
              </a: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Box 2"/>
          <p:cNvSpPr txBox="1"/>
          <p:nvPr/>
        </p:nvSpPr>
        <p:spPr>
          <a:xfrm>
            <a:off x="3208020" y="1047750"/>
            <a:ext cx="11871960" cy="586740"/>
          </a:xfrm>
          <a:prstGeom prst="rect">
            <a:avLst/>
          </a:prstGeom>
        </p:spPr>
        <p:txBody>
          <a:bodyPr lIns="0" tIns="0" rIns="0" bIns="0" rtlCol="0" anchor="t">
            <a:spAutoFit/>
          </a:bodyPr>
          <a:lstStyle/>
          <a:p>
            <a:pPr algn="l">
              <a:lnSpc>
                <a:spcPts val="4679"/>
              </a:lnSpc>
            </a:pPr>
            <a:r>
              <a:rPr lang="en-US" sz="3999" b="1">
                <a:solidFill>
                  <a:srgbClr val="856EE0"/>
                </a:solidFill>
                <a:latin typeface="Montserrat Bold"/>
                <a:ea typeface="Montserrat Bold"/>
                <a:cs typeface="Montserrat Bold"/>
                <a:sym typeface="Montserrat Bold"/>
              </a:rPr>
              <a:t>Importance of Using the Right Status Codes</a:t>
            </a:r>
          </a:p>
        </p:txBody>
      </p:sp>
      <p:sp>
        <p:nvSpPr>
          <p:cNvPr id="3" name="TextBox 3"/>
          <p:cNvSpPr txBox="1"/>
          <p:nvPr/>
        </p:nvSpPr>
        <p:spPr>
          <a:xfrm>
            <a:off x="1028700" y="2806065"/>
            <a:ext cx="16230600" cy="2832735"/>
          </a:xfrm>
          <a:prstGeom prst="rect">
            <a:avLst/>
          </a:prstGeom>
        </p:spPr>
        <p:txBody>
          <a:bodyPr lIns="0" tIns="0" rIns="0" bIns="0" rtlCol="0" anchor="t">
            <a:spAutoFit/>
          </a:bodyPr>
          <a:lstStyle/>
          <a:p>
            <a:pPr marL="690881" lvl="1" indent="-345440" algn="just">
              <a:lnSpc>
                <a:spcPts val="5760"/>
              </a:lnSpc>
              <a:buFont typeface="Arial"/>
              <a:buChar char="•"/>
            </a:pPr>
            <a:r>
              <a:rPr lang="en-US" sz="3200">
                <a:solidFill>
                  <a:srgbClr val="000000"/>
                </a:solidFill>
                <a:latin typeface="Open Sans"/>
                <a:ea typeface="Open Sans"/>
                <a:cs typeface="Open Sans"/>
                <a:sym typeface="Open Sans"/>
              </a:rPr>
              <a:t>Highlight the importance of selecting appropriate status codes for better communication, user experience, and efficient handling of requests. </a:t>
            </a:r>
          </a:p>
          <a:p>
            <a:pPr marL="690881" lvl="1" indent="-345440" algn="just">
              <a:lnSpc>
                <a:spcPts val="5760"/>
              </a:lnSpc>
              <a:buFont typeface="Arial"/>
              <a:buChar char="•"/>
            </a:pPr>
            <a:r>
              <a:rPr lang="en-US" sz="3200">
                <a:solidFill>
                  <a:srgbClr val="000000"/>
                </a:solidFill>
                <a:latin typeface="Open Sans"/>
                <a:ea typeface="Open Sans"/>
                <a:cs typeface="Open Sans"/>
                <a:sym typeface="Open Sans"/>
              </a:rPr>
              <a:t>Correct usage of HTTP status codes is foundational to building reliable, user-friendly, and robust APIs in RESTful architectures.</a:t>
            </a:r>
          </a:p>
        </p:txBody>
      </p:sp>
      <p:sp>
        <p:nvSpPr>
          <p:cNvPr id="4" name="Freeform 4"/>
          <p:cNvSpPr/>
          <p:nvPr/>
        </p:nvSpPr>
        <p:spPr>
          <a:xfrm>
            <a:off x="14087827" y="6086827"/>
            <a:ext cx="8400347" cy="8400347"/>
          </a:xfrm>
          <a:custGeom>
            <a:avLst/>
            <a:gdLst/>
            <a:ahLst/>
            <a:cxnLst/>
            <a:rect l="l" t="t" r="r" b="b"/>
            <a:pathLst>
              <a:path w="8400347" h="8400347">
                <a:moveTo>
                  <a:pt x="0" y="0"/>
                </a:moveTo>
                <a:lnTo>
                  <a:pt x="8400346" y="0"/>
                </a:lnTo>
                <a:lnTo>
                  <a:pt x="8400346" y="8400346"/>
                </a:lnTo>
                <a:lnTo>
                  <a:pt x="0" y="840034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5" name="Freeform 5"/>
          <p:cNvSpPr/>
          <p:nvPr/>
        </p:nvSpPr>
        <p:spPr>
          <a:xfrm>
            <a:off x="10583632" y="9146179"/>
            <a:ext cx="1761909" cy="112121"/>
          </a:xfrm>
          <a:custGeom>
            <a:avLst/>
            <a:gdLst/>
            <a:ahLst/>
            <a:cxnLst/>
            <a:rect l="l" t="t" r="r" b="b"/>
            <a:pathLst>
              <a:path w="1761909" h="112121">
                <a:moveTo>
                  <a:pt x="0" y="0"/>
                </a:moveTo>
                <a:lnTo>
                  <a:pt x="1761908" y="0"/>
                </a:lnTo>
                <a:lnTo>
                  <a:pt x="1761908" y="112121"/>
                </a:lnTo>
                <a:lnTo>
                  <a:pt x="0" y="1121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3171473" y="-3929123"/>
            <a:ext cx="8400347" cy="8400347"/>
          </a:xfrm>
          <a:custGeom>
            <a:avLst/>
            <a:gdLst/>
            <a:ahLst/>
            <a:cxnLst/>
            <a:rect l="l" t="t" r="r" b="b"/>
            <a:pathLst>
              <a:path w="8400347" h="8400347">
                <a:moveTo>
                  <a:pt x="0" y="0"/>
                </a:moveTo>
                <a:lnTo>
                  <a:pt x="8400346" y="0"/>
                </a:lnTo>
                <a:lnTo>
                  <a:pt x="8400346" y="8400347"/>
                </a:lnTo>
                <a:lnTo>
                  <a:pt x="0" y="840034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grpSp>
        <p:nvGrpSpPr>
          <p:cNvPr id="7" name="Group 7"/>
          <p:cNvGrpSpPr/>
          <p:nvPr/>
        </p:nvGrpSpPr>
        <p:grpSpPr>
          <a:xfrm>
            <a:off x="17149862" y="9258300"/>
            <a:ext cx="861105" cy="86110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38</a:t>
              </a: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Box 2"/>
          <p:cNvSpPr txBox="1"/>
          <p:nvPr/>
        </p:nvSpPr>
        <p:spPr>
          <a:xfrm>
            <a:off x="4206080" y="3825238"/>
            <a:ext cx="13804887" cy="2503173"/>
          </a:xfrm>
          <a:prstGeom prst="rect">
            <a:avLst/>
          </a:prstGeom>
        </p:spPr>
        <p:txBody>
          <a:bodyPr lIns="0" tIns="0" rIns="0" bIns="0" rtlCol="0" anchor="t">
            <a:spAutoFit/>
          </a:bodyPr>
          <a:lstStyle/>
          <a:p>
            <a:pPr algn="ctr">
              <a:lnSpc>
                <a:spcPts val="10079"/>
              </a:lnSpc>
              <a:spcBef>
                <a:spcPct val="0"/>
              </a:spcBef>
            </a:pPr>
            <a:r>
              <a:rPr lang="en-US" sz="7199" b="1">
                <a:solidFill>
                  <a:srgbClr val="26CBB8"/>
                </a:solidFill>
                <a:latin typeface="Montserrat Bold"/>
                <a:ea typeface="Montserrat Bold"/>
                <a:cs typeface="Montserrat Bold"/>
                <a:sym typeface="Montserrat Bold"/>
              </a:rPr>
              <a:t>7 - Difference between REST and SOAP</a:t>
            </a:r>
          </a:p>
        </p:txBody>
      </p:sp>
      <p:grpSp>
        <p:nvGrpSpPr>
          <p:cNvPr id="3" name="Group 3"/>
          <p:cNvGrpSpPr/>
          <p:nvPr/>
        </p:nvGrpSpPr>
        <p:grpSpPr>
          <a:xfrm>
            <a:off x="0" y="0"/>
            <a:ext cx="3724334" cy="10287000"/>
            <a:chOff x="0" y="0"/>
            <a:chExt cx="980895" cy="2709333"/>
          </a:xfrm>
        </p:grpSpPr>
        <p:sp>
          <p:nvSpPr>
            <p:cNvPr id="4" name="Freeform 4"/>
            <p:cNvSpPr/>
            <p:nvPr/>
          </p:nvSpPr>
          <p:spPr>
            <a:xfrm>
              <a:off x="0" y="0"/>
              <a:ext cx="980895" cy="2709333"/>
            </a:xfrm>
            <a:custGeom>
              <a:avLst/>
              <a:gdLst/>
              <a:ahLst/>
              <a:cxnLst/>
              <a:rect l="l" t="t" r="r" b="b"/>
              <a:pathLst>
                <a:path w="980895" h="2709333">
                  <a:moveTo>
                    <a:pt x="0" y="0"/>
                  </a:moveTo>
                  <a:lnTo>
                    <a:pt x="980895" y="0"/>
                  </a:lnTo>
                  <a:lnTo>
                    <a:pt x="980895" y="2709333"/>
                  </a:lnTo>
                  <a:lnTo>
                    <a:pt x="0" y="2709333"/>
                  </a:lnTo>
                  <a:close/>
                </a:path>
              </a:pathLst>
            </a:custGeom>
            <a:solidFill>
              <a:srgbClr val="856EE0"/>
            </a:solidFill>
          </p:spPr>
        </p:sp>
        <p:sp>
          <p:nvSpPr>
            <p:cNvPr id="5" name="TextBox 5"/>
            <p:cNvSpPr txBox="1"/>
            <p:nvPr/>
          </p:nvSpPr>
          <p:spPr>
            <a:xfrm>
              <a:off x="0" y="-38100"/>
              <a:ext cx="980895" cy="2747433"/>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4087827" y="6086827"/>
            <a:ext cx="8400347" cy="8400347"/>
          </a:xfrm>
          <a:custGeom>
            <a:avLst/>
            <a:gdLst/>
            <a:ahLst/>
            <a:cxnLst/>
            <a:rect l="l" t="t" r="r" b="b"/>
            <a:pathLst>
              <a:path w="8400347" h="8400347">
                <a:moveTo>
                  <a:pt x="0" y="0"/>
                </a:moveTo>
                <a:lnTo>
                  <a:pt x="8400346" y="0"/>
                </a:lnTo>
                <a:lnTo>
                  <a:pt x="8400346" y="8400346"/>
                </a:lnTo>
                <a:lnTo>
                  <a:pt x="0" y="840034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7" name="Freeform 7"/>
          <p:cNvSpPr/>
          <p:nvPr/>
        </p:nvSpPr>
        <p:spPr>
          <a:xfrm>
            <a:off x="1741169" y="-3878466"/>
            <a:ext cx="8400347" cy="8400347"/>
          </a:xfrm>
          <a:custGeom>
            <a:avLst/>
            <a:gdLst/>
            <a:ahLst/>
            <a:cxnLst/>
            <a:rect l="l" t="t" r="r" b="b"/>
            <a:pathLst>
              <a:path w="8400347" h="8400347">
                <a:moveTo>
                  <a:pt x="0" y="0"/>
                </a:moveTo>
                <a:lnTo>
                  <a:pt x="8400346" y="0"/>
                </a:lnTo>
                <a:lnTo>
                  <a:pt x="8400346" y="8400347"/>
                </a:lnTo>
                <a:lnTo>
                  <a:pt x="0" y="840034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8" name="Freeform 8"/>
          <p:cNvSpPr/>
          <p:nvPr/>
        </p:nvSpPr>
        <p:spPr>
          <a:xfrm>
            <a:off x="15466739" y="1028700"/>
            <a:ext cx="1761909" cy="112121"/>
          </a:xfrm>
          <a:custGeom>
            <a:avLst/>
            <a:gdLst/>
            <a:ahLst/>
            <a:cxnLst/>
            <a:rect l="l" t="t" r="r" b="b"/>
            <a:pathLst>
              <a:path w="1761909" h="112121">
                <a:moveTo>
                  <a:pt x="0" y="0"/>
                </a:moveTo>
                <a:lnTo>
                  <a:pt x="1761909" y="0"/>
                </a:lnTo>
                <a:lnTo>
                  <a:pt x="1761909" y="112121"/>
                </a:lnTo>
                <a:lnTo>
                  <a:pt x="0" y="1121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a:off x="10583632" y="9146179"/>
            <a:ext cx="1761909" cy="112121"/>
          </a:xfrm>
          <a:custGeom>
            <a:avLst/>
            <a:gdLst/>
            <a:ahLst/>
            <a:cxnLst/>
            <a:rect l="l" t="t" r="r" b="b"/>
            <a:pathLst>
              <a:path w="1761909" h="112121">
                <a:moveTo>
                  <a:pt x="0" y="0"/>
                </a:moveTo>
                <a:lnTo>
                  <a:pt x="1761908" y="0"/>
                </a:lnTo>
                <a:lnTo>
                  <a:pt x="1761908" y="112121"/>
                </a:lnTo>
                <a:lnTo>
                  <a:pt x="0" y="1121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0" name="Group 10"/>
          <p:cNvGrpSpPr/>
          <p:nvPr/>
        </p:nvGrpSpPr>
        <p:grpSpPr>
          <a:xfrm>
            <a:off x="17149862" y="9258300"/>
            <a:ext cx="861105" cy="861105"/>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12" name="TextBox 12"/>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39</a:t>
              </a: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Box 2"/>
          <p:cNvSpPr txBox="1"/>
          <p:nvPr/>
        </p:nvSpPr>
        <p:spPr>
          <a:xfrm>
            <a:off x="3835517" y="3107932"/>
            <a:ext cx="1381959" cy="806831"/>
          </a:xfrm>
          <a:prstGeom prst="rect">
            <a:avLst/>
          </a:prstGeom>
        </p:spPr>
        <p:txBody>
          <a:bodyPr lIns="0" tIns="0" rIns="0" bIns="0" rtlCol="0" anchor="t">
            <a:spAutoFit/>
          </a:bodyPr>
          <a:lstStyle/>
          <a:p>
            <a:pPr algn="just">
              <a:lnSpc>
                <a:spcPts val="5841"/>
              </a:lnSpc>
              <a:spcBef>
                <a:spcPct val="0"/>
              </a:spcBef>
            </a:pPr>
            <a:r>
              <a:rPr lang="en-US" sz="4599" b="1">
                <a:solidFill>
                  <a:srgbClr val="26CBB8"/>
                </a:solidFill>
                <a:latin typeface="Codec Pro Bold"/>
                <a:ea typeface="Codec Pro Bold"/>
                <a:cs typeface="Codec Pro Bold"/>
                <a:sym typeface="Codec Pro Bold"/>
              </a:rPr>
              <a:t>REST</a:t>
            </a:r>
          </a:p>
        </p:txBody>
      </p:sp>
      <p:sp>
        <p:nvSpPr>
          <p:cNvPr id="3" name="TextBox 3"/>
          <p:cNvSpPr txBox="1"/>
          <p:nvPr/>
        </p:nvSpPr>
        <p:spPr>
          <a:xfrm>
            <a:off x="12982537" y="3107932"/>
            <a:ext cx="1557933" cy="806831"/>
          </a:xfrm>
          <a:prstGeom prst="rect">
            <a:avLst/>
          </a:prstGeom>
        </p:spPr>
        <p:txBody>
          <a:bodyPr lIns="0" tIns="0" rIns="0" bIns="0" rtlCol="0" anchor="t">
            <a:spAutoFit/>
          </a:bodyPr>
          <a:lstStyle/>
          <a:p>
            <a:pPr algn="just">
              <a:lnSpc>
                <a:spcPts val="5841"/>
              </a:lnSpc>
              <a:spcBef>
                <a:spcPct val="0"/>
              </a:spcBef>
            </a:pPr>
            <a:r>
              <a:rPr lang="en-US" sz="4599" b="1">
                <a:solidFill>
                  <a:srgbClr val="26CBB8"/>
                </a:solidFill>
                <a:latin typeface="Codec Pro Bold"/>
                <a:ea typeface="Codec Pro Bold"/>
                <a:cs typeface="Codec Pro Bold"/>
                <a:sym typeface="Codec Pro Bold"/>
              </a:rPr>
              <a:t>SOAP</a:t>
            </a:r>
          </a:p>
        </p:txBody>
      </p:sp>
      <p:sp>
        <p:nvSpPr>
          <p:cNvPr id="4" name="TextBox 4"/>
          <p:cNvSpPr txBox="1"/>
          <p:nvPr/>
        </p:nvSpPr>
        <p:spPr>
          <a:xfrm>
            <a:off x="516003" y="4692046"/>
            <a:ext cx="8020986" cy="2832735"/>
          </a:xfrm>
          <a:prstGeom prst="rect">
            <a:avLst/>
          </a:prstGeom>
        </p:spPr>
        <p:txBody>
          <a:bodyPr lIns="0" tIns="0" rIns="0" bIns="0" rtlCol="0" anchor="t">
            <a:spAutoFit/>
          </a:bodyPr>
          <a:lstStyle/>
          <a:p>
            <a:pPr algn="ctr">
              <a:lnSpc>
                <a:spcPts val="5760"/>
              </a:lnSpc>
            </a:pPr>
            <a:r>
              <a:rPr lang="en-US" sz="3200" b="1">
                <a:solidFill>
                  <a:srgbClr val="000000"/>
                </a:solidFill>
                <a:latin typeface="Open Sans Bold"/>
                <a:ea typeface="Open Sans Bold"/>
                <a:cs typeface="Open Sans Bold"/>
                <a:sym typeface="Open Sans Bold"/>
              </a:rPr>
              <a:t>REST (Representational State Transfer)</a:t>
            </a:r>
            <a:r>
              <a:rPr lang="en-US" sz="3200">
                <a:solidFill>
                  <a:srgbClr val="000000"/>
                </a:solidFill>
                <a:latin typeface="Open Sans"/>
                <a:ea typeface="Open Sans"/>
                <a:cs typeface="Open Sans"/>
                <a:sym typeface="Open Sans"/>
              </a:rPr>
              <a:t> An architectural style for designing networked applications using stateless communication, primarily via HTTP.</a:t>
            </a:r>
          </a:p>
        </p:txBody>
      </p:sp>
      <p:sp>
        <p:nvSpPr>
          <p:cNvPr id="5" name="TextBox 5"/>
          <p:cNvSpPr txBox="1"/>
          <p:nvPr/>
        </p:nvSpPr>
        <p:spPr>
          <a:xfrm>
            <a:off x="9751011" y="4692046"/>
            <a:ext cx="8020986" cy="2832735"/>
          </a:xfrm>
          <a:prstGeom prst="rect">
            <a:avLst/>
          </a:prstGeom>
        </p:spPr>
        <p:txBody>
          <a:bodyPr lIns="0" tIns="0" rIns="0" bIns="0" rtlCol="0" anchor="t">
            <a:spAutoFit/>
          </a:bodyPr>
          <a:lstStyle/>
          <a:p>
            <a:pPr algn="ctr">
              <a:lnSpc>
                <a:spcPts val="5760"/>
              </a:lnSpc>
            </a:pPr>
            <a:r>
              <a:rPr lang="en-US" sz="3200" b="1">
                <a:solidFill>
                  <a:srgbClr val="000000"/>
                </a:solidFill>
                <a:latin typeface="Open Sans Bold"/>
                <a:ea typeface="Open Sans Bold"/>
                <a:cs typeface="Open Sans Bold"/>
                <a:sym typeface="Open Sans Bold"/>
              </a:rPr>
              <a:t>SOAP (Simple Object Access Protocol)</a:t>
            </a:r>
          </a:p>
          <a:p>
            <a:pPr algn="ctr">
              <a:lnSpc>
                <a:spcPts val="5760"/>
              </a:lnSpc>
            </a:pPr>
            <a:r>
              <a:rPr lang="en-US" sz="3200">
                <a:solidFill>
                  <a:srgbClr val="000000"/>
                </a:solidFill>
                <a:latin typeface="Open Sans"/>
                <a:ea typeface="Open Sans"/>
                <a:cs typeface="Open Sans"/>
                <a:sym typeface="Open Sans"/>
              </a:rPr>
              <a:t>A protocol for exchanging structured information in a platform-independent way, using XML as its message format.</a:t>
            </a:r>
          </a:p>
        </p:txBody>
      </p:sp>
      <p:sp>
        <p:nvSpPr>
          <p:cNvPr id="6" name="TextBox 6"/>
          <p:cNvSpPr txBox="1"/>
          <p:nvPr/>
        </p:nvSpPr>
        <p:spPr>
          <a:xfrm>
            <a:off x="7634531" y="2057140"/>
            <a:ext cx="2728555" cy="806831"/>
          </a:xfrm>
          <a:prstGeom prst="rect">
            <a:avLst/>
          </a:prstGeom>
        </p:spPr>
        <p:txBody>
          <a:bodyPr lIns="0" tIns="0" rIns="0" bIns="0" rtlCol="0" anchor="t">
            <a:spAutoFit/>
          </a:bodyPr>
          <a:lstStyle/>
          <a:p>
            <a:pPr algn="just">
              <a:lnSpc>
                <a:spcPts val="5841"/>
              </a:lnSpc>
              <a:spcBef>
                <a:spcPct val="0"/>
              </a:spcBef>
            </a:pPr>
            <a:r>
              <a:rPr lang="en-US" sz="4599" b="1">
                <a:solidFill>
                  <a:srgbClr val="26CBB8"/>
                </a:solidFill>
                <a:latin typeface="Codec Pro Bold"/>
                <a:ea typeface="Codec Pro Bold"/>
                <a:cs typeface="Codec Pro Bold"/>
                <a:sym typeface="Codec Pro Bold"/>
              </a:rPr>
              <a:t>Definition</a:t>
            </a:r>
          </a:p>
        </p:txBody>
      </p:sp>
      <p:sp>
        <p:nvSpPr>
          <p:cNvPr id="7" name="TextBox 7"/>
          <p:cNvSpPr txBox="1"/>
          <p:nvPr/>
        </p:nvSpPr>
        <p:spPr>
          <a:xfrm>
            <a:off x="1979597" y="1047750"/>
            <a:ext cx="14328807" cy="586740"/>
          </a:xfrm>
          <a:prstGeom prst="rect">
            <a:avLst/>
          </a:prstGeom>
        </p:spPr>
        <p:txBody>
          <a:bodyPr lIns="0" tIns="0" rIns="0" bIns="0" rtlCol="0" anchor="t">
            <a:spAutoFit/>
          </a:bodyPr>
          <a:lstStyle/>
          <a:p>
            <a:pPr algn="l">
              <a:lnSpc>
                <a:spcPts val="4679"/>
              </a:lnSpc>
            </a:pPr>
            <a:r>
              <a:rPr lang="en-US" sz="3999" b="1">
                <a:solidFill>
                  <a:srgbClr val="856EE0"/>
                </a:solidFill>
                <a:latin typeface="Montserrat Bold"/>
                <a:ea typeface="Montserrat Bold"/>
                <a:cs typeface="Montserrat Bold"/>
                <a:sym typeface="Montserrat Bold"/>
              </a:rPr>
              <a:t>Differences and Similarities between REST and SOAP</a:t>
            </a:r>
          </a:p>
        </p:txBody>
      </p:sp>
      <p:sp>
        <p:nvSpPr>
          <p:cNvPr id="8" name="Freeform 8"/>
          <p:cNvSpPr/>
          <p:nvPr/>
        </p:nvSpPr>
        <p:spPr>
          <a:xfrm>
            <a:off x="9042802" y="3222232"/>
            <a:ext cx="202396" cy="7951259"/>
          </a:xfrm>
          <a:custGeom>
            <a:avLst/>
            <a:gdLst/>
            <a:ahLst/>
            <a:cxnLst/>
            <a:rect l="l" t="t" r="r" b="b"/>
            <a:pathLst>
              <a:path w="202396" h="7951259">
                <a:moveTo>
                  <a:pt x="0" y="0"/>
                </a:moveTo>
                <a:lnTo>
                  <a:pt x="202396" y="0"/>
                </a:lnTo>
                <a:lnTo>
                  <a:pt x="202396" y="7951259"/>
                </a:lnTo>
                <a:lnTo>
                  <a:pt x="0" y="79512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14087827" y="6086827"/>
            <a:ext cx="8400347" cy="8400347"/>
          </a:xfrm>
          <a:custGeom>
            <a:avLst/>
            <a:gdLst/>
            <a:ahLst/>
            <a:cxnLst/>
            <a:rect l="l" t="t" r="r" b="b"/>
            <a:pathLst>
              <a:path w="8400347" h="8400347">
                <a:moveTo>
                  <a:pt x="0" y="0"/>
                </a:moveTo>
                <a:lnTo>
                  <a:pt x="8400346" y="0"/>
                </a:lnTo>
                <a:lnTo>
                  <a:pt x="8400346" y="8400346"/>
                </a:lnTo>
                <a:lnTo>
                  <a:pt x="0" y="8400346"/>
                </a:lnTo>
                <a:lnTo>
                  <a:pt x="0" y="0"/>
                </a:lnTo>
                <a:close/>
              </a:path>
            </a:pathLst>
          </a:custGeom>
          <a:blipFill>
            <a:blip r:embed="rId4">
              <a:alphaModFix amt="9999"/>
              <a:extLst>
                <a:ext uri="{96DAC541-7B7A-43D3-8B79-37D633B846F1}">
                  <asvg:svgBlip xmlns:asvg="http://schemas.microsoft.com/office/drawing/2016/SVG/main" r:embed="rId5"/>
                </a:ext>
              </a:extLst>
            </a:blip>
            <a:stretch>
              <a:fillRect/>
            </a:stretch>
          </a:blipFill>
        </p:spPr>
      </p:sp>
      <p:grpSp>
        <p:nvGrpSpPr>
          <p:cNvPr id="10" name="Group 10"/>
          <p:cNvGrpSpPr/>
          <p:nvPr/>
        </p:nvGrpSpPr>
        <p:grpSpPr>
          <a:xfrm>
            <a:off x="17149862" y="9258300"/>
            <a:ext cx="861105" cy="861105"/>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12" name="TextBox 12"/>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40</a:t>
              </a: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Box 2"/>
          <p:cNvSpPr txBox="1"/>
          <p:nvPr/>
        </p:nvSpPr>
        <p:spPr>
          <a:xfrm>
            <a:off x="3835517" y="3107932"/>
            <a:ext cx="1381959" cy="806831"/>
          </a:xfrm>
          <a:prstGeom prst="rect">
            <a:avLst/>
          </a:prstGeom>
        </p:spPr>
        <p:txBody>
          <a:bodyPr lIns="0" tIns="0" rIns="0" bIns="0" rtlCol="0" anchor="t">
            <a:spAutoFit/>
          </a:bodyPr>
          <a:lstStyle/>
          <a:p>
            <a:pPr algn="just">
              <a:lnSpc>
                <a:spcPts val="5841"/>
              </a:lnSpc>
              <a:spcBef>
                <a:spcPct val="0"/>
              </a:spcBef>
            </a:pPr>
            <a:r>
              <a:rPr lang="en-US" sz="4599" b="1">
                <a:solidFill>
                  <a:srgbClr val="26CBB8"/>
                </a:solidFill>
                <a:latin typeface="Codec Pro Bold"/>
                <a:ea typeface="Codec Pro Bold"/>
                <a:cs typeface="Codec Pro Bold"/>
                <a:sym typeface="Codec Pro Bold"/>
              </a:rPr>
              <a:t>REST</a:t>
            </a:r>
          </a:p>
        </p:txBody>
      </p:sp>
      <p:sp>
        <p:nvSpPr>
          <p:cNvPr id="3" name="TextBox 3"/>
          <p:cNvSpPr txBox="1"/>
          <p:nvPr/>
        </p:nvSpPr>
        <p:spPr>
          <a:xfrm>
            <a:off x="12982537" y="3107932"/>
            <a:ext cx="1557933" cy="806831"/>
          </a:xfrm>
          <a:prstGeom prst="rect">
            <a:avLst/>
          </a:prstGeom>
        </p:spPr>
        <p:txBody>
          <a:bodyPr lIns="0" tIns="0" rIns="0" bIns="0" rtlCol="0" anchor="t">
            <a:spAutoFit/>
          </a:bodyPr>
          <a:lstStyle/>
          <a:p>
            <a:pPr algn="just">
              <a:lnSpc>
                <a:spcPts val="5841"/>
              </a:lnSpc>
              <a:spcBef>
                <a:spcPct val="0"/>
              </a:spcBef>
            </a:pPr>
            <a:r>
              <a:rPr lang="en-US" sz="4599" b="1">
                <a:solidFill>
                  <a:srgbClr val="26CBB8"/>
                </a:solidFill>
                <a:latin typeface="Codec Pro Bold"/>
                <a:ea typeface="Codec Pro Bold"/>
                <a:cs typeface="Codec Pro Bold"/>
                <a:sym typeface="Codec Pro Bold"/>
              </a:rPr>
              <a:t>SOAP</a:t>
            </a:r>
          </a:p>
        </p:txBody>
      </p:sp>
      <p:sp>
        <p:nvSpPr>
          <p:cNvPr id="4" name="TextBox 4"/>
          <p:cNvSpPr txBox="1"/>
          <p:nvPr/>
        </p:nvSpPr>
        <p:spPr>
          <a:xfrm>
            <a:off x="516003" y="4692046"/>
            <a:ext cx="8020986" cy="1384935"/>
          </a:xfrm>
          <a:prstGeom prst="rect">
            <a:avLst/>
          </a:prstGeom>
        </p:spPr>
        <p:txBody>
          <a:bodyPr lIns="0" tIns="0" rIns="0" bIns="0" rtlCol="0" anchor="t">
            <a:spAutoFit/>
          </a:bodyPr>
          <a:lstStyle/>
          <a:p>
            <a:pPr algn="ctr">
              <a:lnSpc>
                <a:spcPts val="5760"/>
              </a:lnSpc>
            </a:pPr>
            <a:r>
              <a:rPr lang="en-US" sz="3200" b="1">
                <a:solidFill>
                  <a:srgbClr val="000000"/>
                </a:solidFill>
                <a:latin typeface="Open Sans Bold"/>
                <a:ea typeface="Open Sans Bold"/>
                <a:cs typeface="Open Sans Bold"/>
                <a:sym typeface="Open Sans Bold"/>
              </a:rPr>
              <a:t>REST </a:t>
            </a:r>
            <a:r>
              <a:rPr lang="en-US" sz="3200">
                <a:solidFill>
                  <a:srgbClr val="000000"/>
                </a:solidFill>
                <a:latin typeface="Open Sans"/>
                <a:ea typeface="Open Sans"/>
                <a:cs typeface="Open Sans"/>
                <a:sym typeface="Open Sans"/>
              </a:rPr>
              <a:t>typically uses JSON (but also supports XML, plain text, etc.)</a:t>
            </a:r>
          </a:p>
        </p:txBody>
      </p:sp>
      <p:sp>
        <p:nvSpPr>
          <p:cNvPr id="5" name="TextBox 5"/>
          <p:cNvSpPr txBox="1"/>
          <p:nvPr/>
        </p:nvSpPr>
        <p:spPr>
          <a:xfrm>
            <a:off x="9751011" y="4692046"/>
            <a:ext cx="8020986" cy="661035"/>
          </a:xfrm>
          <a:prstGeom prst="rect">
            <a:avLst/>
          </a:prstGeom>
        </p:spPr>
        <p:txBody>
          <a:bodyPr lIns="0" tIns="0" rIns="0" bIns="0" rtlCol="0" anchor="t">
            <a:spAutoFit/>
          </a:bodyPr>
          <a:lstStyle/>
          <a:p>
            <a:pPr algn="ctr">
              <a:lnSpc>
                <a:spcPts val="5760"/>
              </a:lnSpc>
            </a:pPr>
            <a:r>
              <a:rPr lang="en-US" sz="3200" b="1">
                <a:solidFill>
                  <a:srgbClr val="000000"/>
                </a:solidFill>
                <a:latin typeface="Open Sans Bold"/>
                <a:ea typeface="Open Sans Bold"/>
                <a:cs typeface="Open Sans Bold"/>
                <a:sym typeface="Open Sans Bold"/>
              </a:rPr>
              <a:t>SOAP </a:t>
            </a:r>
            <a:r>
              <a:rPr lang="en-US" sz="3200">
                <a:solidFill>
                  <a:srgbClr val="000000"/>
                </a:solidFill>
                <a:latin typeface="Open Sans"/>
                <a:ea typeface="Open Sans"/>
                <a:cs typeface="Open Sans"/>
                <a:sym typeface="Open Sans"/>
              </a:rPr>
              <a:t>uses XML exclusively</a:t>
            </a:r>
          </a:p>
        </p:txBody>
      </p:sp>
      <p:sp>
        <p:nvSpPr>
          <p:cNvPr id="6" name="TextBox 6"/>
          <p:cNvSpPr txBox="1"/>
          <p:nvPr/>
        </p:nvSpPr>
        <p:spPr>
          <a:xfrm>
            <a:off x="7346573" y="2057140"/>
            <a:ext cx="3594854" cy="806831"/>
          </a:xfrm>
          <a:prstGeom prst="rect">
            <a:avLst/>
          </a:prstGeom>
        </p:spPr>
        <p:txBody>
          <a:bodyPr lIns="0" tIns="0" rIns="0" bIns="0" rtlCol="0" anchor="t">
            <a:spAutoFit/>
          </a:bodyPr>
          <a:lstStyle/>
          <a:p>
            <a:pPr algn="just">
              <a:lnSpc>
                <a:spcPts val="5841"/>
              </a:lnSpc>
              <a:spcBef>
                <a:spcPct val="0"/>
              </a:spcBef>
            </a:pPr>
            <a:r>
              <a:rPr lang="en-US" sz="4599" b="1">
                <a:solidFill>
                  <a:srgbClr val="26CBB8"/>
                </a:solidFill>
                <a:latin typeface="Codec Pro Bold"/>
                <a:ea typeface="Codec Pro Bold"/>
                <a:cs typeface="Codec Pro Bold"/>
                <a:sym typeface="Codec Pro Bold"/>
              </a:rPr>
              <a:t>Data Format</a:t>
            </a:r>
          </a:p>
        </p:txBody>
      </p:sp>
      <p:sp>
        <p:nvSpPr>
          <p:cNvPr id="7" name="TextBox 7"/>
          <p:cNvSpPr txBox="1"/>
          <p:nvPr/>
        </p:nvSpPr>
        <p:spPr>
          <a:xfrm>
            <a:off x="1979597" y="1047750"/>
            <a:ext cx="14328807" cy="586740"/>
          </a:xfrm>
          <a:prstGeom prst="rect">
            <a:avLst/>
          </a:prstGeom>
        </p:spPr>
        <p:txBody>
          <a:bodyPr lIns="0" tIns="0" rIns="0" bIns="0" rtlCol="0" anchor="t">
            <a:spAutoFit/>
          </a:bodyPr>
          <a:lstStyle/>
          <a:p>
            <a:pPr algn="l">
              <a:lnSpc>
                <a:spcPts val="4679"/>
              </a:lnSpc>
            </a:pPr>
            <a:r>
              <a:rPr lang="en-US" sz="3999" b="1">
                <a:solidFill>
                  <a:srgbClr val="856EE0"/>
                </a:solidFill>
                <a:latin typeface="Montserrat Bold"/>
                <a:ea typeface="Montserrat Bold"/>
                <a:cs typeface="Montserrat Bold"/>
                <a:sym typeface="Montserrat Bold"/>
              </a:rPr>
              <a:t>Differences and Similarities between REST and SOAP</a:t>
            </a:r>
          </a:p>
        </p:txBody>
      </p:sp>
      <p:sp>
        <p:nvSpPr>
          <p:cNvPr id="8" name="Freeform 8"/>
          <p:cNvSpPr/>
          <p:nvPr/>
        </p:nvSpPr>
        <p:spPr>
          <a:xfrm>
            <a:off x="9042802" y="3222232"/>
            <a:ext cx="202396" cy="7951259"/>
          </a:xfrm>
          <a:custGeom>
            <a:avLst/>
            <a:gdLst/>
            <a:ahLst/>
            <a:cxnLst/>
            <a:rect l="l" t="t" r="r" b="b"/>
            <a:pathLst>
              <a:path w="202396" h="7951259">
                <a:moveTo>
                  <a:pt x="0" y="0"/>
                </a:moveTo>
                <a:lnTo>
                  <a:pt x="202396" y="0"/>
                </a:lnTo>
                <a:lnTo>
                  <a:pt x="202396" y="7951259"/>
                </a:lnTo>
                <a:lnTo>
                  <a:pt x="0" y="79512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14087827" y="6086827"/>
            <a:ext cx="8400347" cy="8400347"/>
          </a:xfrm>
          <a:custGeom>
            <a:avLst/>
            <a:gdLst/>
            <a:ahLst/>
            <a:cxnLst/>
            <a:rect l="l" t="t" r="r" b="b"/>
            <a:pathLst>
              <a:path w="8400347" h="8400347">
                <a:moveTo>
                  <a:pt x="0" y="0"/>
                </a:moveTo>
                <a:lnTo>
                  <a:pt x="8400346" y="0"/>
                </a:lnTo>
                <a:lnTo>
                  <a:pt x="8400346" y="8400346"/>
                </a:lnTo>
                <a:lnTo>
                  <a:pt x="0" y="8400346"/>
                </a:lnTo>
                <a:lnTo>
                  <a:pt x="0" y="0"/>
                </a:lnTo>
                <a:close/>
              </a:path>
            </a:pathLst>
          </a:custGeom>
          <a:blipFill>
            <a:blip r:embed="rId4">
              <a:alphaModFix amt="9999"/>
              <a:extLst>
                <a:ext uri="{96DAC541-7B7A-43D3-8B79-37D633B846F1}">
                  <asvg:svgBlip xmlns:asvg="http://schemas.microsoft.com/office/drawing/2016/SVG/main" r:embed="rId5"/>
                </a:ext>
              </a:extLst>
            </a:blip>
            <a:stretch>
              <a:fillRect/>
            </a:stretch>
          </a:blipFill>
        </p:spPr>
      </p:sp>
      <p:grpSp>
        <p:nvGrpSpPr>
          <p:cNvPr id="10" name="Group 10"/>
          <p:cNvGrpSpPr/>
          <p:nvPr/>
        </p:nvGrpSpPr>
        <p:grpSpPr>
          <a:xfrm>
            <a:off x="17149862" y="9258300"/>
            <a:ext cx="861105" cy="861105"/>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12" name="TextBox 12"/>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41</a:t>
              </a:r>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Box 2"/>
          <p:cNvSpPr txBox="1"/>
          <p:nvPr/>
        </p:nvSpPr>
        <p:spPr>
          <a:xfrm>
            <a:off x="3835517" y="3107932"/>
            <a:ext cx="1381959" cy="806831"/>
          </a:xfrm>
          <a:prstGeom prst="rect">
            <a:avLst/>
          </a:prstGeom>
        </p:spPr>
        <p:txBody>
          <a:bodyPr lIns="0" tIns="0" rIns="0" bIns="0" rtlCol="0" anchor="t">
            <a:spAutoFit/>
          </a:bodyPr>
          <a:lstStyle/>
          <a:p>
            <a:pPr algn="just">
              <a:lnSpc>
                <a:spcPts val="5841"/>
              </a:lnSpc>
              <a:spcBef>
                <a:spcPct val="0"/>
              </a:spcBef>
            </a:pPr>
            <a:r>
              <a:rPr lang="en-US" sz="4599" b="1">
                <a:solidFill>
                  <a:srgbClr val="26CBB8"/>
                </a:solidFill>
                <a:latin typeface="Codec Pro Bold"/>
                <a:ea typeface="Codec Pro Bold"/>
                <a:cs typeface="Codec Pro Bold"/>
                <a:sym typeface="Codec Pro Bold"/>
              </a:rPr>
              <a:t>REST</a:t>
            </a:r>
          </a:p>
        </p:txBody>
      </p:sp>
      <p:sp>
        <p:nvSpPr>
          <p:cNvPr id="3" name="TextBox 3"/>
          <p:cNvSpPr txBox="1"/>
          <p:nvPr/>
        </p:nvSpPr>
        <p:spPr>
          <a:xfrm>
            <a:off x="12982537" y="3107932"/>
            <a:ext cx="1557933" cy="806831"/>
          </a:xfrm>
          <a:prstGeom prst="rect">
            <a:avLst/>
          </a:prstGeom>
        </p:spPr>
        <p:txBody>
          <a:bodyPr lIns="0" tIns="0" rIns="0" bIns="0" rtlCol="0" anchor="t">
            <a:spAutoFit/>
          </a:bodyPr>
          <a:lstStyle/>
          <a:p>
            <a:pPr algn="just">
              <a:lnSpc>
                <a:spcPts val="5841"/>
              </a:lnSpc>
              <a:spcBef>
                <a:spcPct val="0"/>
              </a:spcBef>
            </a:pPr>
            <a:r>
              <a:rPr lang="en-US" sz="4599" b="1">
                <a:solidFill>
                  <a:srgbClr val="26CBB8"/>
                </a:solidFill>
                <a:latin typeface="Codec Pro Bold"/>
                <a:ea typeface="Codec Pro Bold"/>
                <a:cs typeface="Codec Pro Bold"/>
                <a:sym typeface="Codec Pro Bold"/>
              </a:rPr>
              <a:t>SOAP</a:t>
            </a:r>
          </a:p>
        </p:txBody>
      </p:sp>
      <p:sp>
        <p:nvSpPr>
          <p:cNvPr id="4" name="TextBox 4"/>
          <p:cNvSpPr txBox="1"/>
          <p:nvPr/>
        </p:nvSpPr>
        <p:spPr>
          <a:xfrm>
            <a:off x="516003" y="4692046"/>
            <a:ext cx="8020986" cy="2832735"/>
          </a:xfrm>
          <a:prstGeom prst="rect">
            <a:avLst/>
          </a:prstGeom>
        </p:spPr>
        <p:txBody>
          <a:bodyPr lIns="0" tIns="0" rIns="0" bIns="0" rtlCol="0" anchor="t">
            <a:spAutoFit/>
          </a:bodyPr>
          <a:lstStyle/>
          <a:p>
            <a:pPr algn="ctr">
              <a:lnSpc>
                <a:spcPts val="5760"/>
              </a:lnSpc>
            </a:pPr>
            <a:r>
              <a:rPr lang="en-US" sz="3200" b="1">
                <a:solidFill>
                  <a:srgbClr val="000000"/>
                </a:solidFill>
                <a:latin typeface="Open Sans Bold"/>
                <a:ea typeface="Open Sans Bold"/>
                <a:cs typeface="Open Sans Bold"/>
                <a:sym typeface="Open Sans Bold"/>
              </a:rPr>
              <a:t>REST </a:t>
            </a:r>
            <a:r>
              <a:rPr lang="en-US" sz="3200">
                <a:solidFill>
                  <a:srgbClr val="000000"/>
                </a:solidFill>
                <a:latin typeface="Open Sans"/>
                <a:ea typeface="Open Sans"/>
                <a:cs typeface="Open Sans"/>
                <a:sym typeface="Open Sans"/>
              </a:rPr>
              <a:t>is stateless, meaning each request from a client to server must contain all information needed to understand and process the request</a:t>
            </a:r>
          </a:p>
        </p:txBody>
      </p:sp>
      <p:sp>
        <p:nvSpPr>
          <p:cNvPr id="5" name="TextBox 5"/>
          <p:cNvSpPr txBox="1"/>
          <p:nvPr/>
        </p:nvSpPr>
        <p:spPr>
          <a:xfrm>
            <a:off x="9751011" y="4692046"/>
            <a:ext cx="8020986" cy="2108835"/>
          </a:xfrm>
          <a:prstGeom prst="rect">
            <a:avLst/>
          </a:prstGeom>
        </p:spPr>
        <p:txBody>
          <a:bodyPr lIns="0" tIns="0" rIns="0" bIns="0" rtlCol="0" anchor="t">
            <a:spAutoFit/>
          </a:bodyPr>
          <a:lstStyle/>
          <a:p>
            <a:pPr algn="ctr">
              <a:lnSpc>
                <a:spcPts val="5760"/>
              </a:lnSpc>
            </a:pPr>
            <a:r>
              <a:rPr lang="en-US" sz="3200" b="1">
                <a:solidFill>
                  <a:srgbClr val="000000"/>
                </a:solidFill>
                <a:latin typeface="Open Sans Bold"/>
                <a:ea typeface="Open Sans Bold"/>
                <a:cs typeface="Open Sans Bold"/>
                <a:sym typeface="Open Sans Bold"/>
              </a:rPr>
              <a:t>SOAP </a:t>
            </a:r>
            <a:r>
              <a:rPr lang="en-US" sz="3200">
                <a:solidFill>
                  <a:srgbClr val="000000"/>
                </a:solidFill>
                <a:latin typeface="Open Sans"/>
                <a:ea typeface="Open Sans"/>
                <a:cs typeface="Open Sans"/>
                <a:sym typeface="Open Sans"/>
              </a:rPr>
              <a:t>can be stateful ( maintaining sessions in specific cases), though it’s also commonly stateless</a:t>
            </a:r>
          </a:p>
        </p:txBody>
      </p:sp>
      <p:sp>
        <p:nvSpPr>
          <p:cNvPr id="6" name="TextBox 6"/>
          <p:cNvSpPr txBox="1"/>
          <p:nvPr/>
        </p:nvSpPr>
        <p:spPr>
          <a:xfrm>
            <a:off x="6072426" y="2057140"/>
            <a:ext cx="6055162" cy="806831"/>
          </a:xfrm>
          <a:prstGeom prst="rect">
            <a:avLst/>
          </a:prstGeom>
        </p:spPr>
        <p:txBody>
          <a:bodyPr lIns="0" tIns="0" rIns="0" bIns="0" rtlCol="0" anchor="t">
            <a:spAutoFit/>
          </a:bodyPr>
          <a:lstStyle/>
          <a:p>
            <a:pPr algn="just">
              <a:lnSpc>
                <a:spcPts val="5841"/>
              </a:lnSpc>
              <a:spcBef>
                <a:spcPct val="0"/>
              </a:spcBef>
            </a:pPr>
            <a:r>
              <a:rPr lang="en-US" sz="4599" b="1">
                <a:solidFill>
                  <a:srgbClr val="26CBB8"/>
                </a:solidFill>
                <a:latin typeface="Codec Pro Bold"/>
                <a:ea typeface="Codec Pro Bold"/>
                <a:cs typeface="Codec Pro Bold"/>
                <a:sym typeface="Codec Pro Bold"/>
              </a:rPr>
              <a:t>Communication Style</a:t>
            </a:r>
          </a:p>
        </p:txBody>
      </p:sp>
      <p:sp>
        <p:nvSpPr>
          <p:cNvPr id="7" name="TextBox 7"/>
          <p:cNvSpPr txBox="1"/>
          <p:nvPr/>
        </p:nvSpPr>
        <p:spPr>
          <a:xfrm>
            <a:off x="1979597" y="1047750"/>
            <a:ext cx="14328807" cy="586740"/>
          </a:xfrm>
          <a:prstGeom prst="rect">
            <a:avLst/>
          </a:prstGeom>
        </p:spPr>
        <p:txBody>
          <a:bodyPr lIns="0" tIns="0" rIns="0" bIns="0" rtlCol="0" anchor="t">
            <a:spAutoFit/>
          </a:bodyPr>
          <a:lstStyle/>
          <a:p>
            <a:pPr algn="l">
              <a:lnSpc>
                <a:spcPts val="4679"/>
              </a:lnSpc>
            </a:pPr>
            <a:r>
              <a:rPr lang="en-US" sz="3999" b="1">
                <a:solidFill>
                  <a:srgbClr val="856EE0"/>
                </a:solidFill>
                <a:latin typeface="Montserrat Bold"/>
                <a:ea typeface="Montserrat Bold"/>
                <a:cs typeface="Montserrat Bold"/>
                <a:sym typeface="Montserrat Bold"/>
              </a:rPr>
              <a:t>Differences and Similarities between REST and SOAP</a:t>
            </a:r>
          </a:p>
        </p:txBody>
      </p:sp>
      <p:sp>
        <p:nvSpPr>
          <p:cNvPr id="8" name="Freeform 8"/>
          <p:cNvSpPr/>
          <p:nvPr/>
        </p:nvSpPr>
        <p:spPr>
          <a:xfrm>
            <a:off x="9042802" y="3222232"/>
            <a:ext cx="202396" cy="7951259"/>
          </a:xfrm>
          <a:custGeom>
            <a:avLst/>
            <a:gdLst/>
            <a:ahLst/>
            <a:cxnLst/>
            <a:rect l="l" t="t" r="r" b="b"/>
            <a:pathLst>
              <a:path w="202396" h="7951259">
                <a:moveTo>
                  <a:pt x="0" y="0"/>
                </a:moveTo>
                <a:lnTo>
                  <a:pt x="202396" y="0"/>
                </a:lnTo>
                <a:lnTo>
                  <a:pt x="202396" y="7951259"/>
                </a:lnTo>
                <a:lnTo>
                  <a:pt x="0" y="795125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Freeform 9"/>
          <p:cNvSpPr/>
          <p:nvPr/>
        </p:nvSpPr>
        <p:spPr>
          <a:xfrm>
            <a:off x="14087827" y="6086827"/>
            <a:ext cx="8400347" cy="8400347"/>
          </a:xfrm>
          <a:custGeom>
            <a:avLst/>
            <a:gdLst/>
            <a:ahLst/>
            <a:cxnLst/>
            <a:rect l="l" t="t" r="r" b="b"/>
            <a:pathLst>
              <a:path w="8400347" h="8400347">
                <a:moveTo>
                  <a:pt x="0" y="0"/>
                </a:moveTo>
                <a:lnTo>
                  <a:pt x="8400346" y="0"/>
                </a:lnTo>
                <a:lnTo>
                  <a:pt x="8400346" y="8400346"/>
                </a:lnTo>
                <a:lnTo>
                  <a:pt x="0" y="8400346"/>
                </a:lnTo>
                <a:lnTo>
                  <a:pt x="0" y="0"/>
                </a:lnTo>
                <a:close/>
              </a:path>
            </a:pathLst>
          </a:custGeom>
          <a:blipFill>
            <a:blip r:embed="rId5">
              <a:alphaModFix amt="9999"/>
              <a:extLst>
                <a:ext uri="{96DAC541-7B7A-43D3-8B79-37D633B846F1}">
                  <asvg:svgBlip xmlns:asvg="http://schemas.microsoft.com/office/drawing/2016/SVG/main" r:embed="rId6"/>
                </a:ext>
              </a:extLst>
            </a:blip>
            <a:stretch>
              <a:fillRect/>
            </a:stretch>
          </a:blipFill>
        </p:spPr>
      </p:sp>
      <p:grpSp>
        <p:nvGrpSpPr>
          <p:cNvPr id="10" name="Group 10"/>
          <p:cNvGrpSpPr/>
          <p:nvPr/>
        </p:nvGrpSpPr>
        <p:grpSpPr>
          <a:xfrm>
            <a:off x="17149862" y="9258300"/>
            <a:ext cx="861105" cy="861105"/>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12" name="TextBox 12"/>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42</a:t>
              </a:r>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Box 2"/>
          <p:cNvSpPr txBox="1"/>
          <p:nvPr/>
        </p:nvSpPr>
        <p:spPr>
          <a:xfrm>
            <a:off x="3835517" y="3107932"/>
            <a:ext cx="1381959" cy="806831"/>
          </a:xfrm>
          <a:prstGeom prst="rect">
            <a:avLst/>
          </a:prstGeom>
        </p:spPr>
        <p:txBody>
          <a:bodyPr lIns="0" tIns="0" rIns="0" bIns="0" rtlCol="0" anchor="t">
            <a:spAutoFit/>
          </a:bodyPr>
          <a:lstStyle/>
          <a:p>
            <a:pPr algn="just">
              <a:lnSpc>
                <a:spcPts val="5841"/>
              </a:lnSpc>
              <a:spcBef>
                <a:spcPct val="0"/>
              </a:spcBef>
            </a:pPr>
            <a:r>
              <a:rPr lang="en-US" sz="4599" b="1">
                <a:solidFill>
                  <a:srgbClr val="26CBB8"/>
                </a:solidFill>
                <a:latin typeface="Codec Pro Bold"/>
                <a:ea typeface="Codec Pro Bold"/>
                <a:cs typeface="Codec Pro Bold"/>
                <a:sym typeface="Codec Pro Bold"/>
              </a:rPr>
              <a:t>REST</a:t>
            </a:r>
          </a:p>
        </p:txBody>
      </p:sp>
      <p:sp>
        <p:nvSpPr>
          <p:cNvPr id="3" name="TextBox 3"/>
          <p:cNvSpPr txBox="1"/>
          <p:nvPr/>
        </p:nvSpPr>
        <p:spPr>
          <a:xfrm>
            <a:off x="12982537" y="3107932"/>
            <a:ext cx="1557933" cy="806831"/>
          </a:xfrm>
          <a:prstGeom prst="rect">
            <a:avLst/>
          </a:prstGeom>
        </p:spPr>
        <p:txBody>
          <a:bodyPr lIns="0" tIns="0" rIns="0" bIns="0" rtlCol="0" anchor="t">
            <a:spAutoFit/>
          </a:bodyPr>
          <a:lstStyle/>
          <a:p>
            <a:pPr algn="just">
              <a:lnSpc>
                <a:spcPts val="5841"/>
              </a:lnSpc>
              <a:spcBef>
                <a:spcPct val="0"/>
              </a:spcBef>
            </a:pPr>
            <a:r>
              <a:rPr lang="en-US" sz="4599" b="1">
                <a:solidFill>
                  <a:srgbClr val="26CBB8"/>
                </a:solidFill>
                <a:latin typeface="Codec Pro Bold"/>
                <a:ea typeface="Codec Pro Bold"/>
                <a:cs typeface="Codec Pro Bold"/>
                <a:sym typeface="Codec Pro Bold"/>
              </a:rPr>
              <a:t>SOAP</a:t>
            </a:r>
          </a:p>
        </p:txBody>
      </p:sp>
      <p:sp>
        <p:nvSpPr>
          <p:cNvPr id="4" name="TextBox 4"/>
          <p:cNvSpPr txBox="1"/>
          <p:nvPr/>
        </p:nvSpPr>
        <p:spPr>
          <a:xfrm>
            <a:off x="516003" y="4692046"/>
            <a:ext cx="8020986" cy="4280535"/>
          </a:xfrm>
          <a:prstGeom prst="rect">
            <a:avLst/>
          </a:prstGeom>
        </p:spPr>
        <p:txBody>
          <a:bodyPr lIns="0" tIns="0" rIns="0" bIns="0" rtlCol="0" anchor="t">
            <a:spAutoFit/>
          </a:bodyPr>
          <a:lstStyle/>
          <a:p>
            <a:pPr algn="ctr">
              <a:lnSpc>
                <a:spcPts val="5760"/>
              </a:lnSpc>
            </a:pPr>
            <a:r>
              <a:rPr lang="en-US" sz="3200">
                <a:solidFill>
                  <a:srgbClr val="000000"/>
                </a:solidFill>
                <a:latin typeface="Open Sans"/>
                <a:ea typeface="Open Sans"/>
                <a:cs typeface="Open Sans"/>
                <a:sym typeface="Open Sans"/>
              </a:rPr>
              <a:t>Stateless means that each request from the client to the server is independent. </a:t>
            </a:r>
          </a:p>
          <a:p>
            <a:pPr algn="ctr">
              <a:lnSpc>
                <a:spcPts val="5760"/>
              </a:lnSpc>
            </a:pPr>
            <a:r>
              <a:rPr lang="en-US" sz="3200" b="1">
                <a:solidFill>
                  <a:srgbClr val="000000"/>
                </a:solidFill>
                <a:latin typeface="Open Sans Bold"/>
                <a:ea typeface="Open Sans Bold"/>
                <a:cs typeface="Open Sans Bold"/>
                <a:sym typeface="Open Sans Bold"/>
              </a:rPr>
              <a:t>In REST</a:t>
            </a:r>
            <a:r>
              <a:rPr lang="en-US" sz="3200">
                <a:solidFill>
                  <a:srgbClr val="000000"/>
                </a:solidFill>
                <a:latin typeface="Open Sans"/>
                <a:ea typeface="Open Sans"/>
                <a:cs typeface="Open Sans"/>
                <a:sym typeface="Open Sans"/>
              </a:rPr>
              <a:t>, this statelessness means that every request must carry all the information needed for the server to process it</a:t>
            </a:r>
          </a:p>
        </p:txBody>
      </p:sp>
      <p:sp>
        <p:nvSpPr>
          <p:cNvPr id="5" name="TextBox 5"/>
          <p:cNvSpPr txBox="1"/>
          <p:nvPr/>
        </p:nvSpPr>
        <p:spPr>
          <a:xfrm>
            <a:off x="9751011" y="4692046"/>
            <a:ext cx="8020986" cy="5004435"/>
          </a:xfrm>
          <a:prstGeom prst="rect">
            <a:avLst/>
          </a:prstGeom>
        </p:spPr>
        <p:txBody>
          <a:bodyPr lIns="0" tIns="0" rIns="0" bIns="0" rtlCol="0" anchor="t">
            <a:spAutoFit/>
          </a:bodyPr>
          <a:lstStyle/>
          <a:p>
            <a:pPr algn="ctr">
              <a:lnSpc>
                <a:spcPts val="5760"/>
              </a:lnSpc>
            </a:pPr>
            <a:r>
              <a:rPr lang="en-US" sz="3200">
                <a:solidFill>
                  <a:srgbClr val="000000"/>
                </a:solidFill>
                <a:latin typeface="Open Sans"/>
                <a:ea typeface="Open Sans"/>
                <a:cs typeface="Open Sans"/>
                <a:sym typeface="Open Sans"/>
              </a:rPr>
              <a:t>Stateful means that the server retains information about the client, or "state," across multiple requests.</a:t>
            </a:r>
          </a:p>
          <a:p>
            <a:pPr algn="ctr">
              <a:lnSpc>
                <a:spcPts val="5760"/>
              </a:lnSpc>
            </a:pPr>
            <a:r>
              <a:rPr lang="en-US" sz="3200" b="1">
                <a:solidFill>
                  <a:srgbClr val="000000"/>
                </a:solidFill>
                <a:latin typeface="Open Sans Bold"/>
                <a:ea typeface="Open Sans Bold"/>
                <a:cs typeface="Open Sans Bold"/>
                <a:sym typeface="Open Sans Bold"/>
              </a:rPr>
              <a:t>SOAP </a:t>
            </a:r>
            <a:r>
              <a:rPr lang="en-US" sz="3200">
                <a:solidFill>
                  <a:srgbClr val="000000"/>
                </a:solidFill>
                <a:latin typeface="Open Sans"/>
                <a:ea typeface="Open Sans"/>
                <a:cs typeface="Open Sans"/>
                <a:sym typeface="Open Sans"/>
              </a:rPr>
              <a:t>can support statefulness, which is useful for situations that require multi-step transactions(</a:t>
            </a:r>
            <a:r>
              <a:rPr lang="en-US" sz="3200" u="sng">
                <a:solidFill>
                  <a:srgbClr val="000000"/>
                </a:solidFill>
                <a:latin typeface="Open Sans"/>
                <a:ea typeface="Open Sans"/>
                <a:cs typeface="Open Sans"/>
                <a:sym typeface="Open Sans"/>
              </a:rPr>
              <a:t>for example in online banking</a:t>
            </a:r>
            <a:r>
              <a:rPr lang="en-US" sz="3200">
                <a:solidFill>
                  <a:srgbClr val="000000"/>
                </a:solidFill>
                <a:latin typeface="Open Sans"/>
                <a:ea typeface="Open Sans"/>
                <a:cs typeface="Open Sans"/>
                <a:sym typeface="Open Sans"/>
              </a:rPr>
              <a:t>).</a:t>
            </a:r>
          </a:p>
        </p:txBody>
      </p:sp>
      <p:sp>
        <p:nvSpPr>
          <p:cNvPr id="6" name="TextBox 6"/>
          <p:cNvSpPr txBox="1"/>
          <p:nvPr/>
        </p:nvSpPr>
        <p:spPr>
          <a:xfrm>
            <a:off x="6072426" y="2057140"/>
            <a:ext cx="6055162" cy="806831"/>
          </a:xfrm>
          <a:prstGeom prst="rect">
            <a:avLst/>
          </a:prstGeom>
        </p:spPr>
        <p:txBody>
          <a:bodyPr lIns="0" tIns="0" rIns="0" bIns="0" rtlCol="0" anchor="t">
            <a:spAutoFit/>
          </a:bodyPr>
          <a:lstStyle/>
          <a:p>
            <a:pPr algn="just">
              <a:lnSpc>
                <a:spcPts val="5841"/>
              </a:lnSpc>
              <a:spcBef>
                <a:spcPct val="0"/>
              </a:spcBef>
            </a:pPr>
            <a:r>
              <a:rPr lang="en-US" sz="4599" b="1">
                <a:solidFill>
                  <a:srgbClr val="26CBB8"/>
                </a:solidFill>
                <a:latin typeface="Codec Pro Bold"/>
                <a:ea typeface="Codec Pro Bold"/>
                <a:cs typeface="Codec Pro Bold"/>
                <a:sym typeface="Codec Pro Bold"/>
              </a:rPr>
              <a:t>Communication Style</a:t>
            </a:r>
          </a:p>
        </p:txBody>
      </p:sp>
      <p:sp>
        <p:nvSpPr>
          <p:cNvPr id="7" name="TextBox 7"/>
          <p:cNvSpPr txBox="1"/>
          <p:nvPr/>
        </p:nvSpPr>
        <p:spPr>
          <a:xfrm>
            <a:off x="1979597" y="1047750"/>
            <a:ext cx="14328807" cy="586740"/>
          </a:xfrm>
          <a:prstGeom prst="rect">
            <a:avLst/>
          </a:prstGeom>
        </p:spPr>
        <p:txBody>
          <a:bodyPr lIns="0" tIns="0" rIns="0" bIns="0" rtlCol="0" anchor="t">
            <a:spAutoFit/>
          </a:bodyPr>
          <a:lstStyle/>
          <a:p>
            <a:pPr algn="l">
              <a:lnSpc>
                <a:spcPts val="4679"/>
              </a:lnSpc>
            </a:pPr>
            <a:r>
              <a:rPr lang="en-US" sz="3999" b="1">
                <a:solidFill>
                  <a:srgbClr val="856EE0"/>
                </a:solidFill>
                <a:latin typeface="Montserrat Bold"/>
                <a:ea typeface="Montserrat Bold"/>
                <a:cs typeface="Montserrat Bold"/>
                <a:sym typeface="Montserrat Bold"/>
              </a:rPr>
              <a:t>Differences and Similarities between REST and SOAP</a:t>
            </a:r>
          </a:p>
        </p:txBody>
      </p:sp>
      <p:sp>
        <p:nvSpPr>
          <p:cNvPr id="8" name="Freeform 8"/>
          <p:cNvSpPr/>
          <p:nvPr/>
        </p:nvSpPr>
        <p:spPr>
          <a:xfrm>
            <a:off x="9042802" y="3222232"/>
            <a:ext cx="202396" cy="7951259"/>
          </a:xfrm>
          <a:custGeom>
            <a:avLst/>
            <a:gdLst/>
            <a:ahLst/>
            <a:cxnLst/>
            <a:rect l="l" t="t" r="r" b="b"/>
            <a:pathLst>
              <a:path w="202396" h="7951259">
                <a:moveTo>
                  <a:pt x="0" y="0"/>
                </a:moveTo>
                <a:lnTo>
                  <a:pt x="202396" y="0"/>
                </a:lnTo>
                <a:lnTo>
                  <a:pt x="202396" y="7951259"/>
                </a:lnTo>
                <a:lnTo>
                  <a:pt x="0" y="795125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Freeform 9"/>
          <p:cNvSpPr/>
          <p:nvPr/>
        </p:nvSpPr>
        <p:spPr>
          <a:xfrm>
            <a:off x="14087827" y="6086827"/>
            <a:ext cx="8400347" cy="8400347"/>
          </a:xfrm>
          <a:custGeom>
            <a:avLst/>
            <a:gdLst/>
            <a:ahLst/>
            <a:cxnLst/>
            <a:rect l="l" t="t" r="r" b="b"/>
            <a:pathLst>
              <a:path w="8400347" h="8400347">
                <a:moveTo>
                  <a:pt x="0" y="0"/>
                </a:moveTo>
                <a:lnTo>
                  <a:pt x="8400346" y="0"/>
                </a:lnTo>
                <a:lnTo>
                  <a:pt x="8400346" y="8400346"/>
                </a:lnTo>
                <a:lnTo>
                  <a:pt x="0" y="8400346"/>
                </a:lnTo>
                <a:lnTo>
                  <a:pt x="0" y="0"/>
                </a:lnTo>
                <a:close/>
              </a:path>
            </a:pathLst>
          </a:custGeom>
          <a:blipFill>
            <a:blip r:embed="rId5">
              <a:alphaModFix amt="9999"/>
              <a:extLst>
                <a:ext uri="{96DAC541-7B7A-43D3-8B79-37D633B846F1}">
                  <asvg:svgBlip xmlns:asvg="http://schemas.microsoft.com/office/drawing/2016/SVG/main" r:embed="rId6"/>
                </a:ext>
              </a:extLst>
            </a:blip>
            <a:stretch>
              <a:fillRect/>
            </a:stretch>
          </a:blipFill>
        </p:spPr>
      </p:sp>
      <p:grpSp>
        <p:nvGrpSpPr>
          <p:cNvPr id="10" name="Group 10"/>
          <p:cNvGrpSpPr/>
          <p:nvPr/>
        </p:nvGrpSpPr>
        <p:grpSpPr>
          <a:xfrm>
            <a:off x="17149862" y="9258300"/>
            <a:ext cx="861105" cy="861105"/>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12" name="TextBox 12"/>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43</a:t>
              </a:r>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Box 2"/>
          <p:cNvSpPr txBox="1"/>
          <p:nvPr/>
        </p:nvSpPr>
        <p:spPr>
          <a:xfrm>
            <a:off x="1979597" y="1047750"/>
            <a:ext cx="14328807" cy="586740"/>
          </a:xfrm>
          <a:prstGeom prst="rect">
            <a:avLst/>
          </a:prstGeom>
        </p:spPr>
        <p:txBody>
          <a:bodyPr lIns="0" tIns="0" rIns="0" bIns="0" rtlCol="0" anchor="t">
            <a:spAutoFit/>
          </a:bodyPr>
          <a:lstStyle/>
          <a:p>
            <a:pPr algn="l">
              <a:lnSpc>
                <a:spcPts val="4679"/>
              </a:lnSpc>
            </a:pPr>
            <a:r>
              <a:rPr lang="en-US" sz="3999" b="1">
                <a:solidFill>
                  <a:srgbClr val="856EE0"/>
                </a:solidFill>
                <a:latin typeface="Montserrat Bold"/>
                <a:ea typeface="Montserrat Bold"/>
                <a:cs typeface="Montserrat Bold"/>
                <a:sym typeface="Montserrat Bold"/>
              </a:rPr>
              <a:t>Differences and Similarities between REST and SOAP</a:t>
            </a:r>
          </a:p>
        </p:txBody>
      </p:sp>
      <p:sp>
        <p:nvSpPr>
          <p:cNvPr id="3" name="TextBox 3"/>
          <p:cNvSpPr txBox="1"/>
          <p:nvPr/>
        </p:nvSpPr>
        <p:spPr>
          <a:xfrm>
            <a:off x="3835517" y="3107932"/>
            <a:ext cx="1381959" cy="806831"/>
          </a:xfrm>
          <a:prstGeom prst="rect">
            <a:avLst/>
          </a:prstGeom>
        </p:spPr>
        <p:txBody>
          <a:bodyPr lIns="0" tIns="0" rIns="0" bIns="0" rtlCol="0" anchor="t">
            <a:spAutoFit/>
          </a:bodyPr>
          <a:lstStyle/>
          <a:p>
            <a:pPr algn="just">
              <a:lnSpc>
                <a:spcPts val="5841"/>
              </a:lnSpc>
              <a:spcBef>
                <a:spcPct val="0"/>
              </a:spcBef>
            </a:pPr>
            <a:r>
              <a:rPr lang="en-US" sz="4599" b="1">
                <a:solidFill>
                  <a:srgbClr val="26CBB8"/>
                </a:solidFill>
                <a:latin typeface="Codec Pro Bold"/>
                <a:ea typeface="Codec Pro Bold"/>
                <a:cs typeface="Codec Pro Bold"/>
                <a:sym typeface="Codec Pro Bold"/>
              </a:rPr>
              <a:t>REST</a:t>
            </a:r>
          </a:p>
        </p:txBody>
      </p:sp>
      <p:sp>
        <p:nvSpPr>
          <p:cNvPr id="4" name="TextBox 4"/>
          <p:cNvSpPr txBox="1"/>
          <p:nvPr/>
        </p:nvSpPr>
        <p:spPr>
          <a:xfrm>
            <a:off x="12982537" y="3107932"/>
            <a:ext cx="1557933" cy="806831"/>
          </a:xfrm>
          <a:prstGeom prst="rect">
            <a:avLst/>
          </a:prstGeom>
        </p:spPr>
        <p:txBody>
          <a:bodyPr lIns="0" tIns="0" rIns="0" bIns="0" rtlCol="0" anchor="t">
            <a:spAutoFit/>
          </a:bodyPr>
          <a:lstStyle/>
          <a:p>
            <a:pPr algn="just">
              <a:lnSpc>
                <a:spcPts val="5841"/>
              </a:lnSpc>
              <a:spcBef>
                <a:spcPct val="0"/>
              </a:spcBef>
            </a:pPr>
            <a:r>
              <a:rPr lang="en-US" sz="4599" b="1">
                <a:solidFill>
                  <a:srgbClr val="26CBB8"/>
                </a:solidFill>
                <a:latin typeface="Codec Pro Bold"/>
                <a:ea typeface="Codec Pro Bold"/>
                <a:cs typeface="Codec Pro Bold"/>
                <a:sym typeface="Codec Pro Bold"/>
              </a:rPr>
              <a:t>SOAP</a:t>
            </a:r>
          </a:p>
        </p:txBody>
      </p:sp>
      <p:sp>
        <p:nvSpPr>
          <p:cNvPr id="5" name="TextBox 5"/>
          <p:cNvSpPr txBox="1"/>
          <p:nvPr/>
        </p:nvSpPr>
        <p:spPr>
          <a:xfrm>
            <a:off x="516003" y="4692046"/>
            <a:ext cx="8020986" cy="661035"/>
          </a:xfrm>
          <a:prstGeom prst="rect">
            <a:avLst/>
          </a:prstGeom>
        </p:spPr>
        <p:txBody>
          <a:bodyPr lIns="0" tIns="0" rIns="0" bIns="0" rtlCol="0" anchor="t">
            <a:spAutoFit/>
          </a:bodyPr>
          <a:lstStyle/>
          <a:p>
            <a:pPr algn="ctr">
              <a:lnSpc>
                <a:spcPts val="5760"/>
              </a:lnSpc>
            </a:pPr>
            <a:r>
              <a:rPr lang="en-US" sz="3200" b="1">
                <a:solidFill>
                  <a:srgbClr val="000000"/>
                </a:solidFill>
                <a:latin typeface="Open Sans Bold"/>
                <a:ea typeface="Open Sans Bold"/>
                <a:cs typeface="Open Sans Bold"/>
                <a:sym typeface="Open Sans Bold"/>
              </a:rPr>
              <a:t>REST </a:t>
            </a:r>
            <a:r>
              <a:rPr lang="en-US" sz="3200">
                <a:solidFill>
                  <a:srgbClr val="000000"/>
                </a:solidFill>
                <a:latin typeface="Open Sans"/>
                <a:ea typeface="Open Sans"/>
                <a:cs typeface="Open Sans"/>
                <a:sym typeface="Open Sans"/>
              </a:rPr>
              <a:t>primarily uses HTTP</a:t>
            </a:r>
          </a:p>
        </p:txBody>
      </p:sp>
      <p:sp>
        <p:nvSpPr>
          <p:cNvPr id="6" name="TextBox 6"/>
          <p:cNvSpPr txBox="1"/>
          <p:nvPr/>
        </p:nvSpPr>
        <p:spPr>
          <a:xfrm>
            <a:off x="9751011" y="4692046"/>
            <a:ext cx="8020986" cy="2108835"/>
          </a:xfrm>
          <a:prstGeom prst="rect">
            <a:avLst/>
          </a:prstGeom>
        </p:spPr>
        <p:txBody>
          <a:bodyPr lIns="0" tIns="0" rIns="0" bIns="0" rtlCol="0" anchor="t">
            <a:spAutoFit/>
          </a:bodyPr>
          <a:lstStyle/>
          <a:p>
            <a:pPr algn="ctr">
              <a:lnSpc>
                <a:spcPts val="5760"/>
              </a:lnSpc>
            </a:pPr>
            <a:r>
              <a:rPr lang="en-US" sz="3200" b="1">
                <a:solidFill>
                  <a:srgbClr val="000000"/>
                </a:solidFill>
                <a:latin typeface="Open Sans Bold"/>
                <a:ea typeface="Open Sans Bold"/>
                <a:cs typeface="Open Sans Bold"/>
                <a:sym typeface="Open Sans Bold"/>
              </a:rPr>
              <a:t>SOAP </a:t>
            </a:r>
            <a:r>
              <a:rPr lang="en-US" sz="3200">
                <a:solidFill>
                  <a:srgbClr val="000000"/>
                </a:solidFill>
                <a:latin typeface="Open Sans"/>
                <a:ea typeface="Open Sans"/>
                <a:cs typeface="Open Sans"/>
                <a:sym typeface="Open Sans"/>
              </a:rPr>
              <a:t>can operate over various protocols, including HTTP, SMTP, and others, making it more flexible in specific environments.</a:t>
            </a:r>
          </a:p>
        </p:txBody>
      </p:sp>
      <p:sp>
        <p:nvSpPr>
          <p:cNvPr id="7" name="TextBox 7"/>
          <p:cNvSpPr txBox="1"/>
          <p:nvPr/>
        </p:nvSpPr>
        <p:spPr>
          <a:xfrm>
            <a:off x="6581358" y="2057140"/>
            <a:ext cx="5125284" cy="806831"/>
          </a:xfrm>
          <a:prstGeom prst="rect">
            <a:avLst/>
          </a:prstGeom>
        </p:spPr>
        <p:txBody>
          <a:bodyPr lIns="0" tIns="0" rIns="0" bIns="0" rtlCol="0" anchor="t">
            <a:spAutoFit/>
          </a:bodyPr>
          <a:lstStyle/>
          <a:p>
            <a:pPr algn="just">
              <a:lnSpc>
                <a:spcPts val="5841"/>
              </a:lnSpc>
              <a:spcBef>
                <a:spcPct val="0"/>
              </a:spcBef>
            </a:pPr>
            <a:r>
              <a:rPr lang="en-US" sz="4599" b="1">
                <a:solidFill>
                  <a:srgbClr val="26CBB8"/>
                </a:solidFill>
                <a:latin typeface="Codec Pro Bold"/>
                <a:ea typeface="Codec Pro Bold"/>
                <a:cs typeface="Codec Pro Bold"/>
                <a:sym typeface="Codec Pro Bold"/>
              </a:rPr>
              <a:t>Protocol Flexibility</a:t>
            </a:r>
          </a:p>
        </p:txBody>
      </p:sp>
      <p:sp>
        <p:nvSpPr>
          <p:cNvPr id="8" name="Freeform 8"/>
          <p:cNvSpPr/>
          <p:nvPr/>
        </p:nvSpPr>
        <p:spPr>
          <a:xfrm>
            <a:off x="9042802" y="3222232"/>
            <a:ext cx="202396" cy="7951259"/>
          </a:xfrm>
          <a:custGeom>
            <a:avLst/>
            <a:gdLst/>
            <a:ahLst/>
            <a:cxnLst/>
            <a:rect l="l" t="t" r="r" b="b"/>
            <a:pathLst>
              <a:path w="202396" h="7951259">
                <a:moveTo>
                  <a:pt x="0" y="0"/>
                </a:moveTo>
                <a:lnTo>
                  <a:pt x="202396" y="0"/>
                </a:lnTo>
                <a:lnTo>
                  <a:pt x="202396" y="7951259"/>
                </a:lnTo>
                <a:lnTo>
                  <a:pt x="0" y="79512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14087827" y="6086827"/>
            <a:ext cx="8400347" cy="8400347"/>
          </a:xfrm>
          <a:custGeom>
            <a:avLst/>
            <a:gdLst/>
            <a:ahLst/>
            <a:cxnLst/>
            <a:rect l="l" t="t" r="r" b="b"/>
            <a:pathLst>
              <a:path w="8400347" h="8400347">
                <a:moveTo>
                  <a:pt x="0" y="0"/>
                </a:moveTo>
                <a:lnTo>
                  <a:pt x="8400346" y="0"/>
                </a:lnTo>
                <a:lnTo>
                  <a:pt x="8400346" y="8400346"/>
                </a:lnTo>
                <a:lnTo>
                  <a:pt x="0" y="8400346"/>
                </a:lnTo>
                <a:lnTo>
                  <a:pt x="0" y="0"/>
                </a:lnTo>
                <a:close/>
              </a:path>
            </a:pathLst>
          </a:custGeom>
          <a:blipFill>
            <a:blip r:embed="rId4">
              <a:alphaModFix amt="9999"/>
              <a:extLst>
                <a:ext uri="{96DAC541-7B7A-43D3-8B79-37D633B846F1}">
                  <asvg:svgBlip xmlns:asvg="http://schemas.microsoft.com/office/drawing/2016/SVG/main" r:embed="rId5"/>
                </a:ext>
              </a:extLst>
            </a:blip>
            <a:stretch>
              <a:fillRect/>
            </a:stretch>
          </a:blipFill>
        </p:spPr>
      </p:sp>
      <p:grpSp>
        <p:nvGrpSpPr>
          <p:cNvPr id="10" name="Group 10"/>
          <p:cNvGrpSpPr/>
          <p:nvPr/>
        </p:nvGrpSpPr>
        <p:grpSpPr>
          <a:xfrm>
            <a:off x="17149862" y="9258300"/>
            <a:ext cx="861105" cy="861105"/>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12" name="TextBox 12"/>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44</a:t>
              </a:r>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9042802" y="3222232"/>
            <a:ext cx="202396" cy="7951259"/>
          </a:xfrm>
          <a:custGeom>
            <a:avLst/>
            <a:gdLst/>
            <a:ahLst/>
            <a:cxnLst/>
            <a:rect l="l" t="t" r="r" b="b"/>
            <a:pathLst>
              <a:path w="202396" h="7951259">
                <a:moveTo>
                  <a:pt x="0" y="0"/>
                </a:moveTo>
                <a:lnTo>
                  <a:pt x="202396" y="0"/>
                </a:lnTo>
                <a:lnTo>
                  <a:pt x="202396" y="7951259"/>
                </a:lnTo>
                <a:lnTo>
                  <a:pt x="0" y="79512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979597" y="1047750"/>
            <a:ext cx="14328807" cy="586740"/>
          </a:xfrm>
          <a:prstGeom prst="rect">
            <a:avLst/>
          </a:prstGeom>
        </p:spPr>
        <p:txBody>
          <a:bodyPr lIns="0" tIns="0" rIns="0" bIns="0" rtlCol="0" anchor="t">
            <a:spAutoFit/>
          </a:bodyPr>
          <a:lstStyle/>
          <a:p>
            <a:pPr algn="l">
              <a:lnSpc>
                <a:spcPts val="4679"/>
              </a:lnSpc>
            </a:pPr>
            <a:r>
              <a:rPr lang="en-US" sz="3999" b="1">
                <a:solidFill>
                  <a:srgbClr val="856EE0"/>
                </a:solidFill>
                <a:latin typeface="Montserrat Bold"/>
                <a:ea typeface="Montserrat Bold"/>
                <a:cs typeface="Montserrat Bold"/>
                <a:sym typeface="Montserrat Bold"/>
              </a:rPr>
              <a:t>Differences and Similarities between REST and SOAP</a:t>
            </a:r>
          </a:p>
        </p:txBody>
      </p:sp>
      <p:sp>
        <p:nvSpPr>
          <p:cNvPr id="4" name="TextBox 4"/>
          <p:cNvSpPr txBox="1"/>
          <p:nvPr/>
        </p:nvSpPr>
        <p:spPr>
          <a:xfrm>
            <a:off x="3835517" y="3107932"/>
            <a:ext cx="1381959" cy="806831"/>
          </a:xfrm>
          <a:prstGeom prst="rect">
            <a:avLst/>
          </a:prstGeom>
        </p:spPr>
        <p:txBody>
          <a:bodyPr lIns="0" tIns="0" rIns="0" bIns="0" rtlCol="0" anchor="t">
            <a:spAutoFit/>
          </a:bodyPr>
          <a:lstStyle/>
          <a:p>
            <a:pPr algn="just">
              <a:lnSpc>
                <a:spcPts val="5841"/>
              </a:lnSpc>
              <a:spcBef>
                <a:spcPct val="0"/>
              </a:spcBef>
            </a:pPr>
            <a:r>
              <a:rPr lang="en-US" sz="4599" b="1">
                <a:solidFill>
                  <a:srgbClr val="26CBB8"/>
                </a:solidFill>
                <a:latin typeface="Codec Pro Bold"/>
                <a:ea typeface="Codec Pro Bold"/>
                <a:cs typeface="Codec Pro Bold"/>
                <a:sym typeface="Codec Pro Bold"/>
              </a:rPr>
              <a:t>REST</a:t>
            </a:r>
          </a:p>
        </p:txBody>
      </p:sp>
      <p:sp>
        <p:nvSpPr>
          <p:cNvPr id="5" name="TextBox 5"/>
          <p:cNvSpPr txBox="1"/>
          <p:nvPr/>
        </p:nvSpPr>
        <p:spPr>
          <a:xfrm>
            <a:off x="12982537" y="3107932"/>
            <a:ext cx="1557933" cy="806831"/>
          </a:xfrm>
          <a:prstGeom prst="rect">
            <a:avLst/>
          </a:prstGeom>
        </p:spPr>
        <p:txBody>
          <a:bodyPr lIns="0" tIns="0" rIns="0" bIns="0" rtlCol="0" anchor="t">
            <a:spAutoFit/>
          </a:bodyPr>
          <a:lstStyle/>
          <a:p>
            <a:pPr algn="just">
              <a:lnSpc>
                <a:spcPts val="5841"/>
              </a:lnSpc>
              <a:spcBef>
                <a:spcPct val="0"/>
              </a:spcBef>
            </a:pPr>
            <a:r>
              <a:rPr lang="en-US" sz="4599" b="1">
                <a:solidFill>
                  <a:srgbClr val="26CBB8"/>
                </a:solidFill>
                <a:latin typeface="Codec Pro Bold"/>
                <a:ea typeface="Codec Pro Bold"/>
                <a:cs typeface="Codec Pro Bold"/>
                <a:sym typeface="Codec Pro Bold"/>
              </a:rPr>
              <a:t>SOAP</a:t>
            </a:r>
          </a:p>
        </p:txBody>
      </p:sp>
      <p:sp>
        <p:nvSpPr>
          <p:cNvPr id="6" name="TextBox 6"/>
          <p:cNvSpPr txBox="1"/>
          <p:nvPr/>
        </p:nvSpPr>
        <p:spPr>
          <a:xfrm>
            <a:off x="516003" y="4692046"/>
            <a:ext cx="8020986" cy="5004435"/>
          </a:xfrm>
          <a:prstGeom prst="rect">
            <a:avLst/>
          </a:prstGeom>
        </p:spPr>
        <p:txBody>
          <a:bodyPr lIns="0" tIns="0" rIns="0" bIns="0" rtlCol="0" anchor="t">
            <a:spAutoFit/>
          </a:bodyPr>
          <a:lstStyle/>
          <a:p>
            <a:pPr algn="ctr">
              <a:lnSpc>
                <a:spcPts val="5760"/>
              </a:lnSpc>
            </a:pPr>
            <a:r>
              <a:rPr lang="en-US" sz="3200">
                <a:solidFill>
                  <a:srgbClr val="000000"/>
                </a:solidFill>
                <a:latin typeface="Open Sans"/>
                <a:ea typeface="Open Sans"/>
                <a:cs typeface="Open Sans"/>
                <a:sym typeface="Open Sans"/>
              </a:rPr>
              <a:t>Preferred for web APIs and web services that require high scalability, speed and lightweight communications where simplicity and efficiency matter, such as social media platforms, e-commerce applications, and microservices architectures</a:t>
            </a:r>
          </a:p>
        </p:txBody>
      </p:sp>
      <p:sp>
        <p:nvSpPr>
          <p:cNvPr id="7" name="TextBox 7"/>
          <p:cNvSpPr txBox="1"/>
          <p:nvPr/>
        </p:nvSpPr>
        <p:spPr>
          <a:xfrm>
            <a:off x="9751011" y="4692046"/>
            <a:ext cx="8020986" cy="4280535"/>
          </a:xfrm>
          <a:prstGeom prst="rect">
            <a:avLst/>
          </a:prstGeom>
        </p:spPr>
        <p:txBody>
          <a:bodyPr lIns="0" tIns="0" rIns="0" bIns="0" rtlCol="0" anchor="t">
            <a:spAutoFit/>
          </a:bodyPr>
          <a:lstStyle/>
          <a:p>
            <a:pPr algn="ctr">
              <a:lnSpc>
                <a:spcPts val="5760"/>
              </a:lnSpc>
            </a:pPr>
            <a:r>
              <a:rPr lang="en-US" sz="3200">
                <a:solidFill>
                  <a:srgbClr val="000000"/>
                </a:solidFill>
                <a:latin typeface="Open Sans"/>
                <a:ea typeface="Open Sans"/>
                <a:cs typeface="Open Sans"/>
                <a:sym typeface="Open Sans"/>
              </a:rPr>
              <a:t>Commonly used in enterprise-level services where security and reliability are critical, like in banking, payment gateways, government applications, telecom, and financial services that require strict contracts and complex transactions</a:t>
            </a:r>
          </a:p>
        </p:txBody>
      </p:sp>
      <p:sp>
        <p:nvSpPr>
          <p:cNvPr id="8" name="TextBox 8"/>
          <p:cNvSpPr txBox="1"/>
          <p:nvPr/>
        </p:nvSpPr>
        <p:spPr>
          <a:xfrm>
            <a:off x="6630114" y="2063046"/>
            <a:ext cx="5027772" cy="806831"/>
          </a:xfrm>
          <a:prstGeom prst="rect">
            <a:avLst/>
          </a:prstGeom>
        </p:spPr>
        <p:txBody>
          <a:bodyPr lIns="0" tIns="0" rIns="0" bIns="0" rtlCol="0" anchor="t">
            <a:spAutoFit/>
          </a:bodyPr>
          <a:lstStyle/>
          <a:p>
            <a:pPr algn="just">
              <a:lnSpc>
                <a:spcPts val="5841"/>
              </a:lnSpc>
              <a:spcBef>
                <a:spcPct val="0"/>
              </a:spcBef>
            </a:pPr>
            <a:r>
              <a:rPr lang="en-US" sz="4599" b="1">
                <a:solidFill>
                  <a:srgbClr val="26CBB8"/>
                </a:solidFill>
                <a:latin typeface="Codec Pro Bold"/>
                <a:ea typeface="Codec Pro Bold"/>
                <a:cs typeface="Codec Pro Bold"/>
                <a:sym typeface="Codec Pro Bold"/>
              </a:rPr>
              <a:t>Typical Use Cases</a:t>
            </a:r>
          </a:p>
        </p:txBody>
      </p:sp>
      <p:sp>
        <p:nvSpPr>
          <p:cNvPr id="9" name="Freeform 9"/>
          <p:cNvSpPr/>
          <p:nvPr/>
        </p:nvSpPr>
        <p:spPr>
          <a:xfrm>
            <a:off x="14087827" y="6086827"/>
            <a:ext cx="8400347" cy="8400347"/>
          </a:xfrm>
          <a:custGeom>
            <a:avLst/>
            <a:gdLst/>
            <a:ahLst/>
            <a:cxnLst/>
            <a:rect l="l" t="t" r="r" b="b"/>
            <a:pathLst>
              <a:path w="8400347" h="8400347">
                <a:moveTo>
                  <a:pt x="0" y="0"/>
                </a:moveTo>
                <a:lnTo>
                  <a:pt x="8400346" y="0"/>
                </a:lnTo>
                <a:lnTo>
                  <a:pt x="8400346" y="8400346"/>
                </a:lnTo>
                <a:lnTo>
                  <a:pt x="0" y="8400346"/>
                </a:lnTo>
                <a:lnTo>
                  <a:pt x="0" y="0"/>
                </a:lnTo>
                <a:close/>
              </a:path>
            </a:pathLst>
          </a:custGeom>
          <a:blipFill>
            <a:blip r:embed="rId4">
              <a:alphaModFix amt="9999"/>
              <a:extLst>
                <a:ext uri="{96DAC541-7B7A-43D3-8B79-37D633B846F1}">
                  <asvg:svgBlip xmlns:asvg="http://schemas.microsoft.com/office/drawing/2016/SVG/main" r:embed="rId5"/>
                </a:ext>
              </a:extLst>
            </a:blip>
            <a:stretch>
              <a:fillRect/>
            </a:stretch>
          </a:blipFill>
        </p:spPr>
      </p:sp>
      <p:grpSp>
        <p:nvGrpSpPr>
          <p:cNvPr id="10" name="Group 10"/>
          <p:cNvGrpSpPr/>
          <p:nvPr/>
        </p:nvGrpSpPr>
        <p:grpSpPr>
          <a:xfrm>
            <a:off x="17149862" y="9258300"/>
            <a:ext cx="861105" cy="861105"/>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12" name="TextBox 12"/>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45</a:t>
              </a: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598119" y="2057400"/>
          <a:ext cx="17218405" cy="6819899"/>
        </p:xfrm>
        <a:graphic>
          <a:graphicData uri="http://schemas.openxmlformats.org/drawingml/2006/table">
            <a:tbl>
              <a:tblPr/>
              <a:tblGrid>
                <a:gridCol w="2897130">
                  <a:extLst>
                    <a:ext uri="{9D8B030D-6E8A-4147-A177-3AD203B41FA5}">
                      <a16:colId xmlns:a16="http://schemas.microsoft.com/office/drawing/2014/main" val="20000"/>
                    </a:ext>
                  </a:extLst>
                </a:gridCol>
                <a:gridCol w="7021023">
                  <a:extLst>
                    <a:ext uri="{9D8B030D-6E8A-4147-A177-3AD203B41FA5}">
                      <a16:colId xmlns:a16="http://schemas.microsoft.com/office/drawing/2014/main" val="20001"/>
                    </a:ext>
                  </a:extLst>
                </a:gridCol>
                <a:gridCol w="7300252">
                  <a:extLst>
                    <a:ext uri="{9D8B030D-6E8A-4147-A177-3AD203B41FA5}">
                      <a16:colId xmlns:a16="http://schemas.microsoft.com/office/drawing/2014/main" val="20002"/>
                    </a:ext>
                  </a:extLst>
                </a:gridCol>
              </a:tblGrid>
              <a:tr h="1034479">
                <a:tc>
                  <a:txBody>
                    <a:bodyPr/>
                    <a:lstStyle/>
                    <a:p>
                      <a:pPr algn="ctr">
                        <a:lnSpc>
                          <a:spcPts val="4200"/>
                        </a:lnSpc>
                        <a:defRPr/>
                      </a:pPr>
                      <a:r>
                        <a:rPr lang="en-US" sz="3000" b="1">
                          <a:solidFill>
                            <a:srgbClr val="000000"/>
                          </a:solidFill>
                          <a:latin typeface="Montserrat Bold"/>
                          <a:ea typeface="Montserrat Bold"/>
                          <a:cs typeface="Montserrat Bold"/>
                          <a:sym typeface="Montserrat Bold"/>
                        </a:rPr>
                        <a:t>Feature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200"/>
                        </a:lnSpc>
                        <a:defRPr/>
                      </a:pPr>
                      <a:r>
                        <a:rPr lang="en-US" sz="3000" b="1">
                          <a:solidFill>
                            <a:srgbClr val="000000"/>
                          </a:solidFill>
                          <a:latin typeface="Montserrat Bold"/>
                          <a:ea typeface="Montserrat Bold"/>
                          <a:cs typeface="Montserrat Bold"/>
                          <a:sym typeface="Montserrat Bold"/>
                        </a:rPr>
                        <a:t>REST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200"/>
                        </a:lnSpc>
                        <a:defRPr/>
                      </a:pPr>
                      <a:r>
                        <a:rPr lang="en-US" sz="3000" b="1">
                          <a:solidFill>
                            <a:srgbClr val="000000"/>
                          </a:solidFill>
                          <a:latin typeface="Montserrat Bold"/>
                          <a:ea typeface="Montserrat Bold"/>
                          <a:cs typeface="Montserrat Bold"/>
                          <a:sym typeface="Montserrat Bold"/>
                        </a:rPr>
                        <a:t>SOAP</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107272">
                <a:tc>
                  <a:txBody>
                    <a:bodyPr/>
                    <a:lstStyle/>
                    <a:p>
                      <a:pPr algn="ctr">
                        <a:lnSpc>
                          <a:spcPts val="4200"/>
                        </a:lnSpc>
                        <a:defRPr/>
                      </a:pPr>
                      <a:r>
                        <a:rPr lang="en-US" sz="3000" b="1">
                          <a:solidFill>
                            <a:srgbClr val="000000"/>
                          </a:solidFill>
                          <a:latin typeface="Montserrat Bold"/>
                          <a:ea typeface="Montserrat Bold"/>
                          <a:cs typeface="Montserrat Bold"/>
                          <a:sym typeface="Montserrat Bold"/>
                        </a:rPr>
                        <a:t>Simplicity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200"/>
                        </a:lnSpc>
                        <a:defRPr/>
                      </a:pPr>
                      <a:r>
                        <a:rPr lang="en-US" sz="3000">
                          <a:solidFill>
                            <a:srgbClr val="000000"/>
                          </a:solidFill>
                          <a:latin typeface="Montserrat"/>
                          <a:ea typeface="Montserrat"/>
                          <a:cs typeface="Montserrat"/>
                          <a:sym typeface="Montserrat"/>
                        </a:rPr>
                        <a:t>Simple and easy to implement; uses standard HTTP verbs (GET, POST, PUT, DELETE)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200"/>
                        </a:lnSpc>
                        <a:defRPr/>
                      </a:pPr>
                      <a:r>
                        <a:rPr lang="en-US" sz="3000">
                          <a:solidFill>
                            <a:srgbClr val="000000"/>
                          </a:solidFill>
                          <a:latin typeface="Montserrat"/>
                          <a:ea typeface="Montserrat"/>
                          <a:cs typeface="Montserrat"/>
                          <a:sym typeface="Montserrat"/>
                        </a:rPr>
                        <a:t>More complex due to strict standards and XML format requirements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570876">
                <a:tc>
                  <a:txBody>
                    <a:bodyPr/>
                    <a:lstStyle/>
                    <a:p>
                      <a:pPr algn="ctr">
                        <a:lnSpc>
                          <a:spcPts val="4200"/>
                        </a:lnSpc>
                        <a:defRPr/>
                      </a:pPr>
                      <a:r>
                        <a:rPr lang="en-US" sz="3000" b="1">
                          <a:solidFill>
                            <a:srgbClr val="000000"/>
                          </a:solidFill>
                          <a:latin typeface="Montserrat Bold"/>
                          <a:ea typeface="Montserrat Bold"/>
                          <a:cs typeface="Montserrat Bold"/>
                          <a:sym typeface="Montserrat Bold"/>
                        </a:rPr>
                        <a:t>Lightweight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200"/>
                        </a:lnSpc>
                        <a:defRPr/>
                      </a:pPr>
                      <a:r>
                        <a:rPr lang="en-US" sz="3000">
                          <a:solidFill>
                            <a:srgbClr val="000000"/>
                          </a:solidFill>
                          <a:latin typeface="Montserrat"/>
                          <a:ea typeface="Montserrat"/>
                          <a:cs typeface="Montserrat"/>
                          <a:sym typeface="Montserrat"/>
                        </a:rPr>
                        <a:t>Lightweight, often using JSON, leading to smaller message sizes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200"/>
                        </a:lnSpc>
                        <a:defRPr/>
                      </a:pPr>
                      <a:r>
                        <a:rPr lang="en-US" sz="3000">
                          <a:solidFill>
                            <a:srgbClr val="000000"/>
                          </a:solidFill>
                          <a:latin typeface="Montserrat"/>
                          <a:ea typeface="Montserrat"/>
                          <a:cs typeface="Montserrat"/>
                          <a:sym typeface="Montserrat"/>
                        </a:rPr>
                        <a:t>Heavier, due to XML-based messaging, which adds overhead</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107272">
                <a:tc>
                  <a:txBody>
                    <a:bodyPr/>
                    <a:lstStyle/>
                    <a:p>
                      <a:pPr algn="ctr">
                        <a:lnSpc>
                          <a:spcPts val="4200"/>
                        </a:lnSpc>
                        <a:defRPr/>
                      </a:pPr>
                      <a:r>
                        <a:rPr lang="en-US" sz="3000" b="1">
                          <a:solidFill>
                            <a:srgbClr val="000000"/>
                          </a:solidFill>
                          <a:latin typeface="Montserrat Bold"/>
                          <a:ea typeface="Montserrat Bold"/>
                          <a:cs typeface="Montserrat Bold"/>
                          <a:sym typeface="Montserrat Bold"/>
                        </a:rPr>
                        <a:t>Scalability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200"/>
                        </a:lnSpc>
                        <a:defRPr/>
                      </a:pPr>
                      <a:r>
                        <a:rPr lang="en-US" sz="3000">
                          <a:solidFill>
                            <a:srgbClr val="000000"/>
                          </a:solidFill>
                          <a:latin typeface="Montserrat"/>
                          <a:ea typeface="Montserrat"/>
                          <a:cs typeface="Montserrat"/>
                          <a:sym typeface="Montserrat"/>
                        </a:rPr>
                        <a:t>Highly scalable : ideal for microservices and distributed systems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200"/>
                        </a:lnSpc>
                        <a:defRPr/>
                      </a:pPr>
                      <a:r>
                        <a:rPr lang="en-US" sz="3000">
                          <a:solidFill>
                            <a:srgbClr val="000000"/>
                          </a:solidFill>
                          <a:latin typeface="Montserrat"/>
                          <a:ea typeface="Montserrat"/>
                          <a:cs typeface="Montserrat"/>
                          <a:sym typeface="Montserrat"/>
                        </a:rPr>
                        <a:t>Less scalable in comparison, especially in web environments, due to protocol overhead</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3" name="TextBox 3"/>
          <p:cNvSpPr txBox="1"/>
          <p:nvPr/>
        </p:nvSpPr>
        <p:spPr>
          <a:xfrm>
            <a:off x="1979597" y="1047750"/>
            <a:ext cx="14328807" cy="586740"/>
          </a:xfrm>
          <a:prstGeom prst="rect">
            <a:avLst/>
          </a:prstGeom>
        </p:spPr>
        <p:txBody>
          <a:bodyPr lIns="0" tIns="0" rIns="0" bIns="0" rtlCol="0" anchor="t">
            <a:spAutoFit/>
          </a:bodyPr>
          <a:lstStyle/>
          <a:p>
            <a:pPr algn="l">
              <a:lnSpc>
                <a:spcPts val="4679"/>
              </a:lnSpc>
            </a:pPr>
            <a:r>
              <a:rPr lang="en-US" sz="3999" b="1">
                <a:solidFill>
                  <a:srgbClr val="856EE0"/>
                </a:solidFill>
                <a:latin typeface="Montserrat Bold"/>
                <a:ea typeface="Montserrat Bold"/>
                <a:cs typeface="Montserrat Bold"/>
                <a:sym typeface="Montserrat Bold"/>
              </a:rPr>
              <a:t>Differences and Similarities between REST and SOAP</a:t>
            </a:r>
          </a:p>
        </p:txBody>
      </p:sp>
      <p:grpSp>
        <p:nvGrpSpPr>
          <p:cNvPr id="4" name="Group 4"/>
          <p:cNvGrpSpPr/>
          <p:nvPr/>
        </p:nvGrpSpPr>
        <p:grpSpPr>
          <a:xfrm>
            <a:off x="17149862" y="9258300"/>
            <a:ext cx="861105" cy="861105"/>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6" name="TextBox 6"/>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46</a:t>
              </a:r>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598119" y="2057400"/>
          <a:ext cx="17218405" cy="5442780"/>
        </p:xfrm>
        <a:graphic>
          <a:graphicData uri="http://schemas.openxmlformats.org/drawingml/2006/table">
            <a:tbl>
              <a:tblPr/>
              <a:tblGrid>
                <a:gridCol w="2897130">
                  <a:extLst>
                    <a:ext uri="{9D8B030D-6E8A-4147-A177-3AD203B41FA5}">
                      <a16:colId xmlns:a16="http://schemas.microsoft.com/office/drawing/2014/main" val="20000"/>
                    </a:ext>
                  </a:extLst>
                </a:gridCol>
                <a:gridCol w="7021023">
                  <a:extLst>
                    <a:ext uri="{9D8B030D-6E8A-4147-A177-3AD203B41FA5}">
                      <a16:colId xmlns:a16="http://schemas.microsoft.com/office/drawing/2014/main" val="20001"/>
                    </a:ext>
                  </a:extLst>
                </a:gridCol>
                <a:gridCol w="7300252">
                  <a:extLst>
                    <a:ext uri="{9D8B030D-6E8A-4147-A177-3AD203B41FA5}">
                      <a16:colId xmlns:a16="http://schemas.microsoft.com/office/drawing/2014/main" val="20002"/>
                    </a:ext>
                  </a:extLst>
                </a:gridCol>
              </a:tblGrid>
              <a:tr h="1222236">
                <a:tc>
                  <a:txBody>
                    <a:bodyPr/>
                    <a:lstStyle/>
                    <a:p>
                      <a:pPr algn="ctr">
                        <a:lnSpc>
                          <a:spcPts val="4200"/>
                        </a:lnSpc>
                        <a:defRPr/>
                      </a:pPr>
                      <a:r>
                        <a:rPr lang="en-US" sz="3000" b="1">
                          <a:solidFill>
                            <a:srgbClr val="000000"/>
                          </a:solidFill>
                          <a:latin typeface="Montserrat Bold"/>
                          <a:ea typeface="Montserrat Bold"/>
                          <a:cs typeface="Montserrat Bold"/>
                          <a:sym typeface="Montserrat Bold"/>
                        </a:rPr>
                        <a:t>Feature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200"/>
                        </a:lnSpc>
                        <a:defRPr/>
                      </a:pPr>
                      <a:r>
                        <a:rPr lang="en-US" sz="3000" b="1">
                          <a:solidFill>
                            <a:srgbClr val="000000"/>
                          </a:solidFill>
                          <a:latin typeface="Montserrat Bold"/>
                          <a:ea typeface="Montserrat Bold"/>
                          <a:cs typeface="Montserrat Bold"/>
                          <a:sym typeface="Montserrat Bold"/>
                        </a:rPr>
                        <a:t>REST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200"/>
                        </a:lnSpc>
                        <a:defRPr/>
                      </a:pPr>
                      <a:r>
                        <a:rPr lang="en-US" sz="3000" b="1">
                          <a:solidFill>
                            <a:srgbClr val="000000"/>
                          </a:solidFill>
                          <a:latin typeface="Montserrat Bold"/>
                          <a:ea typeface="Montserrat Bold"/>
                          <a:cs typeface="Montserrat Bold"/>
                          <a:sym typeface="Montserrat Bold"/>
                        </a:rPr>
                        <a:t>SOAP</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110272">
                <a:tc>
                  <a:txBody>
                    <a:bodyPr/>
                    <a:lstStyle/>
                    <a:p>
                      <a:pPr algn="ctr">
                        <a:lnSpc>
                          <a:spcPts val="4200"/>
                        </a:lnSpc>
                        <a:defRPr/>
                      </a:pPr>
                      <a:r>
                        <a:rPr lang="en-US" sz="3000" b="1">
                          <a:solidFill>
                            <a:srgbClr val="000000"/>
                          </a:solidFill>
                          <a:latin typeface="Montserrat Bold"/>
                          <a:ea typeface="Montserrat Bold"/>
                          <a:cs typeface="Montserrat Bold"/>
                          <a:sym typeface="Montserrat Bold"/>
                        </a:rPr>
                        <a:t>Security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200"/>
                        </a:lnSpc>
                        <a:defRPr/>
                      </a:pPr>
                      <a:r>
                        <a:rPr lang="en-US" sz="3000">
                          <a:solidFill>
                            <a:srgbClr val="000000"/>
                          </a:solidFill>
                          <a:latin typeface="Montserrat"/>
                          <a:ea typeface="Montserrat"/>
                          <a:cs typeface="Montserrat"/>
                          <a:sym typeface="Montserrat"/>
                        </a:rPr>
                        <a:t>Security can be added (HTTPS, OAuth), but not as built-in as SOAP</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200"/>
                        </a:lnSpc>
                        <a:defRPr/>
                      </a:pPr>
                      <a:r>
                        <a:rPr lang="en-US" sz="3000">
                          <a:solidFill>
                            <a:srgbClr val="000000"/>
                          </a:solidFill>
                          <a:latin typeface="Montserrat"/>
                          <a:ea typeface="Montserrat"/>
                          <a:cs typeface="Montserrat"/>
                          <a:sym typeface="Montserrat"/>
                        </a:rPr>
                        <a:t>Built-in security features, like WS-Security, for message integrity and authentication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110272">
                <a:tc>
                  <a:txBody>
                    <a:bodyPr/>
                    <a:lstStyle/>
                    <a:p>
                      <a:pPr algn="ctr">
                        <a:lnSpc>
                          <a:spcPts val="4200"/>
                        </a:lnSpc>
                        <a:defRPr/>
                      </a:pPr>
                      <a:r>
                        <a:rPr lang="en-US" sz="3000" b="1">
                          <a:solidFill>
                            <a:srgbClr val="000000"/>
                          </a:solidFill>
                          <a:latin typeface="Montserrat Bold"/>
                          <a:ea typeface="Montserrat Bold"/>
                          <a:cs typeface="Montserrat Bold"/>
                          <a:sym typeface="Montserrat Bold"/>
                        </a:rPr>
                        <a:t>Error Handling</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200"/>
                        </a:lnSpc>
                        <a:defRPr/>
                      </a:pPr>
                      <a:r>
                        <a:rPr lang="en-US" sz="3000">
                          <a:solidFill>
                            <a:srgbClr val="000000"/>
                          </a:solidFill>
                          <a:latin typeface="Montserrat"/>
                          <a:ea typeface="Montserrat"/>
                          <a:cs typeface="Montserrat"/>
                          <a:sym typeface="Montserrat"/>
                        </a:rPr>
                        <a:t>Basic error handling : relies on HTTP status codes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200"/>
                        </a:lnSpc>
                        <a:defRPr/>
                      </a:pPr>
                      <a:r>
                        <a:rPr lang="en-US" sz="3000">
                          <a:solidFill>
                            <a:srgbClr val="000000"/>
                          </a:solidFill>
                          <a:latin typeface="Montserrat"/>
                          <a:ea typeface="Montserrat"/>
                          <a:cs typeface="Montserrat"/>
                          <a:sym typeface="Montserrat"/>
                        </a:rPr>
                        <a:t>Advanced error handling with detailed error messaging in XML format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3" name="TextBox 3"/>
          <p:cNvSpPr txBox="1"/>
          <p:nvPr/>
        </p:nvSpPr>
        <p:spPr>
          <a:xfrm>
            <a:off x="1979597" y="1047750"/>
            <a:ext cx="14328807" cy="586740"/>
          </a:xfrm>
          <a:prstGeom prst="rect">
            <a:avLst/>
          </a:prstGeom>
        </p:spPr>
        <p:txBody>
          <a:bodyPr lIns="0" tIns="0" rIns="0" bIns="0" rtlCol="0" anchor="t">
            <a:spAutoFit/>
          </a:bodyPr>
          <a:lstStyle/>
          <a:p>
            <a:pPr algn="l">
              <a:lnSpc>
                <a:spcPts val="4679"/>
              </a:lnSpc>
            </a:pPr>
            <a:r>
              <a:rPr lang="en-US" sz="3999" b="1">
                <a:solidFill>
                  <a:srgbClr val="856EE0"/>
                </a:solidFill>
                <a:latin typeface="Montserrat Bold"/>
                <a:ea typeface="Montserrat Bold"/>
                <a:cs typeface="Montserrat Bold"/>
                <a:sym typeface="Montserrat Bold"/>
              </a:rPr>
              <a:t>Differences and Similarities between REST and SOAP</a:t>
            </a:r>
          </a:p>
        </p:txBody>
      </p:sp>
      <p:grpSp>
        <p:nvGrpSpPr>
          <p:cNvPr id="4" name="Group 4"/>
          <p:cNvGrpSpPr/>
          <p:nvPr/>
        </p:nvGrpSpPr>
        <p:grpSpPr>
          <a:xfrm>
            <a:off x="17149862" y="9258300"/>
            <a:ext cx="861105" cy="861105"/>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6" name="TextBox 6"/>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47</a:t>
              </a:r>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Box 2"/>
          <p:cNvSpPr txBox="1"/>
          <p:nvPr/>
        </p:nvSpPr>
        <p:spPr>
          <a:xfrm>
            <a:off x="3462814" y="4463413"/>
            <a:ext cx="11362373" cy="1226823"/>
          </a:xfrm>
          <a:prstGeom prst="rect">
            <a:avLst/>
          </a:prstGeom>
        </p:spPr>
        <p:txBody>
          <a:bodyPr lIns="0" tIns="0" rIns="0" bIns="0" rtlCol="0" anchor="t">
            <a:spAutoFit/>
          </a:bodyPr>
          <a:lstStyle/>
          <a:p>
            <a:pPr algn="ctr">
              <a:lnSpc>
                <a:spcPts val="10079"/>
              </a:lnSpc>
              <a:spcBef>
                <a:spcPct val="0"/>
              </a:spcBef>
            </a:pPr>
            <a:r>
              <a:rPr lang="en-US" sz="7199" b="1">
                <a:solidFill>
                  <a:srgbClr val="26CBB8"/>
                </a:solidFill>
                <a:latin typeface="Montserrat Bold"/>
                <a:ea typeface="Montserrat Bold"/>
                <a:cs typeface="Montserrat Bold"/>
                <a:sym typeface="Montserrat Bold"/>
              </a:rPr>
              <a:t>8 - REST AND SECURITY</a:t>
            </a:r>
          </a:p>
        </p:txBody>
      </p:sp>
      <p:grpSp>
        <p:nvGrpSpPr>
          <p:cNvPr id="3" name="Group 3"/>
          <p:cNvGrpSpPr/>
          <p:nvPr/>
        </p:nvGrpSpPr>
        <p:grpSpPr>
          <a:xfrm>
            <a:off x="17149862" y="9258300"/>
            <a:ext cx="861105" cy="861105"/>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5" name="TextBox 5"/>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48</a:t>
              </a:r>
            </a:p>
          </p:txBody>
        </p:sp>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2876550" y="-1666875"/>
            <a:ext cx="20887517" cy="4579002"/>
            <a:chOff x="0" y="0"/>
            <a:chExt cx="5501239" cy="1205992"/>
          </a:xfrm>
        </p:grpSpPr>
        <p:sp>
          <p:nvSpPr>
            <p:cNvPr id="3" name="Freeform 3"/>
            <p:cNvSpPr/>
            <p:nvPr/>
          </p:nvSpPr>
          <p:spPr>
            <a:xfrm>
              <a:off x="0" y="0"/>
              <a:ext cx="5501239" cy="1205992"/>
            </a:xfrm>
            <a:custGeom>
              <a:avLst/>
              <a:gdLst/>
              <a:ahLst/>
              <a:cxnLst/>
              <a:rect l="l" t="t" r="r" b="b"/>
              <a:pathLst>
                <a:path w="5501239" h="1205992">
                  <a:moveTo>
                    <a:pt x="37065" y="0"/>
                  </a:moveTo>
                  <a:lnTo>
                    <a:pt x="5464174" y="0"/>
                  </a:lnTo>
                  <a:cubicBezTo>
                    <a:pt x="5474004" y="0"/>
                    <a:pt x="5483432" y="3905"/>
                    <a:pt x="5490383" y="10856"/>
                  </a:cubicBezTo>
                  <a:cubicBezTo>
                    <a:pt x="5497334" y="17807"/>
                    <a:pt x="5501239" y="27235"/>
                    <a:pt x="5501239" y="37065"/>
                  </a:cubicBezTo>
                  <a:lnTo>
                    <a:pt x="5501239" y="1168928"/>
                  </a:lnTo>
                  <a:cubicBezTo>
                    <a:pt x="5501239" y="1178758"/>
                    <a:pt x="5497334" y="1188185"/>
                    <a:pt x="5490383" y="1195136"/>
                  </a:cubicBezTo>
                  <a:cubicBezTo>
                    <a:pt x="5483432" y="1202087"/>
                    <a:pt x="5474004" y="1205992"/>
                    <a:pt x="5464174" y="1205992"/>
                  </a:cubicBezTo>
                  <a:lnTo>
                    <a:pt x="37065" y="1205992"/>
                  </a:lnTo>
                  <a:cubicBezTo>
                    <a:pt x="27235" y="1205992"/>
                    <a:pt x="17807" y="1202087"/>
                    <a:pt x="10856" y="1195136"/>
                  </a:cubicBezTo>
                  <a:cubicBezTo>
                    <a:pt x="3905" y="1188185"/>
                    <a:pt x="0" y="1178758"/>
                    <a:pt x="0" y="1168928"/>
                  </a:cubicBezTo>
                  <a:lnTo>
                    <a:pt x="0" y="37065"/>
                  </a:lnTo>
                  <a:cubicBezTo>
                    <a:pt x="0" y="27235"/>
                    <a:pt x="3905" y="17807"/>
                    <a:pt x="10856" y="10856"/>
                  </a:cubicBezTo>
                  <a:cubicBezTo>
                    <a:pt x="17807" y="3905"/>
                    <a:pt x="27235" y="0"/>
                    <a:pt x="37065" y="0"/>
                  </a:cubicBezTo>
                  <a:close/>
                </a:path>
              </a:pathLst>
            </a:custGeom>
            <a:solidFill>
              <a:srgbClr val="856EE0"/>
            </a:solidFill>
          </p:spPr>
        </p:sp>
        <p:sp>
          <p:nvSpPr>
            <p:cNvPr id="4" name="TextBox 4"/>
            <p:cNvSpPr txBox="1"/>
            <p:nvPr/>
          </p:nvSpPr>
          <p:spPr>
            <a:xfrm>
              <a:off x="0" y="-38100"/>
              <a:ext cx="5501239" cy="1244092"/>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0" y="2893077"/>
            <a:ext cx="1997550" cy="1997550"/>
          </a:xfrm>
          <a:custGeom>
            <a:avLst/>
            <a:gdLst/>
            <a:ahLst/>
            <a:cxnLst/>
            <a:rect l="l" t="t" r="r" b="b"/>
            <a:pathLst>
              <a:path w="1997550" h="1997550">
                <a:moveTo>
                  <a:pt x="0" y="0"/>
                </a:moveTo>
                <a:lnTo>
                  <a:pt x="1997550" y="0"/>
                </a:lnTo>
                <a:lnTo>
                  <a:pt x="1997550" y="1997551"/>
                </a:lnTo>
                <a:lnTo>
                  <a:pt x="0" y="19975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590157" y="4063960"/>
            <a:ext cx="17284291" cy="5009346"/>
            <a:chOff x="0" y="0"/>
            <a:chExt cx="4552241" cy="1319334"/>
          </a:xfrm>
        </p:grpSpPr>
        <p:sp>
          <p:nvSpPr>
            <p:cNvPr id="7" name="Freeform 7"/>
            <p:cNvSpPr/>
            <p:nvPr/>
          </p:nvSpPr>
          <p:spPr>
            <a:xfrm>
              <a:off x="0" y="0"/>
              <a:ext cx="4552242" cy="1319334"/>
            </a:xfrm>
            <a:custGeom>
              <a:avLst/>
              <a:gdLst/>
              <a:ahLst/>
              <a:cxnLst/>
              <a:rect l="l" t="t" r="r" b="b"/>
              <a:pathLst>
                <a:path w="4552242" h="1319334">
                  <a:moveTo>
                    <a:pt x="44792" y="0"/>
                  </a:moveTo>
                  <a:lnTo>
                    <a:pt x="4507450" y="0"/>
                  </a:lnTo>
                  <a:cubicBezTo>
                    <a:pt x="4519329" y="0"/>
                    <a:pt x="4530722" y="4719"/>
                    <a:pt x="4539122" y="13119"/>
                  </a:cubicBezTo>
                  <a:cubicBezTo>
                    <a:pt x="4547522" y="21519"/>
                    <a:pt x="4552242" y="32912"/>
                    <a:pt x="4552242" y="44792"/>
                  </a:cubicBezTo>
                  <a:lnTo>
                    <a:pt x="4552242" y="1274542"/>
                  </a:lnTo>
                  <a:cubicBezTo>
                    <a:pt x="4552242" y="1299280"/>
                    <a:pt x="4532188" y="1319334"/>
                    <a:pt x="4507450" y="1319334"/>
                  </a:cubicBezTo>
                  <a:lnTo>
                    <a:pt x="44792" y="1319334"/>
                  </a:lnTo>
                  <a:cubicBezTo>
                    <a:pt x="32912" y="1319334"/>
                    <a:pt x="21519" y="1314615"/>
                    <a:pt x="13119" y="1306215"/>
                  </a:cubicBezTo>
                  <a:cubicBezTo>
                    <a:pt x="4719" y="1297815"/>
                    <a:pt x="0" y="1286422"/>
                    <a:pt x="0" y="1274542"/>
                  </a:cubicBezTo>
                  <a:lnTo>
                    <a:pt x="0" y="44792"/>
                  </a:lnTo>
                  <a:cubicBezTo>
                    <a:pt x="0" y="32912"/>
                    <a:pt x="4719" y="21519"/>
                    <a:pt x="13119" y="13119"/>
                  </a:cubicBezTo>
                  <a:cubicBezTo>
                    <a:pt x="21519" y="4719"/>
                    <a:pt x="32912" y="0"/>
                    <a:pt x="44792" y="0"/>
                  </a:cubicBezTo>
                  <a:close/>
                </a:path>
              </a:pathLst>
            </a:custGeom>
            <a:solidFill>
              <a:srgbClr val="26CBB8"/>
            </a:solidFill>
          </p:spPr>
        </p:sp>
        <p:sp>
          <p:nvSpPr>
            <p:cNvPr id="8" name="TextBox 8"/>
            <p:cNvSpPr txBox="1"/>
            <p:nvPr/>
          </p:nvSpPr>
          <p:spPr>
            <a:xfrm>
              <a:off x="0" y="-38100"/>
              <a:ext cx="4552241" cy="1357434"/>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14805774" y="1028700"/>
            <a:ext cx="1761909" cy="112121"/>
          </a:xfrm>
          <a:custGeom>
            <a:avLst/>
            <a:gdLst/>
            <a:ahLst/>
            <a:cxnLst/>
            <a:rect l="l" t="t" r="r" b="b"/>
            <a:pathLst>
              <a:path w="1761909" h="112121">
                <a:moveTo>
                  <a:pt x="0" y="0"/>
                </a:moveTo>
                <a:lnTo>
                  <a:pt x="1761908" y="0"/>
                </a:lnTo>
                <a:lnTo>
                  <a:pt x="1761908" y="112121"/>
                </a:lnTo>
                <a:lnTo>
                  <a:pt x="0" y="1121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9232302" y="1028700"/>
            <a:ext cx="911606" cy="552380"/>
          </a:xfrm>
          <a:custGeom>
            <a:avLst/>
            <a:gdLst/>
            <a:ahLst/>
            <a:cxnLst/>
            <a:rect l="l" t="t" r="r" b="b"/>
            <a:pathLst>
              <a:path w="911606" h="552380">
                <a:moveTo>
                  <a:pt x="0" y="0"/>
                </a:moveTo>
                <a:lnTo>
                  <a:pt x="911607" y="0"/>
                </a:lnTo>
                <a:lnTo>
                  <a:pt x="911607" y="552380"/>
                </a:lnTo>
                <a:lnTo>
                  <a:pt x="0" y="552380"/>
                </a:lnTo>
                <a:lnTo>
                  <a:pt x="0" y="0"/>
                </a:lnTo>
                <a:close/>
              </a:path>
            </a:pathLst>
          </a:custGeom>
          <a:blipFill>
            <a:blip r:embed="rId6">
              <a:extLst>
                <a:ext uri="{96DAC541-7B7A-43D3-8B79-37D633B846F1}">
                  <asvg:svgBlip xmlns:asvg="http://schemas.microsoft.com/office/drawing/2016/SVG/main" r:embed="rId7"/>
                </a:ext>
              </a:extLst>
            </a:blip>
            <a:stretch>
              <a:fillRect r="-182430"/>
            </a:stretch>
          </a:blipFill>
        </p:spPr>
      </p:sp>
      <p:sp>
        <p:nvSpPr>
          <p:cNvPr id="11" name="Freeform 11"/>
          <p:cNvSpPr/>
          <p:nvPr/>
        </p:nvSpPr>
        <p:spPr>
          <a:xfrm>
            <a:off x="15686728" y="8156481"/>
            <a:ext cx="911606" cy="552380"/>
          </a:xfrm>
          <a:custGeom>
            <a:avLst/>
            <a:gdLst/>
            <a:ahLst/>
            <a:cxnLst/>
            <a:rect l="l" t="t" r="r" b="b"/>
            <a:pathLst>
              <a:path w="911606" h="552380">
                <a:moveTo>
                  <a:pt x="0" y="0"/>
                </a:moveTo>
                <a:lnTo>
                  <a:pt x="911606" y="0"/>
                </a:lnTo>
                <a:lnTo>
                  <a:pt x="911606" y="552380"/>
                </a:lnTo>
                <a:lnTo>
                  <a:pt x="0" y="552380"/>
                </a:lnTo>
                <a:lnTo>
                  <a:pt x="0" y="0"/>
                </a:lnTo>
                <a:close/>
              </a:path>
            </a:pathLst>
          </a:custGeom>
          <a:blipFill>
            <a:blip r:embed="rId6">
              <a:extLst>
                <a:ext uri="{96DAC541-7B7A-43D3-8B79-37D633B846F1}">
                  <asvg:svgBlip xmlns:asvg="http://schemas.microsoft.com/office/drawing/2016/SVG/main" r:embed="rId7"/>
                </a:ext>
              </a:extLst>
            </a:blip>
            <a:stretch>
              <a:fillRect r="-182430"/>
            </a:stretch>
          </a:blipFill>
        </p:spPr>
      </p:sp>
      <p:sp>
        <p:nvSpPr>
          <p:cNvPr id="12" name="TextBox 12"/>
          <p:cNvSpPr txBox="1"/>
          <p:nvPr/>
        </p:nvSpPr>
        <p:spPr>
          <a:xfrm>
            <a:off x="1595179" y="651201"/>
            <a:ext cx="7031039" cy="865023"/>
          </a:xfrm>
          <a:prstGeom prst="rect">
            <a:avLst/>
          </a:prstGeom>
        </p:spPr>
        <p:txBody>
          <a:bodyPr lIns="0" tIns="0" rIns="0" bIns="0" rtlCol="0" anchor="t">
            <a:spAutoFit/>
          </a:bodyPr>
          <a:lstStyle/>
          <a:p>
            <a:pPr algn="l">
              <a:lnSpc>
                <a:spcPts val="5885"/>
              </a:lnSpc>
            </a:pPr>
            <a:r>
              <a:rPr lang="en-US" sz="5885" b="1">
                <a:solidFill>
                  <a:srgbClr val="FFFFFF"/>
                </a:solidFill>
                <a:latin typeface="Codec Pro Bold"/>
                <a:ea typeface="Codec Pro Bold"/>
                <a:cs typeface="Codec Pro Bold"/>
                <a:sym typeface="Codec Pro Bold"/>
              </a:rPr>
              <a:t>Overview</a:t>
            </a:r>
          </a:p>
        </p:txBody>
      </p:sp>
      <p:sp>
        <p:nvSpPr>
          <p:cNvPr id="13" name="TextBox 13"/>
          <p:cNvSpPr txBox="1"/>
          <p:nvPr/>
        </p:nvSpPr>
        <p:spPr>
          <a:xfrm>
            <a:off x="1062712" y="4344392"/>
            <a:ext cx="16339180" cy="4088279"/>
          </a:xfrm>
          <a:prstGeom prst="rect">
            <a:avLst/>
          </a:prstGeom>
        </p:spPr>
        <p:txBody>
          <a:bodyPr lIns="0" tIns="0" rIns="0" bIns="0" rtlCol="0" anchor="t">
            <a:spAutoFit/>
          </a:bodyPr>
          <a:lstStyle/>
          <a:p>
            <a:pPr algn="l">
              <a:lnSpc>
                <a:spcPts val="4086"/>
              </a:lnSpc>
              <a:spcBef>
                <a:spcPct val="0"/>
              </a:spcBef>
            </a:pPr>
            <a:r>
              <a:rPr lang="en-US" sz="2919" b="1">
                <a:solidFill>
                  <a:srgbClr val="FFFFFF"/>
                </a:solidFill>
                <a:latin typeface="Montserrat Medium"/>
                <a:ea typeface="Montserrat Medium"/>
                <a:cs typeface="Montserrat Medium"/>
                <a:sym typeface="Montserrat Medium"/>
              </a:rPr>
              <a:t>REST has become a widely adopted architectural style for building APIs, with authentication being a key aspect. It involves verifying the identity of users or applications before granting access. Unlike traditional web authentication, which relies on sessions, REST is stateless—each request is independent and requires its own verification. This statelessness enhances scalability and robustness. REST APIs also allow clients to choose from standardized authentication methods like API keys, tokens, or OAuth, offering flexibility, security, and promoting interoperability between services.</a:t>
            </a:r>
          </a:p>
        </p:txBody>
      </p:sp>
      <p:grpSp>
        <p:nvGrpSpPr>
          <p:cNvPr id="14" name="Group 14"/>
          <p:cNvGrpSpPr/>
          <p:nvPr/>
        </p:nvGrpSpPr>
        <p:grpSpPr>
          <a:xfrm>
            <a:off x="17149862" y="9258300"/>
            <a:ext cx="861105" cy="861105"/>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16" name="TextBox 16"/>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49</a:t>
              </a:r>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1741169" y="-3878466"/>
            <a:ext cx="8400347" cy="8400347"/>
          </a:xfrm>
          <a:custGeom>
            <a:avLst/>
            <a:gdLst/>
            <a:ahLst/>
            <a:cxnLst/>
            <a:rect l="l" t="t" r="r" b="b"/>
            <a:pathLst>
              <a:path w="8400347" h="8400347">
                <a:moveTo>
                  <a:pt x="0" y="0"/>
                </a:moveTo>
                <a:lnTo>
                  <a:pt x="8400346" y="0"/>
                </a:lnTo>
                <a:lnTo>
                  <a:pt x="8400346" y="8400347"/>
                </a:lnTo>
                <a:lnTo>
                  <a:pt x="0" y="840034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0" y="0"/>
            <a:ext cx="3936827" cy="10287000"/>
            <a:chOff x="0" y="0"/>
            <a:chExt cx="1036860" cy="2709333"/>
          </a:xfrm>
        </p:grpSpPr>
        <p:sp>
          <p:nvSpPr>
            <p:cNvPr id="4" name="Freeform 4"/>
            <p:cNvSpPr/>
            <p:nvPr/>
          </p:nvSpPr>
          <p:spPr>
            <a:xfrm>
              <a:off x="0" y="0"/>
              <a:ext cx="1036860" cy="2709333"/>
            </a:xfrm>
            <a:custGeom>
              <a:avLst/>
              <a:gdLst/>
              <a:ahLst/>
              <a:cxnLst/>
              <a:rect l="l" t="t" r="r" b="b"/>
              <a:pathLst>
                <a:path w="1036860" h="2709333">
                  <a:moveTo>
                    <a:pt x="0" y="0"/>
                  </a:moveTo>
                  <a:lnTo>
                    <a:pt x="1036860" y="0"/>
                  </a:lnTo>
                  <a:lnTo>
                    <a:pt x="1036860" y="2709333"/>
                  </a:lnTo>
                  <a:lnTo>
                    <a:pt x="0" y="2709333"/>
                  </a:lnTo>
                  <a:close/>
                </a:path>
              </a:pathLst>
            </a:custGeom>
            <a:solidFill>
              <a:srgbClr val="856EE0"/>
            </a:solidFill>
          </p:spPr>
        </p:sp>
        <p:sp>
          <p:nvSpPr>
            <p:cNvPr id="5" name="TextBox 5"/>
            <p:cNvSpPr txBox="1"/>
            <p:nvPr/>
          </p:nvSpPr>
          <p:spPr>
            <a:xfrm>
              <a:off x="0" y="-38100"/>
              <a:ext cx="1036860" cy="2747433"/>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918851" y="8248329"/>
            <a:ext cx="6035952" cy="517324"/>
            <a:chOff x="0" y="0"/>
            <a:chExt cx="1589716" cy="136250"/>
          </a:xfrm>
        </p:grpSpPr>
        <p:sp>
          <p:nvSpPr>
            <p:cNvPr id="7" name="Freeform 7"/>
            <p:cNvSpPr/>
            <p:nvPr/>
          </p:nvSpPr>
          <p:spPr>
            <a:xfrm>
              <a:off x="0" y="0"/>
              <a:ext cx="1589716" cy="136250"/>
            </a:xfrm>
            <a:custGeom>
              <a:avLst/>
              <a:gdLst/>
              <a:ahLst/>
              <a:cxnLst/>
              <a:rect l="l" t="t" r="r" b="b"/>
              <a:pathLst>
                <a:path w="1589716" h="136250">
                  <a:moveTo>
                    <a:pt x="30783" y="0"/>
                  </a:moveTo>
                  <a:lnTo>
                    <a:pt x="1558932" y="0"/>
                  </a:lnTo>
                  <a:cubicBezTo>
                    <a:pt x="1575934" y="0"/>
                    <a:pt x="1589716" y="13782"/>
                    <a:pt x="1589716" y="30783"/>
                  </a:cubicBezTo>
                  <a:lnTo>
                    <a:pt x="1589716" y="105467"/>
                  </a:lnTo>
                  <a:cubicBezTo>
                    <a:pt x="1589716" y="122468"/>
                    <a:pt x="1575934" y="136250"/>
                    <a:pt x="1558932" y="136250"/>
                  </a:cubicBezTo>
                  <a:lnTo>
                    <a:pt x="30783" y="136250"/>
                  </a:lnTo>
                  <a:cubicBezTo>
                    <a:pt x="22619" y="136250"/>
                    <a:pt x="14789" y="133007"/>
                    <a:pt x="9016" y="127234"/>
                  </a:cubicBezTo>
                  <a:cubicBezTo>
                    <a:pt x="3243" y="121461"/>
                    <a:pt x="0" y="113631"/>
                    <a:pt x="0" y="105467"/>
                  </a:cubicBezTo>
                  <a:lnTo>
                    <a:pt x="0" y="30783"/>
                  </a:lnTo>
                  <a:cubicBezTo>
                    <a:pt x="0" y="13782"/>
                    <a:pt x="13782" y="0"/>
                    <a:pt x="30783" y="0"/>
                  </a:cubicBezTo>
                  <a:close/>
                </a:path>
              </a:pathLst>
            </a:custGeom>
            <a:solidFill>
              <a:srgbClr val="26CBB8"/>
            </a:solidFill>
          </p:spPr>
        </p:sp>
        <p:sp>
          <p:nvSpPr>
            <p:cNvPr id="8" name="TextBox 8"/>
            <p:cNvSpPr txBox="1"/>
            <p:nvPr/>
          </p:nvSpPr>
          <p:spPr>
            <a:xfrm>
              <a:off x="0" y="-38100"/>
              <a:ext cx="1589716" cy="174350"/>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14087827" y="6086827"/>
            <a:ext cx="8400347" cy="8400347"/>
          </a:xfrm>
          <a:custGeom>
            <a:avLst/>
            <a:gdLst/>
            <a:ahLst/>
            <a:cxnLst/>
            <a:rect l="l" t="t" r="r" b="b"/>
            <a:pathLst>
              <a:path w="8400347" h="8400347">
                <a:moveTo>
                  <a:pt x="0" y="0"/>
                </a:moveTo>
                <a:lnTo>
                  <a:pt x="8400346" y="0"/>
                </a:lnTo>
                <a:lnTo>
                  <a:pt x="8400346" y="8400346"/>
                </a:lnTo>
                <a:lnTo>
                  <a:pt x="0" y="840034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10" name="Freeform 10"/>
          <p:cNvSpPr/>
          <p:nvPr/>
        </p:nvSpPr>
        <p:spPr>
          <a:xfrm>
            <a:off x="15466739" y="1028700"/>
            <a:ext cx="1761909" cy="112121"/>
          </a:xfrm>
          <a:custGeom>
            <a:avLst/>
            <a:gdLst/>
            <a:ahLst/>
            <a:cxnLst/>
            <a:rect l="l" t="t" r="r" b="b"/>
            <a:pathLst>
              <a:path w="1761909" h="112121">
                <a:moveTo>
                  <a:pt x="0" y="0"/>
                </a:moveTo>
                <a:lnTo>
                  <a:pt x="1761909" y="0"/>
                </a:lnTo>
                <a:lnTo>
                  <a:pt x="1761909" y="112121"/>
                </a:lnTo>
                <a:lnTo>
                  <a:pt x="0" y="1121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a:off x="10583632" y="9146179"/>
            <a:ext cx="1761909" cy="112121"/>
          </a:xfrm>
          <a:custGeom>
            <a:avLst/>
            <a:gdLst/>
            <a:ahLst/>
            <a:cxnLst/>
            <a:rect l="l" t="t" r="r" b="b"/>
            <a:pathLst>
              <a:path w="1761909" h="112121">
                <a:moveTo>
                  <a:pt x="0" y="0"/>
                </a:moveTo>
                <a:lnTo>
                  <a:pt x="1761908" y="0"/>
                </a:lnTo>
                <a:lnTo>
                  <a:pt x="1761908" y="112121"/>
                </a:lnTo>
                <a:lnTo>
                  <a:pt x="0" y="1121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2" name="Group 12"/>
          <p:cNvGrpSpPr/>
          <p:nvPr/>
        </p:nvGrpSpPr>
        <p:grpSpPr>
          <a:xfrm>
            <a:off x="17149862" y="9258300"/>
            <a:ext cx="861105" cy="861105"/>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14" name="TextBox 14"/>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50</a:t>
              </a:r>
            </a:p>
          </p:txBody>
        </p:sp>
      </p:grpSp>
      <p:sp>
        <p:nvSpPr>
          <p:cNvPr id="15" name="Freeform 15"/>
          <p:cNvSpPr/>
          <p:nvPr/>
        </p:nvSpPr>
        <p:spPr>
          <a:xfrm>
            <a:off x="267459" y="4181457"/>
            <a:ext cx="7338736" cy="3008672"/>
          </a:xfrm>
          <a:custGeom>
            <a:avLst/>
            <a:gdLst/>
            <a:ahLst/>
            <a:cxnLst/>
            <a:rect l="l" t="t" r="r" b="b"/>
            <a:pathLst>
              <a:path w="7338736" h="3008672">
                <a:moveTo>
                  <a:pt x="0" y="0"/>
                </a:moveTo>
                <a:lnTo>
                  <a:pt x="7338736" y="0"/>
                </a:lnTo>
                <a:lnTo>
                  <a:pt x="7338736" y="3008672"/>
                </a:lnTo>
                <a:lnTo>
                  <a:pt x="0" y="3008672"/>
                </a:lnTo>
                <a:lnTo>
                  <a:pt x="0" y="0"/>
                </a:lnTo>
                <a:close/>
              </a:path>
            </a:pathLst>
          </a:custGeom>
          <a:blipFill>
            <a:blip r:embed="rId6"/>
            <a:stretch>
              <a:fillRect r="-549"/>
            </a:stretch>
          </a:blipFill>
        </p:spPr>
      </p:sp>
      <p:sp>
        <p:nvSpPr>
          <p:cNvPr id="16" name="TextBox 16"/>
          <p:cNvSpPr txBox="1"/>
          <p:nvPr/>
        </p:nvSpPr>
        <p:spPr>
          <a:xfrm>
            <a:off x="7471838" y="1531611"/>
            <a:ext cx="10516713" cy="690880"/>
          </a:xfrm>
          <a:prstGeom prst="rect">
            <a:avLst/>
          </a:prstGeom>
        </p:spPr>
        <p:txBody>
          <a:bodyPr lIns="0" tIns="0" rIns="0" bIns="0" rtlCol="0" anchor="t">
            <a:spAutoFit/>
          </a:bodyPr>
          <a:lstStyle/>
          <a:p>
            <a:pPr algn="l">
              <a:lnSpc>
                <a:spcPts val="4700"/>
              </a:lnSpc>
            </a:pPr>
            <a:r>
              <a:rPr lang="en-US" sz="4700" b="1">
                <a:solidFill>
                  <a:srgbClr val="000000"/>
                </a:solidFill>
                <a:latin typeface="Codec Pro Bold"/>
                <a:ea typeface="Codec Pro Bold"/>
                <a:cs typeface="Codec Pro Bold"/>
                <a:sym typeface="Codec Pro Bold"/>
              </a:rPr>
              <a:t>Api Key</a:t>
            </a:r>
          </a:p>
        </p:txBody>
      </p:sp>
      <p:sp>
        <p:nvSpPr>
          <p:cNvPr id="17" name="TextBox 17"/>
          <p:cNvSpPr txBox="1"/>
          <p:nvPr/>
        </p:nvSpPr>
        <p:spPr>
          <a:xfrm>
            <a:off x="7668825" y="2537080"/>
            <a:ext cx="10435096" cy="6240275"/>
          </a:xfrm>
          <a:prstGeom prst="rect">
            <a:avLst/>
          </a:prstGeom>
        </p:spPr>
        <p:txBody>
          <a:bodyPr lIns="0" tIns="0" rIns="0" bIns="0" rtlCol="0" anchor="t">
            <a:spAutoFit/>
          </a:bodyPr>
          <a:lstStyle/>
          <a:p>
            <a:pPr algn="just">
              <a:lnSpc>
                <a:spcPts val="3877"/>
              </a:lnSpc>
            </a:pPr>
            <a:r>
              <a:rPr lang="en-US" sz="2769">
                <a:solidFill>
                  <a:srgbClr val="000000"/>
                </a:solidFill>
                <a:latin typeface="Montserrat"/>
                <a:ea typeface="Montserrat"/>
                <a:cs typeface="Montserrat"/>
                <a:sym typeface="Montserrat"/>
              </a:rPr>
              <a:t>In API key authentication, the API provider assigns a unique key to each client accessing the API. The client must include this API key in their requests to authenticate themselves. It can be placed in the header, body, or query parameters, depending on the API's design as outlined in the API documentation.</a:t>
            </a:r>
          </a:p>
          <a:p>
            <a:pPr algn="just">
              <a:lnSpc>
                <a:spcPts val="3877"/>
              </a:lnSpc>
            </a:pPr>
            <a:r>
              <a:rPr lang="en-US" sz="2769">
                <a:solidFill>
                  <a:srgbClr val="000000"/>
                </a:solidFill>
                <a:latin typeface="Montserrat"/>
                <a:ea typeface="Montserrat"/>
                <a:cs typeface="Montserrat"/>
                <a:sym typeface="Montserrat"/>
              </a:rPr>
              <a:t>API key authentication is straightforward to implement and allows for dedicated permission sets for individual keys. This makes it a popular choice for scenarios where moderate security is sufficient. Additionally, API keys can be revoked if compromised, allowing the client to request a new one.</a:t>
            </a:r>
          </a:p>
          <a:p>
            <a:pPr algn="just">
              <a:lnSpc>
                <a:spcPts val="3317"/>
              </a:lnSpc>
              <a:spcBef>
                <a:spcPct val="0"/>
              </a:spcBef>
            </a:pPr>
            <a:endParaRPr lang="en-US" sz="2769">
              <a:solidFill>
                <a:srgbClr val="000000"/>
              </a:solidFill>
              <a:latin typeface="Montserrat"/>
              <a:ea typeface="Montserrat"/>
              <a:cs typeface="Montserrat"/>
              <a:sym typeface="Montserrat"/>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1741169" y="-3878466"/>
            <a:ext cx="8400347" cy="8400347"/>
          </a:xfrm>
          <a:custGeom>
            <a:avLst/>
            <a:gdLst/>
            <a:ahLst/>
            <a:cxnLst/>
            <a:rect l="l" t="t" r="r" b="b"/>
            <a:pathLst>
              <a:path w="8400347" h="8400347">
                <a:moveTo>
                  <a:pt x="0" y="0"/>
                </a:moveTo>
                <a:lnTo>
                  <a:pt x="8400346" y="0"/>
                </a:lnTo>
                <a:lnTo>
                  <a:pt x="8400346" y="8400347"/>
                </a:lnTo>
                <a:lnTo>
                  <a:pt x="0" y="840034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0" y="0"/>
            <a:ext cx="3936827" cy="10287000"/>
            <a:chOff x="0" y="0"/>
            <a:chExt cx="1036860" cy="2709333"/>
          </a:xfrm>
        </p:grpSpPr>
        <p:sp>
          <p:nvSpPr>
            <p:cNvPr id="4" name="Freeform 4"/>
            <p:cNvSpPr/>
            <p:nvPr/>
          </p:nvSpPr>
          <p:spPr>
            <a:xfrm>
              <a:off x="0" y="0"/>
              <a:ext cx="1036860" cy="2709333"/>
            </a:xfrm>
            <a:custGeom>
              <a:avLst/>
              <a:gdLst/>
              <a:ahLst/>
              <a:cxnLst/>
              <a:rect l="l" t="t" r="r" b="b"/>
              <a:pathLst>
                <a:path w="1036860" h="2709333">
                  <a:moveTo>
                    <a:pt x="0" y="0"/>
                  </a:moveTo>
                  <a:lnTo>
                    <a:pt x="1036860" y="0"/>
                  </a:lnTo>
                  <a:lnTo>
                    <a:pt x="1036860" y="2709333"/>
                  </a:lnTo>
                  <a:lnTo>
                    <a:pt x="0" y="2709333"/>
                  </a:lnTo>
                  <a:close/>
                </a:path>
              </a:pathLst>
            </a:custGeom>
            <a:solidFill>
              <a:srgbClr val="856EE0"/>
            </a:solidFill>
          </p:spPr>
        </p:sp>
        <p:sp>
          <p:nvSpPr>
            <p:cNvPr id="5" name="TextBox 5"/>
            <p:cNvSpPr txBox="1"/>
            <p:nvPr/>
          </p:nvSpPr>
          <p:spPr>
            <a:xfrm>
              <a:off x="0" y="-38100"/>
              <a:ext cx="1036860" cy="2747433"/>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4087827" y="6086827"/>
            <a:ext cx="8400347" cy="8400347"/>
          </a:xfrm>
          <a:custGeom>
            <a:avLst/>
            <a:gdLst/>
            <a:ahLst/>
            <a:cxnLst/>
            <a:rect l="l" t="t" r="r" b="b"/>
            <a:pathLst>
              <a:path w="8400347" h="8400347">
                <a:moveTo>
                  <a:pt x="0" y="0"/>
                </a:moveTo>
                <a:lnTo>
                  <a:pt x="8400346" y="0"/>
                </a:lnTo>
                <a:lnTo>
                  <a:pt x="8400346" y="8400346"/>
                </a:lnTo>
                <a:lnTo>
                  <a:pt x="0" y="840034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7" name="Freeform 7"/>
          <p:cNvSpPr/>
          <p:nvPr/>
        </p:nvSpPr>
        <p:spPr>
          <a:xfrm>
            <a:off x="15466739" y="1028700"/>
            <a:ext cx="1761909" cy="112121"/>
          </a:xfrm>
          <a:custGeom>
            <a:avLst/>
            <a:gdLst/>
            <a:ahLst/>
            <a:cxnLst/>
            <a:rect l="l" t="t" r="r" b="b"/>
            <a:pathLst>
              <a:path w="1761909" h="112121">
                <a:moveTo>
                  <a:pt x="0" y="0"/>
                </a:moveTo>
                <a:lnTo>
                  <a:pt x="1761909" y="0"/>
                </a:lnTo>
                <a:lnTo>
                  <a:pt x="1761909" y="112121"/>
                </a:lnTo>
                <a:lnTo>
                  <a:pt x="0" y="1121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10583632" y="9146179"/>
            <a:ext cx="1761909" cy="112121"/>
          </a:xfrm>
          <a:custGeom>
            <a:avLst/>
            <a:gdLst/>
            <a:ahLst/>
            <a:cxnLst/>
            <a:rect l="l" t="t" r="r" b="b"/>
            <a:pathLst>
              <a:path w="1761909" h="112121">
                <a:moveTo>
                  <a:pt x="0" y="0"/>
                </a:moveTo>
                <a:lnTo>
                  <a:pt x="1761908" y="0"/>
                </a:lnTo>
                <a:lnTo>
                  <a:pt x="1761908" y="112121"/>
                </a:lnTo>
                <a:lnTo>
                  <a:pt x="0" y="1121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9" name="Group 9"/>
          <p:cNvGrpSpPr/>
          <p:nvPr/>
        </p:nvGrpSpPr>
        <p:grpSpPr>
          <a:xfrm>
            <a:off x="17149862" y="9258300"/>
            <a:ext cx="861105" cy="861105"/>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51</a:t>
              </a:r>
            </a:p>
          </p:txBody>
        </p:sp>
      </p:grpSp>
      <p:grpSp>
        <p:nvGrpSpPr>
          <p:cNvPr id="12" name="Group 12"/>
          <p:cNvGrpSpPr/>
          <p:nvPr/>
        </p:nvGrpSpPr>
        <p:grpSpPr>
          <a:xfrm>
            <a:off x="918851" y="8248329"/>
            <a:ext cx="6035952" cy="517324"/>
            <a:chOff x="0" y="0"/>
            <a:chExt cx="1589716" cy="136250"/>
          </a:xfrm>
        </p:grpSpPr>
        <p:sp>
          <p:nvSpPr>
            <p:cNvPr id="13" name="Freeform 13"/>
            <p:cNvSpPr/>
            <p:nvPr/>
          </p:nvSpPr>
          <p:spPr>
            <a:xfrm>
              <a:off x="0" y="0"/>
              <a:ext cx="1589716" cy="136250"/>
            </a:xfrm>
            <a:custGeom>
              <a:avLst/>
              <a:gdLst/>
              <a:ahLst/>
              <a:cxnLst/>
              <a:rect l="l" t="t" r="r" b="b"/>
              <a:pathLst>
                <a:path w="1589716" h="136250">
                  <a:moveTo>
                    <a:pt x="30783" y="0"/>
                  </a:moveTo>
                  <a:lnTo>
                    <a:pt x="1558932" y="0"/>
                  </a:lnTo>
                  <a:cubicBezTo>
                    <a:pt x="1575934" y="0"/>
                    <a:pt x="1589716" y="13782"/>
                    <a:pt x="1589716" y="30783"/>
                  </a:cubicBezTo>
                  <a:lnTo>
                    <a:pt x="1589716" y="105467"/>
                  </a:lnTo>
                  <a:cubicBezTo>
                    <a:pt x="1589716" y="122468"/>
                    <a:pt x="1575934" y="136250"/>
                    <a:pt x="1558932" y="136250"/>
                  </a:cubicBezTo>
                  <a:lnTo>
                    <a:pt x="30783" y="136250"/>
                  </a:lnTo>
                  <a:cubicBezTo>
                    <a:pt x="22619" y="136250"/>
                    <a:pt x="14789" y="133007"/>
                    <a:pt x="9016" y="127234"/>
                  </a:cubicBezTo>
                  <a:cubicBezTo>
                    <a:pt x="3243" y="121461"/>
                    <a:pt x="0" y="113631"/>
                    <a:pt x="0" y="105467"/>
                  </a:cubicBezTo>
                  <a:lnTo>
                    <a:pt x="0" y="30783"/>
                  </a:lnTo>
                  <a:cubicBezTo>
                    <a:pt x="0" y="13782"/>
                    <a:pt x="13782" y="0"/>
                    <a:pt x="30783" y="0"/>
                  </a:cubicBezTo>
                  <a:close/>
                </a:path>
              </a:pathLst>
            </a:custGeom>
            <a:solidFill>
              <a:srgbClr val="26CBB8"/>
            </a:solidFill>
          </p:spPr>
        </p:sp>
        <p:sp>
          <p:nvSpPr>
            <p:cNvPr id="14" name="TextBox 14"/>
            <p:cNvSpPr txBox="1"/>
            <p:nvPr/>
          </p:nvSpPr>
          <p:spPr>
            <a:xfrm>
              <a:off x="0" y="-38100"/>
              <a:ext cx="1589716" cy="174350"/>
            </a:xfrm>
            <a:prstGeom prst="rect">
              <a:avLst/>
            </a:prstGeom>
          </p:spPr>
          <p:txBody>
            <a:bodyPr lIns="50800" tIns="50800" rIns="50800" bIns="50800" rtlCol="0" anchor="ctr"/>
            <a:lstStyle/>
            <a:p>
              <a:pPr algn="ctr">
                <a:lnSpc>
                  <a:spcPts val="2659"/>
                </a:lnSpc>
              </a:pPr>
              <a:endParaRPr/>
            </a:p>
          </p:txBody>
        </p:sp>
      </p:grpSp>
      <p:sp>
        <p:nvSpPr>
          <p:cNvPr id="15" name="Freeform 15"/>
          <p:cNvSpPr/>
          <p:nvPr/>
        </p:nvSpPr>
        <p:spPr>
          <a:xfrm>
            <a:off x="113393" y="4045454"/>
            <a:ext cx="6841410" cy="3766453"/>
          </a:xfrm>
          <a:custGeom>
            <a:avLst/>
            <a:gdLst/>
            <a:ahLst/>
            <a:cxnLst/>
            <a:rect l="l" t="t" r="r" b="b"/>
            <a:pathLst>
              <a:path w="6841410" h="3766453">
                <a:moveTo>
                  <a:pt x="0" y="0"/>
                </a:moveTo>
                <a:lnTo>
                  <a:pt x="6841409" y="0"/>
                </a:lnTo>
                <a:lnTo>
                  <a:pt x="6841409" y="3766453"/>
                </a:lnTo>
                <a:lnTo>
                  <a:pt x="0" y="3766453"/>
                </a:lnTo>
                <a:lnTo>
                  <a:pt x="0" y="0"/>
                </a:lnTo>
                <a:close/>
              </a:path>
            </a:pathLst>
          </a:custGeom>
          <a:blipFill>
            <a:blip r:embed="rId6"/>
            <a:stretch>
              <a:fillRect/>
            </a:stretch>
          </a:blipFill>
        </p:spPr>
      </p:sp>
      <p:sp>
        <p:nvSpPr>
          <p:cNvPr id="16" name="TextBox 16"/>
          <p:cNvSpPr txBox="1"/>
          <p:nvPr/>
        </p:nvSpPr>
        <p:spPr>
          <a:xfrm>
            <a:off x="7471838" y="1531611"/>
            <a:ext cx="10516713" cy="690880"/>
          </a:xfrm>
          <a:prstGeom prst="rect">
            <a:avLst/>
          </a:prstGeom>
        </p:spPr>
        <p:txBody>
          <a:bodyPr lIns="0" tIns="0" rIns="0" bIns="0" rtlCol="0" anchor="t">
            <a:spAutoFit/>
          </a:bodyPr>
          <a:lstStyle/>
          <a:p>
            <a:pPr algn="l">
              <a:lnSpc>
                <a:spcPts val="4700"/>
              </a:lnSpc>
            </a:pPr>
            <a:r>
              <a:rPr lang="en-US" sz="4700" b="1">
                <a:solidFill>
                  <a:srgbClr val="000000"/>
                </a:solidFill>
                <a:latin typeface="Codec Pro Bold"/>
                <a:ea typeface="Codec Pro Bold"/>
                <a:cs typeface="Codec Pro Bold"/>
                <a:sym typeface="Codec Pro Bold"/>
              </a:rPr>
              <a:t>OAuth 2.0</a:t>
            </a:r>
          </a:p>
        </p:txBody>
      </p:sp>
      <p:sp>
        <p:nvSpPr>
          <p:cNvPr id="17" name="TextBox 17"/>
          <p:cNvSpPr txBox="1"/>
          <p:nvPr/>
        </p:nvSpPr>
        <p:spPr>
          <a:xfrm>
            <a:off x="7575871" y="2537080"/>
            <a:ext cx="10435096" cy="6726050"/>
          </a:xfrm>
          <a:prstGeom prst="rect">
            <a:avLst/>
          </a:prstGeom>
        </p:spPr>
        <p:txBody>
          <a:bodyPr lIns="0" tIns="0" rIns="0" bIns="0" rtlCol="0" anchor="t">
            <a:spAutoFit/>
          </a:bodyPr>
          <a:lstStyle/>
          <a:p>
            <a:pPr algn="just">
              <a:lnSpc>
                <a:spcPts val="3877"/>
              </a:lnSpc>
            </a:pPr>
            <a:r>
              <a:rPr lang="en-US" sz="2769">
                <a:solidFill>
                  <a:srgbClr val="000000"/>
                </a:solidFill>
                <a:latin typeface="Montserrat"/>
                <a:ea typeface="Montserrat"/>
                <a:cs typeface="Montserrat"/>
                <a:sym typeface="Montserrat"/>
              </a:rPr>
              <a:t>OAuth 2.0, which stands for "Open Authorization," is a standard that enables a website or application to access resources hosted by other web apps on behalf of a user. Introduced in 2012 as a replacement for OAuth 1.0, it has become the industry standard for online authorization.</a:t>
            </a:r>
          </a:p>
          <a:p>
            <a:pPr algn="just">
              <a:lnSpc>
                <a:spcPts val="3877"/>
              </a:lnSpc>
            </a:pPr>
            <a:endParaRPr lang="en-US" sz="2769">
              <a:solidFill>
                <a:srgbClr val="000000"/>
              </a:solidFill>
              <a:latin typeface="Montserrat"/>
              <a:ea typeface="Montserrat"/>
              <a:cs typeface="Montserrat"/>
              <a:sym typeface="Montserrat"/>
            </a:endParaRPr>
          </a:p>
          <a:p>
            <a:pPr algn="just">
              <a:lnSpc>
                <a:spcPts val="3877"/>
              </a:lnSpc>
            </a:pPr>
            <a:r>
              <a:rPr lang="en-US" sz="2769">
                <a:solidFill>
                  <a:srgbClr val="000000"/>
                </a:solidFill>
                <a:latin typeface="Montserrat"/>
                <a:ea typeface="Montserrat"/>
                <a:cs typeface="Montserrat"/>
                <a:sym typeface="Montserrat"/>
              </a:rPr>
              <a:t>OAuth 2.0 allows for consented access, restricting what actions the client application can perform on resources on behalf of the user, without ever sharing the user's credentials. While primarily designed for web applications, the specification also accommodates various client types, including browser-based applications, server-side web applications, native/mobile apps, and connected devices.</a:t>
            </a:r>
          </a:p>
          <a:p>
            <a:pPr algn="just">
              <a:lnSpc>
                <a:spcPts val="3317"/>
              </a:lnSpc>
              <a:spcBef>
                <a:spcPct val="0"/>
              </a:spcBef>
            </a:pPr>
            <a:endParaRPr lang="en-US" sz="2769">
              <a:solidFill>
                <a:srgbClr val="000000"/>
              </a:solidFill>
              <a:latin typeface="Montserrat"/>
              <a:ea typeface="Montserrat"/>
              <a:cs typeface="Montserrat"/>
              <a:sym typeface="Montserrat"/>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1741169" y="-3878466"/>
            <a:ext cx="8400347" cy="8400347"/>
          </a:xfrm>
          <a:custGeom>
            <a:avLst/>
            <a:gdLst/>
            <a:ahLst/>
            <a:cxnLst/>
            <a:rect l="l" t="t" r="r" b="b"/>
            <a:pathLst>
              <a:path w="8400347" h="8400347">
                <a:moveTo>
                  <a:pt x="0" y="0"/>
                </a:moveTo>
                <a:lnTo>
                  <a:pt x="8400346" y="0"/>
                </a:lnTo>
                <a:lnTo>
                  <a:pt x="8400346" y="8400347"/>
                </a:lnTo>
                <a:lnTo>
                  <a:pt x="0" y="840034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0" y="0"/>
            <a:ext cx="3936827" cy="10287000"/>
            <a:chOff x="0" y="0"/>
            <a:chExt cx="1036860" cy="2709333"/>
          </a:xfrm>
        </p:grpSpPr>
        <p:sp>
          <p:nvSpPr>
            <p:cNvPr id="4" name="Freeform 4"/>
            <p:cNvSpPr/>
            <p:nvPr/>
          </p:nvSpPr>
          <p:spPr>
            <a:xfrm>
              <a:off x="0" y="0"/>
              <a:ext cx="1036860" cy="2709333"/>
            </a:xfrm>
            <a:custGeom>
              <a:avLst/>
              <a:gdLst/>
              <a:ahLst/>
              <a:cxnLst/>
              <a:rect l="l" t="t" r="r" b="b"/>
              <a:pathLst>
                <a:path w="1036860" h="2709333">
                  <a:moveTo>
                    <a:pt x="0" y="0"/>
                  </a:moveTo>
                  <a:lnTo>
                    <a:pt x="1036860" y="0"/>
                  </a:lnTo>
                  <a:lnTo>
                    <a:pt x="1036860" y="2709333"/>
                  </a:lnTo>
                  <a:lnTo>
                    <a:pt x="0" y="2709333"/>
                  </a:lnTo>
                  <a:close/>
                </a:path>
              </a:pathLst>
            </a:custGeom>
            <a:solidFill>
              <a:srgbClr val="856EE0"/>
            </a:solidFill>
          </p:spPr>
        </p:sp>
        <p:sp>
          <p:nvSpPr>
            <p:cNvPr id="5" name="TextBox 5"/>
            <p:cNvSpPr txBox="1"/>
            <p:nvPr/>
          </p:nvSpPr>
          <p:spPr>
            <a:xfrm>
              <a:off x="0" y="-38100"/>
              <a:ext cx="1036860" cy="2747433"/>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4087827" y="6086827"/>
            <a:ext cx="8400347" cy="8400347"/>
          </a:xfrm>
          <a:custGeom>
            <a:avLst/>
            <a:gdLst/>
            <a:ahLst/>
            <a:cxnLst/>
            <a:rect l="l" t="t" r="r" b="b"/>
            <a:pathLst>
              <a:path w="8400347" h="8400347">
                <a:moveTo>
                  <a:pt x="0" y="0"/>
                </a:moveTo>
                <a:lnTo>
                  <a:pt x="8400346" y="0"/>
                </a:lnTo>
                <a:lnTo>
                  <a:pt x="8400346" y="8400346"/>
                </a:lnTo>
                <a:lnTo>
                  <a:pt x="0" y="840034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7" name="Freeform 7"/>
          <p:cNvSpPr/>
          <p:nvPr/>
        </p:nvSpPr>
        <p:spPr>
          <a:xfrm>
            <a:off x="15466739" y="1028700"/>
            <a:ext cx="1761909" cy="112121"/>
          </a:xfrm>
          <a:custGeom>
            <a:avLst/>
            <a:gdLst/>
            <a:ahLst/>
            <a:cxnLst/>
            <a:rect l="l" t="t" r="r" b="b"/>
            <a:pathLst>
              <a:path w="1761909" h="112121">
                <a:moveTo>
                  <a:pt x="0" y="0"/>
                </a:moveTo>
                <a:lnTo>
                  <a:pt x="1761909" y="0"/>
                </a:lnTo>
                <a:lnTo>
                  <a:pt x="1761909" y="112121"/>
                </a:lnTo>
                <a:lnTo>
                  <a:pt x="0" y="1121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10583632" y="9146179"/>
            <a:ext cx="1761909" cy="112121"/>
          </a:xfrm>
          <a:custGeom>
            <a:avLst/>
            <a:gdLst/>
            <a:ahLst/>
            <a:cxnLst/>
            <a:rect l="l" t="t" r="r" b="b"/>
            <a:pathLst>
              <a:path w="1761909" h="112121">
                <a:moveTo>
                  <a:pt x="0" y="0"/>
                </a:moveTo>
                <a:lnTo>
                  <a:pt x="1761908" y="0"/>
                </a:lnTo>
                <a:lnTo>
                  <a:pt x="1761908" y="112121"/>
                </a:lnTo>
                <a:lnTo>
                  <a:pt x="0" y="1121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9" name="Group 9"/>
          <p:cNvGrpSpPr/>
          <p:nvPr/>
        </p:nvGrpSpPr>
        <p:grpSpPr>
          <a:xfrm>
            <a:off x="17149862" y="9258300"/>
            <a:ext cx="861105" cy="861105"/>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52</a:t>
              </a:r>
            </a:p>
          </p:txBody>
        </p:sp>
      </p:grpSp>
      <p:grpSp>
        <p:nvGrpSpPr>
          <p:cNvPr id="12" name="Group 12"/>
          <p:cNvGrpSpPr/>
          <p:nvPr/>
        </p:nvGrpSpPr>
        <p:grpSpPr>
          <a:xfrm>
            <a:off x="918851" y="8248329"/>
            <a:ext cx="6035952" cy="517324"/>
            <a:chOff x="0" y="0"/>
            <a:chExt cx="1589716" cy="136250"/>
          </a:xfrm>
        </p:grpSpPr>
        <p:sp>
          <p:nvSpPr>
            <p:cNvPr id="13" name="Freeform 13"/>
            <p:cNvSpPr/>
            <p:nvPr/>
          </p:nvSpPr>
          <p:spPr>
            <a:xfrm>
              <a:off x="0" y="0"/>
              <a:ext cx="1589716" cy="136250"/>
            </a:xfrm>
            <a:custGeom>
              <a:avLst/>
              <a:gdLst/>
              <a:ahLst/>
              <a:cxnLst/>
              <a:rect l="l" t="t" r="r" b="b"/>
              <a:pathLst>
                <a:path w="1589716" h="136250">
                  <a:moveTo>
                    <a:pt x="30783" y="0"/>
                  </a:moveTo>
                  <a:lnTo>
                    <a:pt x="1558932" y="0"/>
                  </a:lnTo>
                  <a:cubicBezTo>
                    <a:pt x="1575934" y="0"/>
                    <a:pt x="1589716" y="13782"/>
                    <a:pt x="1589716" y="30783"/>
                  </a:cubicBezTo>
                  <a:lnTo>
                    <a:pt x="1589716" y="105467"/>
                  </a:lnTo>
                  <a:cubicBezTo>
                    <a:pt x="1589716" y="122468"/>
                    <a:pt x="1575934" y="136250"/>
                    <a:pt x="1558932" y="136250"/>
                  </a:cubicBezTo>
                  <a:lnTo>
                    <a:pt x="30783" y="136250"/>
                  </a:lnTo>
                  <a:cubicBezTo>
                    <a:pt x="22619" y="136250"/>
                    <a:pt x="14789" y="133007"/>
                    <a:pt x="9016" y="127234"/>
                  </a:cubicBezTo>
                  <a:cubicBezTo>
                    <a:pt x="3243" y="121461"/>
                    <a:pt x="0" y="113631"/>
                    <a:pt x="0" y="105467"/>
                  </a:cubicBezTo>
                  <a:lnTo>
                    <a:pt x="0" y="30783"/>
                  </a:lnTo>
                  <a:cubicBezTo>
                    <a:pt x="0" y="13782"/>
                    <a:pt x="13782" y="0"/>
                    <a:pt x="30783" y="0"/>
                  </a:cubicBezTo>
                  <a:close/>
                </a:path>
              </a:pathLst>
            </a:custGeom>
            <a:solidFill>
              <a:srgbClr val="26CBB8"/>
            </a:solidFill>
          </p:spPr>
        </p:sp>
        <p:sp>
          <p:nvSpPr>
            <p:cNvPr id="14" name="TextBox 14"/>
            <p:cNvSpPr txBox="1"/>
            <p:nvPr/>
          </p:nvSpPr>
          <p:spPr>
            <a:xfrm>
              <a:off x="0" y="-38100"/>
              <a:ext cx="1589716" cy="174350"/>
            </a:xfrm>
            <a:prstGeom prst="rect">
              <a:avLst/>
            </a:prstGeom>
          </p:spPr>
          <p:txBody>
            <a:bodyPr lIns="50800" tIns="50800" rIns="50800" bIns="50800" rtlCol="0" anchor="ctr"/>
            <a:lstStyle/>
            <a:p>
              <a:pPr algn="ctr">
                <a:lnSpc>
                  <a:spcPts val="2659"/>
                </a:lnSpc>
              </a:pPr>
              <a:endParaRPr/>
            </a:p>
          </p:txBody>
        </p:sp>
      </p:grpSp>
      <p:sp>
        <p:nvSpPr>
          <p:cNvPr id="15" name="Freeform 15"/>
          <p:cNvSpPr/>
          <p:nvPr/>
        </p:nvSpPr>
        <p:spPr>
          <a:xfrm>
            <a:off x="385253" y="4618409"/>
            <a:ext cx="7103147" cy="2131851"/>
          </a:xfrm>
          <a:custGeom>
            <a:avLst/>
            <a:gdLst/>
            <a:ahLst/>
            <a:cxnLst/>
            <a:rect l="l" t="t" r="r" b="b"/>
            <a:pathLst>
              <a:path w="7103147" h="2131851">
                <a:moveTo>
                  <a:pt x="0" y="0"/>
                </a:moveTo>
                <a:lnTo>
                  <a:pt x="7103147" y="0"/>
                </a:lnTo>
                <a:lnTo>
                  <a:pt x="7103147" y="2131851"/>
                </a:lnTo>
                <a:lnTo>
                  <a:pt x="0" y="2131851"/>
                </a:lnTo>
                <a:lnTo>
                  <a:pt x="0" y="0"/>
                </a:lnTo>
                <a:close/>
              </a:path>
            </a:pathLst>
          </a:custGeom>
          <a:blipFill>
            <a:blip r:embed="rId6"/>
            <a:stretch>
              <a:fillRect/>
            </a:stretch>
          </a:blipFill>
        </p:spPr>
      </p:sp>
      <p:sp>
        <p:nvSpPr>
          <p:cNvPr id="16" name="TextBox 16"/>
          <p:cNvSpPr txBox="1"/>
          <p:nvPr/>
        </p:nvSpPr>
        <p:spPr>
          <a:xfrm>
            <a:off x="7471838" y="1531611"/>
            <a:ext cx="10516713" cy="690880"/>
          </a:xfrm>
          <a:prstGeom prst="rect">
            <a:avLst/>
          </a:prstGeom>
        </p:spPr>
        <p:txBody>
          <a:bodyPr lIns="0" tIns="0" rIns="0" bIns="0" rtlCol="0" anchor="t">
            <a:spAutoFit/>
          </a:bodyPr>
          <a:lstStyle/>
          <a:p>
            <a:pPr algn="l">
              <a:lnSpc>
                <a:spcPts val="4700"/>
              </a:lnSpc>
            </a:pPr>
            <a:r>
              <a:rPr lang="en-US" sz="4700" b="1">
                <a:solidFill>
                  <a:srgbClr val="000000"/>
                </a:solidFill>
                <a:latin typeface="Codec Pro Bold"/>
                <a:ea typeface="Codec Pro Bold"/>
                <a:cs typeface="Codec Pro Bold"/>
                <a:sym typeface="Codec Pro Bold"/>
              </a:rPr>
              <a:t>Securing Data : HTTPS an Encryption</a:t>
            </a:r>
          </a:p>
        </p:txBody>
      </p:sp>
      <p:sp>
        <p:nvSpPr>
          <p:cNvPr id="17" name="TextBox 17"/>
          <p:cNvSpPr txBox="1"/>
          <p:nvPr/>
        </p:nvSpPr>
        <p:spPr>
          <a:xfrm>
            <a:off x="7575871" y="3021397"/>
            <a:ext cx="10435096" cy="5268725"/>
          </a:xfrm>
          <a:prstGeom prst="rect">
            <a:avLst/>
          </a:prstGeom>
        </p:spPr>
        <p:txBody>
          <a:bodyPr lIns="0" tIns="0" rIns="0" bIns="0" rtlCol="0" anchor="t">
            <a:spAutoFit/>
          </a:bodyPr>
          <a:lstStyle/>
          <a:p>
            <a:pPr algn="just">
              <a:lnSpc>
                <a:spcPts val="3877"/>
              </a:lnSpc>
            </a:pPr>
            <a:r>
              <a:rPr lang="en-US" sz="2769">
                <a:solidFill>
                  <a:srgbClr val="000000"/>
                </a:solidFill>
                <a:latin typeface="Montserrat"/>
                <a:ea typeface="Montserrat"/>
                <a:cs typeface="Montserrat"/>
                <a:sym typeface="Montserrat"/>
              </a:rPr>
              <a:t>HTTPS (Hypertext Transfer Protocol Secure) encrypts data exchanged between a client and server, safeguarding sensitive information like login credentials from eavesdropping and man-in-the-middle attacks. In addition to securing data in transit, encryption of data at rest ensures that stored information on servers or databases remains protected and unreadable to unauthorized users. Together, HTTPS and data encryption provide a comprehensive security strategy, ensuring the privacy of both transmitted and stored data.</a:t>
            </a:r>
          </a:p>
          <a:p>
            <a:pPr algn="just">
              <a:lnSpc>
                <a:spcPts val="3317"/>
              </a:lnSpc>
              <a:spcBef>
                <a:spcPct val="0"/>
              </a:spcBef>
            </a:pPr>
            <a:endParaRPr lang="en-US" sz="2769">
              <a:solidFill>
                <a:srgbClr val="000000"/>
              </a:solidFill>
              <a:latin typeface="Montserrat"/>
              <a:ea typeface="Montserrat"/>
              <a:cs typeface="Montserrat"/>
              <a:sym typeface="Montserrat"/>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2183285" y="-3256847"/>
            <a:ext cx="8400347" cy="8400347"/>
          </a:xfrm>
          <a:custGeom>
            <a:avLst/>
            <a:gdLst/>
            <a:ahLst/>
            <a:cxnLst/>
            <a:rect l="l" t="t" r="r" b="b"/>
            <a:pathLst>
              <a:path w="8400347" h="8400347">
                <a:moveTo>
                  <a:pt x="0" y="0"/>
                </a:moveTo>
                <a:lnTo>
                  <a:pt x="8400347" y="0"/>
                </a:lnTo>
                <a:lnTo>
                  <a:pt x="8400347" y="8400347"/>
                </a:lnTo>
                <a:lnTo>
                  <a:pt x="0" y="840034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0" y="0"/>
            <a:ext cx="3936827" cy="10287000"/>
            <a:chOff x="0" y="0"/>
            <a:chExt cx="1036860" cy="2709333"/>
          </a:xfrm>
        </p:grpSpPr>
        <p:sp>
          <p:nvSpPr>
            <p:cNvPr id="4" name="Freeform 4"/>
            <p:cNvSpPr/>
            <p:nvPr/>
          </p:nvSpPr>
          <p:spPr>
            <a:xfrm>
              <a:off x="0" y="0"/>
              <a:ext cx="1036860" cy="2709333"/>
            </a:xfrm>
            <a:custGeom>
              <a:avLst/>
              <a:gdLst/>
              <a:ahLst/>
              <a:cxnLst/>
              <a:rect l="l" t="t" r="r" b="b"/>
              <a:pathLst>
                <a:path w="1036860" h="2709333">
                  <a:moveTo>
                    <a:pt x="0" y="0"/>
                  </a:moveTo>
                  <a:lnTo>
                    <a:pt x="1036860" y="0"/>
                  </a:lnTo>
                  <a:lnTo>
                    <a:pt x="1036860" y="2709333"/>
                  </a:lnTo>
                  <a:lnTo>
                    <a:pt x="0" y="2709333"/>
                  </a:lnTo>
                  <a:close/>
                </a:path>
              </a:pathLst>
            </a:custGeom>
            <a:solidFill>
              <a:srgbClr val="856EE0"/>
            </a:solidFill>
          </p:spPr>
        </p:sp>
        <p:sp>
          <p:nvSpPr>
            <p:cNvPr id="5" name="TextBox 5"/>
            <p:cNvSpPr txBox="1"/>
            <p:nvPr/>
          </p:nvSpPr>
          <p:spPr>
            <a:xfrm>
              <a:off x="0" y="-38100"/>
              <a:ext cx="1036860" cy="2747433"/>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4087827" y="6086827"/>
            <a:ext cx="8400347" cy="8400347"/>
          </a:xfrm>
          <a:custGeom>
            <a:avLst/>
            <a:gdLst/>
            <a:ahLst/>
            <a:cxnLst/>
            <a:rect l="l" t="t" r="r" b="b"/>
            <a:pathLst>
              <a:path w="8400347" h="8400347">
                <a:moveTo>
                  <a:pt x="0" y="0"/>
                </a:moveTo>
                <a:lnTo>
                  <a:pt x="8400346" y="0"/>
                </a:lnTo>
                <a:lnTo>
                  <a:pt x="8400346" y="8400346"/>
                </a:lnTo>
                <a:lnTo>
                  <a:pt x="0" y="840034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7" name="Freeform 7"/>
          <p:cNvSpPr/>
          <p:nvPr/>
        </p:nvSpPr>
        <p:spPr>
          <a:xfrm>
            <a:off x="15466739" y="1028700"/>
            <a:ext cx="1761909" cy="112121"/>
          </a:xfrm>
          <a:custGeom>
            <a:avLst/>
            <a:gdLst/>
            <a:ahLst/>
            <a:cxnLst/>
            <a:rect l="l" t="t" r="r" b="b"/>
            <a:pathLst>
              <a:path w="1761909" h="112121">
                <a:moveTo>
                  <a:pt x="0" y="0"/>
                </a:moveTo>
                <a:lnTo>
                  <a:pt x="1761909" y="0"/>
                </a:lnTo>
                <a:lnTo>
                  <a:pt x="1761909" y="112121"/>
                </a:lnTo>
                <a:lnTo>
                  <a:pt x="0" y="1121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10583632" y="9146179"/>
            <a:ext cx="1761909" cy="112121"/>
          </a:xfrm>
          <a:custGeom>
            <a:avLst/>
            <a:gdLst/>
            <a:ahLst/>
            <a:cxnLst/>
            <a:rect l="l" t="t" r="r" b="b"/>
            <a:pathLst>
              <a:path w="1761909" h="112121">
                <a:moveTo>
                  <a:pt x="0" y="0"/>
                </a:moveTo>
                <a:lnTo>
                  <a:pt x="1761908" y="0"/>
                </a:lnTo>
                <a:lnTo>
                  <a:pt x="1761908" y="112121"/>
                </a:lnTo>
                <a:lnTo>
                  <a:pt x="0" y="1121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9" name="Group 9"/>
          <p:cNvGrpSpPr/>
          <p:nvPr/>
        </p:nvGrpSpPr>
        <p:grpSpPr>
          <a:xfrm>
            <a:off x="17149862" y="9258300"/>
            <a:ext cx="861105" cy="861105"/>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53</a:t>
              </a:r>
            </a:p>
          </p:txBody>
        </p:sp>
      </p:grpSp>
      <p:grpSp>
        <p:nvGrpSpPr>
          <p:cNvPr id="12" name="Group 12"/>
          <p:cNvGrpSpPr/>
          <p:nvPr/>
        </p:nvGrpSpPr>
        <p:grpSpPr>
          <a:xfrm>
            <a:off x="918851" y="8248329"/>
            <a:ext cx="6035952" cy="517324"/>
            <a:chOff x="0" y="0"/>
            <a:chExt cx="1589716" cy="136250"/>
          </a:xfrm>
        </p:grpSpPr>
        <p:sp>
          <p:nvSpPr>
            <p:cNvPr id="13" name="Freeform 13"/>
            <p:cNvSpPr/>
            <p:nvPr/>
          </p:nvSpPr>
          <p:spPr>
            <a:xfrm>
              <a:off x="0" y="0"/>
              <a:ext cx="1589716" cy="136250"/>
            </a:xfrm>
            <a:custGeom>
              <a:avLst/>
              <a:gdLst/>
              <a:ahLst/>
              <a:cxnLst/>
              <a:rect l="l" t="t" r="r" b="b"/>
              <a:pathLst>
                <a:path w="1589716" h="136250">
                  <a:moveTo>
                    <a:pt x="30783" y="0"/>
                  </a:moveTo>
                  <a:lnTo>
                    <a:pt x="1558932" y="0"/>
                  </a:lnTo>
                  <a:cubicBezTo>
                    <a:pt x="1575934" y="0"/>
                    <a:pt x="1589716" y="13782"/>
                    <a:pt x="1589716" y="30783"/>
                  </a:cubicBezTo>
                  <a:lnTo>
                    <a:pt x="1589716" y="105467"/>
                  </a:lnTo>
                  <a:cubicBezTo>
                    <a:pt x="1589716" y="122468"/>
                    <a:pt x="1575934" y="136250"/>
                    <a:pt x="1558932" y="136250"/>
                  </a:cubicBezTo>
                  <a:lnTo>
                    <a:pt x="30783" y="136250"/>
                  </a:lnTo>
                  <a:cubicBezTo>
                    <a:pt x="22619" y="136250"/>
                    <a:pt x="14789" y="133007"/>
                    <a:pt x="9016" y="127234"/>
                  </a:cubicBezTo>
                  <a:cubicBezTo>
                    <a:pt x="3243" y="121461"/>
                    <a:pt x="0" y="113631"/>
                    <a:pt x="0" y="105467"/>
                  </a:cubicBezTo>
                  <a:lnTo>
                    <a:pt x="0" y="30783"/>
                  </a:lnTo>
                  <a:cubicBezTo>
                    <a:pt x="0" y="13782"/>
                    <a:pt x="13782" y="0"/>
                    <a:pt x="30783" y="0"/>
                  </a:cubicBezTo>
                  <a:close/>
                </a:path>
              </a:pathLst>
            </a:custGeom>
            <a:solidFill>
              <a:srgbClr val="26CBB8"/>
            </a:solidFill>
          </p:spPr>
        </p:sp>
        <p:sp>
          <p:nvSpPr>
            <p:cNvPr id="14" name="TextBox 14"/>
            <p:cNvSpPr txBox="1"/>
            <p:nvPr/>
          </p:nvSpPr>
          <p:spPr>
            <a:xfrm>
              <a:off x="0" y="-38100"/>
              <a:ext cx="1589716" cy="174350"/>
            </a:xfrm>
            <a:prstGeom prst="rect">
              <a:avLst/>
            </a:prstGeom>
          </p:spPr>
          <p:txBody>
            <a:bodyPr lIns="50800" tIns="50800" rIns="50800" bIns="50800" rtlCol="0" anchor="ctr"/>
            <a:lstStyle/>
            <a:p>
              <a:pPr algn="ctr">
                <a:lnSpc>
                  <a:spcPts val="2659"/>
                </a:lnSpc>
              </a:pPr>
              <a:endParaRPr/>
            </a:p>
          </p:txBody>
        </p:sp>
      </p:grpSp>
      <p:sp>
        <p:nvSpPr>
          <p:cNvPr id="15" name="Freeform 15"/>
          <p:cNvSpPr/>
          <p:nvPr/>
        </p:nvSpPr>
        <p:spPr>
          <a:xfrm>
            <a:off x="547673" y="4602035"/>
            <a:ext cx="6778307" cy="2119363"/>
          </a:xfrm>
          <a:custGeom>
            <a:avLst/>
            <a:gdLst/>
            <a:ahLst/>
            <a:cxnLst/>
            <a:rect l="l" t="t" r="r" b="b"/>
            <a:pathLst>
              <a:path w="6778307" h="2119363">
                <a:moveTo>
                  <a:pt x="0" y="0"/>
                </a:moveTo>
                <a:lnTo>
                  <a:pt x="6778307" y="0"/>
                </a:lnTo>
                <a:lnTo>
                  <a:pt x="6778307" y="2119363"/>
                </a:lnTo>
                <a:lnTo>
                  <a:pt x="0" y="2119363"/>
                </a:lnTo>
                <a:lnTo>
                  <a:pt x="0" y="0"/>
                </a:lnTo>
                <a:close/>
              </a:path>
            </a:pathLst>
          </a:custGeom>
          <a:blipFill>
            <a:blip r:embed="rId6"/>
            <a:stretch>
              <a:fillRect/>
            </a:stretch>
          </a:blipFill>
        </p:spPr>
      </p:sp>
      <p:sp>
        <p:nvSpPr>
          <p:cNvPr id="16" name="TextBox 16"/>
          <p:cNvSpPr txBox="1"/>
          <p:nvPr/>
        </p:nvSpPr>
        <p:spPr>
          <a:xfrm>
            <a:off x="7575871" y="1531611"/>
            <a:ext cx="10712129" cy="1281430"/>
          </a:xfrm>
          <a:prstGeom prst="rect">
            <a:avLst/>
          </a:prstGeom>
        </p:spPr>
        <p:txBody>
          <a:bodyPr lIns="0" tIns="0" rIns="0" bIns="0" rtlCol="0" anchor="t">
            <a:spAutoFit/>
          </a:bodyPr>
          <a:lstStyle/>
          <a:p>
            <a:pPr algn="l">
              <a:lnSpc>
                <a:spcPts val="4700"/>
              </a:lnSpc>
            </a:pPr>
            <a:r>
              <a:rPr lang="en-US" sz="4700" b="1">
                <a:solidFill>
                  <a:srgbClr val="000000"/>
                </a:solidFill>
                <a:latin typeface="Codec Pro Bold"/>
                <a:ea typeface="Codec Pro Bold"/>
                <a:cs typeface="Codec Pro Bold"/>
                <a:sym typeface="Codec Pro Bold"/>
              </a:rPr>
              <a:t>Managing Permissions and Roles with JWT</a:t>
            </a:r>
          </a:p>
        </p:txBody>
      </p:sp>
      <p:sp>
        <p:nvSpPr>
          <p:cNvPr id="17" name="TextBox 17"/>
          <p:cNvSpPr txBox="1"/>
          <p:nvPr/>
        </p:nvSpPr>
        <p:spPr>
          <a:xfrm>
            <a:off x="7575871" y="3391678"/>
            <a:ext cx="10435096" cy="5754500"/>
          </a:xfrm>
          <a:prstGeom prst="rect">
            <a:avLst/>
          </a:prstGeom>
        </p:spPr>
        <p:txBody>
          <a:bodyPr lIns="0" tIns="0" rIns="0" bIns="0" rtlCol="0" anchor="t">
            <a:spAutoFit/>
          </a:bodyPr>
          <a:lstStyle/>
          <a:p>
            <a:pPr algn="just">
              <a:lnSpc>
                <a:spcPts val="3877"/>
              </a:lnSpc>
            </a:pPr>
            <a:r>
              <a:rPr lang="en-US" sz="2769">
                <a:solidFill>
                  <a:srgbClr val="000000"/>
                </a:solidFill>
                <a:latin typeface="Montserrat"/>
                <a:ea typeface="Montserrat"/>
                <a:cs typeface="Montserrat"/>
                <a:sym typeface="Montserrat"/>
              </a:rPr>
              <a:t>When a user logs in, a JWT is created that contains information about the user's role (like admin or user) and their specific permissions. This token is sent with each request to the API, allowing the server to quickly check what the user is allowed to do without needing to look up their details in a database each time. This makes it easy to implement role-based access control (RBAC), ensuring that users can only access resources they're authorized to see. Additionally, JWTs can have expiration times, helping to manage session lengths and improve security by making it easier to revoke access when necessary.</a:t>
            </a:r>
          </a:p>
          <a:p>
            <a:pPr algn="just">
              <a:lnSpc>
                <a:spcPts val="3317"/>
              </a:lnSpc>
              <a:spcBef>
                <a:spcPct val="0"/>
              </a:spcBef>
            </a:pPr>
            <a:endParaRPr lang="en-US" sz="2769">
              <a:solidFill>
                <a:srgbClr val="000000"/>
              </a:solidFill>
              <a:latin typeface="Montserrat"/>
              <a:ea typeface="Montserrat"/>
              <a:cs typeface="Montserrat"/>
              <a:sym typeface="Montserrat"/>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Box 2"/>
          <p:cNvSpPr txBox="1"/>
          <p:nvPr/>
        </p:nvSpPr>
        <p:spPr>
          <a:xfrm>
            <a:off x="1676638" y="4463414"/>
            <a:ext cx="14934724" cy="1226822"/>
          </a:xfrm>
          <a:prstGeom prst="rect">
            <a:avLst/>
          </a:prstGeom>
        </p:spPr>
        <p:txBody>
          <a:bodyPr lIns="0" tIns="0" rIns="0" bIns="0" rtlCol="0" anchor="t">
            <a:spAutoFit/>
          </a:bodyPr>
          <a:lstStyle/>
          <a:p>
            <a:pPr algn="ctr">
              <a:lnSpc>
                <a:spcPts val="10079"/>
              </a:lnSpc>
              <a:spcBef>
                <a:spcPct val="0"/>
              </a:spcBef>
            </a:pPr>
            <a:r>
              <a:rPr lang="en-US" sz="7199" b="1">
                <a:solidFill>
                  <a:srgbClr val="26CBB8"/>
                </a:solidFill>
                <a:latin typeface="Montserrat Bold"/>
                <a:ea typeface="Montserrat Bold"/>
                <a:cs typeface="Montserrat Bold"/>
                <a:sym typeface="Montserrat Bold"/>
              </a:rPr>
              <a:t>9 - Limitations And Challenges </a:t>
            </a:r>
          </a:p>
        </p:txBody>
      </p:sp>
      <p:grpSp>
        <p:nvGrpSpPr>
          <p:cNvPr id="3" name="Group 3"/>
          <p:cNvGrpSpPr/>
          <p:nvPr/>
        </p:nvGrpSpPr>
        <p:grpSpPr>
          <a:xfrm>
            <a:off x="17149862" y="9258300"/>
            <a:ext cx="861105" cy="861105"/>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5" name="TextBox 5"/>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54</a:t>
              </a:r>
            </a:p>
          </p:txBody>
        </p: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2876550" y="-1666875"/>
            <a:ext cx="20887517" cy="4579002"/>
            <a:chOff x="0" y="0"/>
            <a:chExt cx="5501239" cy="1205992"/>
          </a:xfrm>
        </p:grpSpPr>
        <p:sp>
          <p:nvSpPr>
            <p:cNvPr id="3" name="Freeform 3"/>
            <p:cNvSpPr/>
            <p:nvPr/>
          </p:nvSpPr>
          <p:spPr>
            <a:xfrm>
              <a:off x="0" y="0"/>
              <a:ext cx="5501239" cy="1205992"/>
            </a:xfrm>
            <a:custGeom>
              <a:avLst/>
              <a:gdLst/>
              <a:ahLst/>
              <a:cxnLst/>
              <a:rect l="l" t="t" r="r" b="b"/>
              <a:pathLst>
                <a:path w="5501239" h="1205992">
                  <a:moveTo>
                    <a:pt x="37065" y="0"/>
                  </a:moveTo>
                  <a:lnTo>
                    <a:pt x="5464174" y="0"/>
                  </a:lnTo>
                  <a:cubicBezTo>
                    <a:pt x="5474004" y="0"/>
                    <a:pt x="5483432" y="3905"/>
                    <a:pt x="5490383" y="10856"/>
                  </a:cubicBezTo>
                  <a:cubicBezTo>
                    <a:pt x="5497334" y="17807"/>
                    <a:pt x="5501239" y="27235"/>
                    <a:pt x="5501239" y="37065"/>
                  </a:cubicBezTo>
                  <a:lnTo>
                    <a:pt x="5501239" y="1168928"/>
                  </a:lnTo>
                  <a:cubicBezTo>
                    <a:pt x="5501239" y="1178758"/>
                    <a:pt x="5497334" y="1188185"/>
                    <a:pt x="5490383" y="1195136"/>
                  </a:cubicBezTo>
                  <a:cubicBezTo>
                    <a:pt x="5483432" y="1202087"/>
                    <a:pt x="5474004" y="1205992"/>
                    <a:pt x="5464174" y="1205992"/>
                  </a:cubicBezTo>
                  <a:lnTo>
                    <a:pt x="37065" y="1205992"/>
                  </a:lnTo>
                  <a:cubicBezTo>
                    <a:pt x="27235" y="1205992"/>
                    <a:pt x="17807" y="1202087"/>
                    <a:pt x="10856" y="1195136"/>
                  </a:cubicBezTo>
                  <a:cubicBezTo>
                    <a:pt x="3905" y="1188185"/>
                    <a:pt x="0" y="1178758"/>
                    <a:pt x="0" y="1168928"/>
                  </a:cubicBezTo>
                  <a:lnTo>
                    <a:pt x="0" y="37065"/>
                  </a:lnTo>
                  <a:cubicBezTo>
                    <a:pt x="0" y="27235"/>
                    <a:pt x="3905" y="17807"/>
                    <a:pt x="10856" y="10856"/>
                  </a:cubicBezTo>
                  <a:cubicBezTo>
                    <a:pt x="17807" y="3905"/>
                    <a:pt x="27235" y="0"/>
                    <a:pt x="37065" y="0"/>
                  </a:cubicBezTo>
                  <a:close/>
                </a:path>
              </a:pathLst>
            </a:custGeom>
            <a:solidFill>
              <a:srgbClr val="856EE0"/>
            </a:solidFill>
          </p:spPr>
        </p:sp>
        <p:sp>
          <p:nvSpPr>
            <p:cNvPr id="4" name="TextBox 4"/>
            <p:cNvSpPr txBox="1"/>
            <p:nvPr/>
          </p:nvSpPr>
          <p:spPr>
            <a:xfrm>
              <a:off x="0" y="-38100"/>
              <a:ext cx="5501239" cy="1244092"/>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0" y="2893077"/>
            <a:ext cx="1997550" cy="1997550"/>
          </a:xfrm>
          <a:custGeom>
            <a:avLst/>
            <a:gdLst/>
            <a:ahLst/>
            <a:cxnLst/>
            <a:rect l="l" t="t" r="r" b="b"/>
            <a:pathLst>
              <a:path w="1997550" h="1997550">
                <a:moveTo>
                  <a:pt x="0" y="0"/>
                </a:moveTo>
                <a:lnTo>
                  <a:pt x="1997550" y="0"/>
                </a:lnTo>
                <a:lnTo>
                  <a:pt x="1997550" y="1997551"/>
                </a:lnTo>
                <a:lnTo>
                  <a:pt x="0" y="19975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590157" y="4063960"/>
            <a:ext cx="17284291" cy="5009346"/>
            <a:chOff x="0" y="0"/>
            <a:chExt cx="4552241" cy="1319334"/>
          </a:xfrm>
        </p:grpSpPr>
        <p:sp>
          <p:nvSpPr>
            <p:cNvPr id="7" name="Freeform 7"/>
            <p:cNvSpPr/>
            <p:nvPr/>
          </p:nvSpPr>
          <p:spPr>
            <a:xfrm>
              <a:off x="0" y="0"/>
              <a:ext cx="4552242" cy="1319334"/>
            </a:xfrm>
            <a:custGeom>
              <a:avLst/>
              <a:gdLst/>
              <a:ahLst/>
              <a:cxnLst/>
              <a:rect l="l" t="t" r="r" b="b"/>
              <a:pathLst>
                <a:path w="4552242" h="1319334">
                  <a:moveTo>
                    <a:pt x="44792" y="0"/>
                  </a:moveTo>
                  <a:lnTo>
                    <a:pt x="4507450" y="0"/>
                  </a:lnTo>
                  <a:cubicBezTo>
                    <a:pt x="4519329" y="0"/>
                    <a:pt x="4530722" y="4719"/>
                    <a:pt x="4539122" y="13119"/>
                  </a:cubicBezTo>
                  <a:cubicBezTo>
                    <a:pt x="4547522" y="21519"/>
                    <a:pt x="4552242" y="32912"/>
                    <a:pt x="4552242" y="44792"/>
                  </a:cubicBezTo>
                  <a:lnTo>
                    <a:pt x="4552242" y="1274542"/>
                  </a:lnTo>
                  <a:cubicBezTo>
                    <a:pt x="4552242" y="1299280"/>
                    <a:pt x="4532188" y="1319334"/>
                    <a:pt x="4507450" y="1319334"/>
                  </a:cubicBezTo>
                  <a:lnTo>
                    <a:pt x="44792" y="1319334"/>
                  </a:lnTo>
                  <a:cubicBezTo>
                    <a:pt x="32912" y="1319334"/>
                    <a:pt x="21519" y="1314615"/>
                    <a:pt x="13119" y="1306215"/>
                  </a:cubicBezTo>
                  <a:cubicBezTo>
                    <a:pt x="4719" y="1297815"/>
                    <a:pt x="0" y="1286422"/>
                    <a:pt x="0" y="1274542"/>
                  </a:cubicBezTo>
                  <a:lnTo>
                    <a:pt x="0" y="44792"/>
                  </a:lnTo>
                  <a:cubicBezTo>
                    <a:pt x="0" y="32912"/>
                    <a:pt x="4719" y="21519"/>
                    <a:pt x="13119" y="13119"/>
                  </a:cubicBezTo>
                  <a:cubicBezTo>
                    <a:pt x="21519" y="4719"/>
                    <a:pt x="32912" y="0"/>
                    <a:pt x="44792" y="0"/>
                  </a:cubicBezTo>
                  <a:close/>
                </a:path>
              </a:pathLst>
            </a:custGeom>
            <a:solidFill>
              <a:srgbClr val="26CBB8"/>
            </a:solidFill>
          </p:spPr>
        </p:sp>
        <p:sp>
          <p:nvSpPr>
            <p:cNvPr id="8" name="TextBox 8"/>
            <p:cNvSpPr txBox="1"/>
            <p:nvPr/>
          </p:nvSpPr>
          <p:spPr>
            <a:xfrm>
              <a:off x="0" y="-38100"/>
              <a:ext cx="4552241" cy="1357434"/>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14805774" y="1028700"/>
            <a:ext cx="1761909" cy="112121"/>
          </a:xfrm>
          <a:custGeom>
            <a:avLst/>
            <a:gdLst/>
            <a:ahLst/>
            <a:cxnLst/>
            <a:rect l="l" t="t" r="r" b="b"/>
            <a:pathLst>
              <a:path w="1761909" h="112121">
                <a:moveTo>
                  <a:pt x="0" y="0"/>
                </a:moveTo>
                <a:lnTo>
                  <a:pt x="1761908" y="0"/>
                </a:lnTo>
                <a:lnTo>
                  <a:pt x="1761908" y="112121"/>
                </a:lnTo>
                <a:lnTo>
                  <a:pt x="0" y="1121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9232302" y="1028700"/>
            <a:ext cx="911606" cy="552380"/>
          </a:xfrm>
          <a:custGeom>
            <a:avLst/>
            <a:gdLst/>
            <a:ahLst/>
            <a:cxnLst/>
            <a:rect l="l" t="t" r="r" b="b"/>
            <a:pathLst>
              <a:path w="911606" h="552380">
                <a:moveTo>
                  <a:pt x="0" y="0"/>
                </a:moveTo>
                <a:lnTo>
                  <a:pt x="911607" y="0"/>
                </a:lnTo>
                <a:lnTo>
                  <a:pt x="911607" y="552380"/>
                </a:lnTo>
                <a:lnTo>
                  <a:pt x="0" y="552380"/>
                </a:lnTo>
                <a:lnTo>
                  <a:pt x="0" y="0"/>
                </a:lnTo>
                <a:close/>
              </a:path>
            </a:pathLst>
          </a:custGeom>
          <a:blipFill>
            <a:blip r:embed="rId6">
              <a:extLst>
                <a:ext uri="{96DAC541-7B7A-43D3-8B79-37D633B846F1}">
                  <asvg:svgBlip xmlns:asvg="http://schemas.microsoft.com/office/drawing/2016/SVG/main" r:embed="rId7"/>
                </a:ext>
              </a:extLst>
            </a:blip>
            <a:stretch>
              <a:fillRect r="-182430"/>
            </a:stretch>
          </a:blipFill>
        </p:spPr>
      </p:sp>
      <p:sp>
        <p:nvSpPr>
          <p:cNvPr id="11" name="Freeform 11"/>
          <p:cNvSpPr/>
          <p:nvPr/>
        </p:nvSpPr>
        <p:spPr>
          <a:xfrm>
            <a:off x="15686728" y="8156481"/>
            <a:ext cx="911606" cy="552380"/>
          </a:xfrm>
          <a:custGeom>
            <a:avLst/>
            <a:gdLst/>
            <a:ahLst/>
            <a:cxnLst/>
            <a:rect l="l" t="t" r="r" b="b"/>
            <a:pathLst>
              <a:path w="911606" h="552380">
                <a:moveTo>
                  <a:pt x="0" y="0"/>
                </a:moveTo>
                <a:lnTo>
                  <a:pt x="911606" y="0"/>
                </a:lnTo>
                <a:lnTo>
                  <a:pt x="911606" y="552380"/>
                </a:lnTo>
                <a:lnTo>
                  <a:pt x="0" y="552380"/>
                </a:lnTo>
                <a:lnTo>
                  <a:pt x="0" y="0"/>
                </a:lnTo>
                <a:close/>
              </a:path>
            </a:pathLst>
          </a:custGeom>
          <a:blipFill>
            <a:blip r:embed="rId6">
              <a:extLst>
                <a:ext uri="{96DAC541-7B7A-43D3-8B79-37D633B846F1}">
                  <asvg:svgBlip xmlns:asvg="http://schemas.microsoft.com/office/drawing/2016/SVG/main" r:embed="rId7"/>
                </a:ext>
              </a:extLst>
            </a:blip>
            <a:stretch>
              <a:fillRect r="-182430"/>
            </a:stretch>
          </a:blipFill>
        </p:spPr>
      </p:sp>
      <p:sp>
        <p:nvSpPr>
          <p:cNvPr id="12" name="TextBox 12"/>
          <p:cNvSpPr txBox="1"/>
          <p:nvPr/>
        </p:nvSpPr>
        <p:spPr>
          <a:xfrm>
            <a:off x="1595179" y="651201"/>
            <a:ext cx="7031039" cy="865023"/>
          </a:xfrm>
          <a:prstGeom prst="rect">
            <a:avLst/>
          </a:prstGeom>
        </p:spPr>
        <p:txBody>
          <a:bodyPr lIns="0" tIns="0" rIns="0" bIns="0" rtlCol="0" anchor="t">
            <a:spAutoFit/>
          </a:bodyPr>
          <a:lstStyle/>
          <a:p>
            <a:pPr algn="l">
              <a:lnSpc>
                <a:spcPts val="5885"/>
              </a:lnSpc>
            </a:pPr>
            <a:r>
              <a:rPr lang="en-US" sz="5885" b="1">
                <a:solidFill>
                  <a:srgbClr val="FFFFFF"/>
                </a:solidFill>
                <a:latin typeface="Codec Pro Bold"/>
                <a:ea typeface="Codec Pro Bold"/>
                <a:cs typeface="Codec Pro Bold"/>
                <a:sym typeface="Codec Pro Bold"/>
              </a:rPr>
              <a:t>Overview</a:t>
            </a:r>
          </a:p>
        </p:txBody>
      </p:sp>
      <p:sp>
        <p:nvSpPr>
          <p:cNvPr id="13" name="TextBox 13"/>
          <p:cNvSpPr txBox="1"/>
          <p:nvPr/>
        </p:nvSpPr>
        <p:spPr>
          <a:xfrm>
            <a:off x="1062712" y="5227127"/>
            <a:ext cx="16339180" cy="2545229"/>
          </a:xfrm>
          <a:prstGeom prst="rect">
            <a:avLst/>
          </a:prstGeom>
        </p:spPr>
        <p:txBody>
          <a:bodyPr lIns="0" tIns="0" rIns="0" bIns="0" rtlCol="0" anchor="t">
            <a:spAutoFit/>
          </a:bodyPr>
          <a:lstStyle/>
          <a:p>
            <a:pPr algn="l">
              <a:lnSpc>
                <a:spcPts val="4086"/>
              </a:lnSpc>
              <a:spcBef>
                <a:spcPct val="0"/>
              </a:spcBef>
            </a:pPr>
            <a:r>
              <a:rPr lang="en-US" sz="2919" b="1">
                <a:solidFill>
                  <a:srgbClr val="FFFFFF"/>
                </a:solidFill>
                <a:latin typeface="Montserrat Medium"/>
                <a:ea typeface="Montserrat Medium"/>
                <a:cs typeface="Montserrat Medium"/>
                <a:sym typeface="Montserrat Medium"/>
              </a:rPr>
              <a:t>REST is widely used for building web services, but it comes with several limitations and challenges. Developers often face complexities when handling transactions across multiple resources, a lack of standardized service discovery methods, and difficulties in managing API versions. Recognizing these challenges is essential for creating efficient and maintainable RESTful APIs.</a:t>
            </a:r>
          </a:p>
        </p:txBody>
      </p:sp>
      <p:sp>
        <p:nvSpPr>
          <p:cNvPr id="14" name="Freeform 14"/>
          <p:cNvSpPr/>
          <p:nvPr/>
        </p:nvSpPr>
        <p:spPr>
          <a:xfrm>
            <a:off x="2915331" y="8596740"/>
            <a:ext cx="1761909" cy="112121"/>
          </a:xfrm>
          <a:custGeom>
            <a:avLst/>
            <a:gdLst/>
            <a:ahLst/>
            <a:cxnLst/>
            <a:rect l="l" t="t" r="r" b="b"/>
            <a:pathLst>
              <a:path w="1761909" h="112121">
                <a:moveTo>
                  <a:pt x="0" y="0"/>
                </a:moveTo>
                <a:lnTo>
                  <a:pt x="1761909" y="0"/>
                </a:lnTo>
                <a:lnTo>
                  <a:pt x="1761909" y="112121"/>
                </a:lnTo>
                <a:lnTo>
                  <a:pt x="0" y="11212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15" name="Group 15"/>
          <p:cNvGrpSpPr/>
          <p:nvPr/>
        </p:nvGrpSpPr>
        <p:grpSpPr>
          <a:xfrm>
            <a:off x="17149862" y="9258300"/>
            <a:ext cx="861105" cy="861105"/>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17" name="TextBox 17"/>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55</a:t>
              </a:r>
            </a:p>
          </p:txBody>
        </p:sp>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2183285" y="-3256847"/>
            <a:ext cx="8400347" cy="8400347"/>
          </a:xfrm>
          <a:custGeom>
            <a:avLst/>
            <a:gdLst/>
            <a:ahLst/>
            <a:cxnLst/>
            <a:rect l="l" t="t" r="r" b="b"/>
            <a:pathLst>
              <a:path w="8400347" h="8400347">
                <a:moveTo>
                  <a:pt x="0" y="0"/>
                </a:moveTo>
                <a:lnTo>
                  <a:pt x="8400347" y="0"/>
                </a:lnTo>
                <a:lnTo>
                  <a:pt x="8400347" y="8400347"/>
                </a:lnTo>
                <a:lnTo>
                  <a:pt x="0" y="840034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0" y="0"/>
            <a:ext cx="3936827" cy="10287000"/>
            <a:chOff x="0" y="0"/>
            <a:chExt cx="1036860" cy="2709333"/>
          </a:xfrm>
        </p:grpSpPr>
        <p:sp>
          <p:nvSpPr>
            <p:cNvPr id="4" name="Freeform 4"/>
            <p:cNvSpPr/>
            <p:nvPr/>
          </p:nvSpPr>
          <p:spPr>
            <a:xfrm>
              <a:off x="0" y="0"/>
              <a:ext cx="1036860" cy="2709333"/>
            </a:xfrm>
            <a:custGeom>
              <a:avLst/>
              <a:gdLst/>
              <a:ahLst/>
              <a:cxnLst/>
              <a:rect l="l" t="t" r="r" b="b"/>
              <a:pathLst>
                <a:path w="1036860" h="2709333">
                  <a:moveTo>
                    <a:pt x="0" y="0"/>
                  </a:moveTo>
                  <a:lnTo>
                    <a:pt x="1036860" y="0"/>
                  </a:lnTo>
                  <a:lnTo>
                    <a:pt x="1036860" y="2709333"/>
                  </a:lnTo>
                  <a:lnTo>
                    <a:pt x="0" y="2709333"/>
                  </a:lnTo>
                  <a:close/>
                </a:path>
              </a:pathLst>
            </a:custGeom>
            <a:solidFill>
              <a:srgbClr val="856EE0"/>
            </a:solidFill>
          </p:spPr>
        </p:sp>
        <p:sp>
          <p:nvSpPr>
            <p:cNvPr id="5" name="TextBox 5"/>
            <p:cNvSpPr txBox="1"/>
            <p:nvPr/>
          </p:nvSpPr>
          <p:spPr>
            <a:xfrm>
              <a:off x="0" y="-38100"/>
              <a:ext cx="1036860" cy="2747433"/>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4087827" y="6086827"/>
            <a:ext cx="8400347" cy="8400347"/>
          </a:xfrm>
          <a:custGeom>
            <a:avLst/>
            <a:gdLst/>
            <a:ahLst/>
            <a:cxnLst/>
            <a:rect l="l" t="t" r="r" b="b"/>
            <a:pathLst>
              <a:path w="8400347" h="8400347">
                <a:moveTo>
                  <a:pt x="0" y="0"/>
                </a:moveTo>
                <a:lnTo>
                  <a:pt x="8400346" y="0"/>
                </a:lnTo>
                <a:lnTo>
                  <a:pt x="8400346" y="8400346"/>
                </a:lnTo>
                <a:lnTo>
                  <a:pt x="0" y="840034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7" name="Freeform 7"/>
          <p:cNvSpPr/>
          <p:nvPr/>
        </p:nvSpPr>
        <p:spPr>
          <a:xfrm>
            <a:off x="15466739" y="1028700"/>
            <a:ext cx="1761909" cy="112121"/>
          </a:xfrm>
          <a:custGeom>
            <a:avLst/>
            <a:gdLst/>
            <a:ahLst/>
            <a:cxnLst/>
            <a:rect l="l" t="t" r="r" b="b"/>
            <a:pathLst>
              <a:path w="1761909" h="112121">
                <a:moveTo>
                  <a:pt x="0" y="0"/>
                </a:moveTo>
                <a:lnTo>
                  <a:pt x="1761909" y="0"/>
                </a:lnTo>
                <a:lnTo>
                  <a:pt x="1761909" y="112121"/>
                </a:lnTo>
                <a:lnTo>
                  <a:pt x="0" y="1121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10583632" y="9146179"/>
            <a:ext cx="1761909" cy="112121"/>
          </a:xfrm>
          <a:custGeom>
            <a:avLst/>
            <a:gdLst/>
            <a:ahLst/>
            <a:cxnLst/>
            <a:rect l="l" t="t" r="r" b="b"/>
            <a:pathLst>
              <a:path w="1761909" h="112121">
                <a:moveTo>
                  <a:pt x="0" y="0"/>
                </a:moveTo>
                <a:lnTo>
                  <a:pt x="1761908" y="0"/>
                </a:lnTo>
                <a:lnTo>
                  <a:pt x="1761908" y="112121"/>
                </a:lnTo>
                <a:lnTo>
                  <a:pt x="0" y="1121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9" name="Group 9"/>
          <p:cNvGrpSpPr/>
          <p:nvPr/>
        </p:nvGrpSpPr>
        <p:grpSpPr>
          <a:xfrm>
            <a:off x="17149862" y="9258300"/>
            <a:ext cx="861105" cy="861105"/>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56</a:t>
              </a:r>
            </a:p>
          </p:txBody>
        </p:sp>
      </p:grpSp>
      <p:grpSp>
        <p:nvGrpSpPr>
          <p:cNvPr id="12" name="Group 12"/>
          <p:cNvGrpSpPr/>
          <p:nvPr/>
        </p:nvGrpSpPr>
        <p:grpSpPr>
          <a:xfrm>
            <a:off x="918851" y="8248329"/>
            <a:ext cx="6035952" cy="517324"/>
            <a:chOff x="0" y="0"/>
            <a:chExt cx="1589716" cy="136250"/>
          </a:xfrm>
        </p:grpSpPr>
        <p:sp>
          <p:nvSpPr>
            <p:cNvPr id="13" name="Freeform 13"/>
            <p:cNvSpPr/>
            <p:nvPr/>
          </p:nvSpPr>
          <p:spPr>
            <a:xfrm>
              <a:off x="0" y="0"/>
              <a:ext cx="1589716" cy="136250"/>
            </a:xfrm>
            <a:custGeom>
              <a:avLst/>
              <a:gdLst/>
              <a:ahLst/>
              <a:cxnLst/>
              <a:rect l="l" t="t" r="r" b="b"/>
              <a:pathLst>
                <a:path w="1589716" h="136250">
                  <a:moveTo>
                    <a:pt x="30783" y="0"/>
                  </a:moveTo>
                  <a:lnTo>
                    <a:pt x="1558932" y="0"/>
                  </a:lnTo>
                  <a:cubicBezTo>
                    <a:pt x="1575934" y="0"/>
                    <a:pt x="1589716" y="13782"/>
                    <a:pt x="1589716" y="30783"/>
                  </a:cubicBezTo>
                  <a:lnTo>
                    <a:pt x="1589716" y="105467"/>
                  </a:lnTo>
                  <a:cubicBezTo>
                    <a:pt x="1589716" y="122468"/>
                    <a:pt x="1575934" y="136250"/>
                    <a:pt x="1558932" y="136250"/>
                  </a:cubicBezTo>
                  <a:lnTo>
                    <a:pt x="30783" y="136250"/>
                  </a:lnTo>
                  <a:cubicBezTo>
                    <a:pt x="22619" y="136250"/>
                    <a:pt x="14789" y="133007"/>
                    <a:pt x="9016" y="127234"/>
                  </a:cubicBezTo>
                  <a:cubicBezTo>
                    <a:pt x="3243" y="121461"/>
                    <a:pt x="0" y="113631"/>
                    <a:pt x="0" y="105467"/>
                  </a:cubicBezTo>
                  <a:lnTo>
                    <a:pt x="0" y="30783"/>
                  </a:lnTo>
                  <a:cubicBezTo>
                    <a:pt x="0" y="13782"/>
                    <a:pt x="13782" y="0"/>
                    <a:pt x="30783" y="0"/>
                  </a:cubicBezTo>
                  <a:close/>
                </a:path>
              </a:pathLst>
            </a:custGeom>
            <a:solidFill>
              <a:srgbClr val="26CBB8"/>
            </a:solidFill>
          </p:spPr>
        </p:sp>
        <p:sp>
          <p:nvSpPr>
            <p:cNvPr id="14" name="TextBox 14"/>
            <p:cNvSpPr txBox="1"/>
            <p:nvPr/>
          </p:nvSpPr>
          <p:spPr>
            <a:xfrm>
              <a:off x="0" y="-38100"/>
              <a:ext cx="1589716" cy="174350"/>
            </a:xfrm>
            <a:prstGeom prst="rect">
              <a:avLst/>
            </a:prstGeom>
          </p:spPr>
          <p:txBody>
            <a:bodyPr lIns="50800" tIns="50800" rIns="50800" bIns="50800" rtlCol="0" anchor="ctr"/>
            <a:lstStyle/>
            <a:p>
              <a:pPr algn="ctr">
                <a:lnSpc>
                  <a:spcPts val="2659"/>
                </a:lnSpc>
              </a:pPr>
              <a:endParaRPr/>
            </a:p>
          </p:txBody>
        </p:sp>
      </p:grpSp>
      <p:sp>
        <p:nvSpPr>
          <p:cNvPr id="15" name="Freeform 15"/>
          <p:cNvSpPr/>
          <p:nvPr/>
        </p:nvSpPr>
        <p:spPr>
          <a:xfrm>
            <a:off x="479830" y="4396779"/>
            <a:ext cx="6913994" cy="2713718"/>
          </a:xfrm>
          <a:custGeom>
            <a:avLst/>
            <a:gdLst/>
            <a:ahLst/>
            <a:cxnLst/>
            <a:rect l="l" t="t" r="r" b="b"/>
            <a:pathLst>
              <a:path w="6913994" h="2713718">
                <a:moveTo>
                  <a:pt x="0" y="0"/>
                </a:moveTo>
                <a:lnTo>
                  <a:pt x="6913993" y="0"/>
                </a:lnTo>
                <a:lnTo>
                  <a:pt x="6913993" y="2713718"/>
                </a:lnTo>
                <a:lnTo>
                  <a:pt x="0" y="2713718"/>
                </a:lnTo>
                <a:lnTo>
                  <a:pt x="0" y="0"/>
                </a:lnTo>
                <a:close/>
              </a:path>
            </a:pathLst>
          </a:custGeom>
          <a:blipFill>
            <a:blip r:embed="rId6"/>
            <a:stretch>
              <a:fillRect/>
            </a:stretch>
          </a:blipFill>
        </p:spPr>
      </p:sp>
      <p:sp>
        <p:nvSpPr>
          <p:cNvPr id="16" name="TextBox 16"/>
          <p:cNvSpPr txBox="1"/>
          <p:nvPr/>
        </p:nvSpPr>
        <p:spPr>
          <a:xfrm>
            <a:off x="7575871" y="1531611"/>
            <a:ext cx="10712129" cy="1281430"/>
          </a:xfrm>
          <a:prstGeom prst="rect">
            <a:avLst/>
          </a:prstGeom>
        </p:spPr>
        <p:txBody>
          <a:bodyPr lIns="0" tIns="0" rIns="0" bIns="0" rtlCol="0" anchor="t">
            <a:spAutoFit/>
          </a:bodyPr>
          <a:lstStyle/>
          <a:p>
            <a:pPr algn="l">
              <a:lnSpc>
                <a:spcPts val="4700"/>
              </a:lnSpc>
            </a:pPr>
            <a:r>
              <a:rPr lang="en-US" sz="4700" b="1">
                <a:solidFill>
                  <a:srgbClr val="000000"/>
                </a:solidFill>
                <a:latin typeface="Codec Pro Bold"/>
                <a:ea typeface="Codec Pro Bold"/>
                <a:cs typeface="Codec Pro Bold"/>
                <a:sym typeface="Codec Pro Bold"/>
              </a:rPr>
              <a:t>Complexity of Multi-Resource Transactions</a:t>
            </a:r>
          </a:p>
        </p:txBody>
      </p:sp>
      <p:sp>
        <p:nvSpPr>
          <p:cNvPr id="17" name="TextBox 17"/>
          <p:cNvSpPr txBox="1"/>
          <p:nvPr/>
        </p:nvSpPr>
        <p:spPr>
          <a:xfrm>
            <a:off x="7575871" y="3285876"/>
            <a:ext cx="10435096" cy="5330317"/>
          </a:xfrm>
          <a:prstGeom prst="rect">
            <a:avLst/>
          </a:prstGeom>
        </p:spPr>
        <p:txBody>
          <a:bodyPr lIns="0" tIns="0" rIns="0" bIns="0" rtlCol="0" anchor="t">
            <a:spAutoFit/>
          </a:bodyPr>
          <a:lstStyle/>
          <a:p>
            <a:pPr algn="just">
              <a:lnSpc>
                <a:spcPts val="3877"/>
              </a:lnSpc>
              <a:spcBef>
                <a:spcPct val="0"/>
              </a:spcBef>
            </a:pPr>
            <a:r>
              <a:rPr lang="en-US" sz="2769">
                <a:solidFill>
                  <a:srgbClr val="000000"/>
                </a:solidFill>
                <a:latin typeface="Montserrat"/>
                <a:ea typeface="Montserrat"/>
                <a:cs typeface="Montserrat"/>
                <a:sym typeface="Montserrat"/>
              </a:rPr>
              <a:t>In real-world applications, actions often require updating multiple resources at once, such as processing an order that involves changes to inventory, user accounts, and payment records. However, RESTful APIs do not natively support atomic transactions across multiple resources, which can result in data inconsistencies if one operation fails while others succeed. To handle this, developers may use strategies like compensating transactions or orchestration patterns. While effective, these approaches add complexity to the system, making it more challenging to maintain and understand.</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2183285" y="-3256847"/>
            <a:ext cx="8400347" cy="8400347"/>
          </a:xfrm>
          <a:custGeom>
            <a:avLst/>
            <a:gdLst/>
            <a:ahLst/>
            <a:cxnLst/>
            <a:rect l="l" t="t" r="r" b="b"/>
            <a:pathLst>
              <a:path w="8400347" h="8400347">
                <a:moveTo>
                  <a:pt x="0" y="0"/>
                </a:moveTo>
                <a:lnTo>
                  <a:pt x="8400347" y="0"/>
                </a:lnTo>
                <a:lnTo>
                  <a:pt x="8400347" y="8400347"/>
                </a:lnTo>
                <a:lnTo>
                  <a:pt x="0" y="840034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0" y="0"/>
            <a:ext cx="3936827" cy="10287000"/>
            <a:chOff x="0" y="0"/>
            <a:chExt cx="1036860" cy="2709333"/>
          </a:xfrm>
        </p:grpSpPr>
        <p:sp>
          <p:nvSpPr>
            <p:cNvPr id="4" name="Freeform 4"/>
            <p:cNvSpPr/>
            <p:nvPr/>
          </p:nvSpPr>
          <p:spPr>
            <a:xfrm>
              <a:off x="0" y="0"/>
              <a:ext cx="1036860" cy="2709333"/>
            </a:xfrm>
            <a:custGeom>
              <a:avLst/>
              <a:gdLst/>
              <a:ahLst/>
              <a:cxnLst/>
              <a:rect l="l" t="t" r="r" b="b"/>
              <a:pathLst>
                <a:path w="1036860" h="2709333">
                  <a:moveTo>
                    <a:pt x="0" y="0"/>
                  </a:moveTo>
                  <a:lnTo>
                    <a:pt x="1036860" y="0"/>
                  </a:lnTo>
                  <a:lnTo>
                    <a:pt x="1036860" y="2709333"/>
                  </a:lnTo>
                  <a:lnTo>
                    <a:pt x="0" y="2709333"/>
                  </a:lnTo>
                  <a:close/>
                </a:path>
              </a:pathLst>
            </a:custGeom>
            <a:solidFill>
              <a:srgbClr val="856EE0"/>
            </a:solidFill>
          </p:spPr>
        </p:sp>
        <p:sp>
          <p:nvSpPr>
            <p:cNvPr id="5" name="TextBox 5"/>
            <p:cNvSpPr txBox="1"/>
            <p:nvPr/>
          </p:nvSpPr>
          <p:spPr>
            <a:xfrm>
              <a:off x="0" y="-38100"/>
              <a:ext cx="1036860" cy="2747433"/>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4087827" y="6086827"/>
            <a:ext cx="8400347" cy="8400347"/>
          </a:xfrm>
          <a:custGeom>
            <a:avLst/>
            <a:gdLst/>
            <a:ahLst/>
            <a:cxnLst/>
            <a:rect l="l" t="t" r="r" b="b"/>
            <a:pathLst>
              <a:path w="8400347" h="8400347">
                <a:moveTo>
                  <a:pt x="0" y="0"/>
                </a:moveTo>
                <a:lnTo>
                  <a:pt x="8400346" y="0"/>
                </a:lnTo>
                <a:lnTo>
                  <a:pt x="8400346" y="8400346"/>
                </a:lnTo>
                <a:lnTo>
                  <a:pt x="0" y="840034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7" name="Freeform 7"/>
          <p:cNvSpPr/>
          <p:nvPr/>
        </p:nvSpPr>
        <p:spPr>
          <a:xfrm>
            <a:off x="15466739" y="1028700"/>
            <a:ext cx="1761909" cy="112121"/>
          </a:xfrm>
          <a:custGeom>
            <a:avLst/>
            <a:gdLst/>
            <a:ahLst/>
            <a:cxnLst/>
            <a:rect l="l" t="t" r="r" b="b"/>
            <a:pathLst>
              <a:path w="1761909" h="112121">
                <a:moveTo>
                  <a:pt x="0" y="0"/>
                </a:moveTo>
                <a:lnTo>
                  <a:pt x="1761909" y="0"/>
                </a:lnTo>
                <a:lnTo>
                  <a:pt x="1761909" y="112121"/>
                </a:lnTo>
                <a:lnTo>
                  <a:pt x="0" y="1121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10583632" y="9146179"/>
            <a:ext cx="1761909" cy="112121"/>
          </a:xfrm>
          <a:custGeom>
            <a:avLst/>
            <a:gdLst/>
            <a:ahLst/>
            <a:cxnLst/>
            <a:rect l="l" t="t" r="r" b="b"/>
            <a:pathLst>
              <a:path w="1761909" h="112121">
                <a:moveTo>
                  <a:pt x="0" y="0"/>
                </a:moveTo>
                <a:lnTo>
                  <a:pt x="1761908" y="0"/>
                </a:lnTo>
                <a:lnTo>
                  <a:pt x="1761908" y="112121"/>
                </a:lnTo>
                <a:lnTo>
                  <a:pt x="0" y="1121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9" name="Group 9"/>
          <p:cNvGrpSpPr/>
          <p:nvPr/>
        </p:nvGrpSpPr>
        <p:grpSpPr>
          <a:xfrm>
            <a:off x="17149862" y="9258300"/>
            <a:ext cx="861105" cy="861105"/>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57</a:t>
              </a:r>
            </a:p>
          </p:txBody>
        </p:sp>
      </p:grpSp>
      <p:grpSp>
        <p:nvGrpSpPr>
          <p:cNvPr id="12" name="Group 12"/>
          <p:cNvGrpSpPr/>
          <p:nvPr/>
        </p:nvGrpSpPr>
        <p:grpSpPr>
          <a:xfrm>
            <a:off x="918851" y="8248329"/>
            <a:ext cx="6035952" cy="517324"/>
            <a:chOff x="0" y="0"/>
            <a:chExt cx="1589716" cy="136250"/>
          </a:xfrm>
        </p:grpSpPr>
        <p:sp>
          <p:nvSpPr>
            <p:cNvPr id="13" name="Freeform 13"/>
            <p:cNvSpPr/>
            <p:nvPr/>
          </p:nvSpPr>
          <p:spPr>
            <a:xfrm>
              <a:off x="0" y="0"/>
              <a:ext cx="1589716" cy="136250"/>
            </a:xfrm>
            <a:custGeom>
              <a:avLst/>
              <a:gdLst/>
              <a:ahLst/>
              <a:cxnLst/>
              <a:rect l="l" t="t" r="r" b="b"/>
              <a:pathLst>
                <a:path w="1589716" h="136250">
                  <a:moveTo>
                    <a:pt x="30783" y="0"/>
                  </a:moveTo>
                  <a:lnTo>
                    <a:pt x="1558932" y="0"/>
                  </a:lnTo>
                  <a:cubicBezTo>
                    <a:pt x="1575934" y="0"/>
                    <a:pt x="1589716" y="13782"/>
                    <a:pt x="1589716" y="30783"/>
                  </a:cubicBezTo>
                  <a:lnTo>
                    <a:pt x="1589716" y="105467"/>
                  </a:lnTo>
                  <a:cubicBezTo>
                    <a:pt x="1589716" y="122468"/>
                    <a:pt x="1575934" y="136250"/>
                    <a:pt x="1558932" y="136250"/>
                  </a:cubicBezTo>
                  <a:lnTo>
                    <a:pt x="30783" y="136250"/>
                  </a:lnTo>
                  <a:cubicBezTo>
                    <a:pt x="22619" y="136250"/>
                    <a:pt x="14789" y="133007"/>
                    <a:pt x="9016" y="127234"/>
                  </a:cubicBezTo>
                  <a:cubicBezTo>
                    <a:pt x="3243" y="121461"/>
                    <a:pt x="0" y="113631"/>
                    <a:pt x="0" y="105467"/>
                  </a:cubicBezTo>
                  <a:lnTo>
                    <a:pt x="0" y="30783"/>
                  </a:lnTo>
                  <a:cubicBezTo>
                    <a:pt x="0" y="13782"/>
                    <a:pt x="13782" y="0"/>
                    <a:pt x="30783" y="0"/>
                  </a:cubicBezTo>
                  <a:close/>
                </a:path>
              </a:pathLst>
            </a:custGeom>
            <a:solidFill>
              <a:srgbClr val="26CBB8"/>
            </a:solidFill>
          </p:spPr>
        </p:sp>
        <p:sp>
          <p:nvSpPr>
            <p:cNvPr id="14" name="TextBox 14"/>
            <p:cNvSpPr txBox="1"/>
            <p:nvPr/>
          </p:nvSpPr>
          <p:spPr>
            <a:xfrm>
              <a:off x="0" y="-38100"/>
              <a:ext cx="1589716" cy="174350"/>
            </a:xfrm>
            <a:prstGeom prst="rect">
              <a:avLst/>
            </a:prstGeom>
          </p:spPr>
          <p:txBody>
            <a:bodyPr lIns="50800" tIns="50800" rIns="50800" bIns="50800" rtlCol="0" anchor="ctr"/>
            <a:lstStyle/>
            <a:p>
              <a:pPr algn="ctr">
                <a:lnSpc>
                  <a:spcPts val="2659"/>
                </a:lnSpc>
              </a:pPr>
              <a:endParaRPr/>
            </a:p>
          </p:txBody>
        </p:sp>
      </p:grpSp>
      <p:sp>
        <p:nvSpPr>
          <p:cNvPr id="15" name="Freeform 15"/>
          <p:cNvSpPr/>
          <p:nvPr/>
        </p:nvSpPr>
        <p:spPr>
          <a:xfrm>
            <a:off x="1070306" y="2813041"/>
            <a:ext cx="5733042" cy="5166327"/>
          </a:xfrm>
          <a:custGeom>
            <a:avLst/>
            <a:gdLst/>
            <a:ahLst/>
            <a:cxnLst/>
            <a:rect l="l" t="t" r="r" b="b"/>
            <a:pathLst>
              <a:path w="5733042" h="5166327">
                <a:moveTo>
                  <a:pt x="0" y="0"/>
                </a:moveTo>
                <a:lnTo>
                  <a:pt x="5733042" y="0"/>
                </a:lnTo>
                <a:lnTo>
                  <a:pt x="5733042" y="5166327"/>
                </a:lnTo>
                <a:lnTo>
                  <a:pt x="0" y="5166327"/>
                </a:lnTo>
                <a:lnTo>
                  <a:pt x="0" y="0"/>
                </a:lnTo>
                <a:close/>
              </a:path>
            </a:pathLst>
          </a:custGeom>
          <a:blipFill>
            <a:blip r:embed="rId6"/>
            <a:stretch>
              <a:fillRect/>
            </a:stretch>
          </a:blipFill>
        </p:spPr>
      </p:sp>
      <p:sp>
        <p:nvSpPr>
          <p:cNvPr id="16" name="TextBox 16"/>
          <p:cNvSpPr txBox="1"/>
          <p:nvPr/>
        </p:nvSpPr>
        <p:spPr>
          <a:xfrm>
            <a:off x="7575871" y="1531611"/>
            <a:ext cx="10712129" cy="1281430"/>
          </a:xfrm>
          <a:prstGeom prst="rect">
            <a:avLst/>
          </a:prstGeom>
        </p:spPr>
        <p:txBody>
          <a:bodyPr lIns="0" tIns="0" rIns="0" bIns="0" rtlCol="0" anchor="t">
            <a:spAutoFit/>
          </a:bodyPr>
          <a:lstStyle/>
          <a:p>
            <a:pPr algn="l">
              <a:lnSpc>
                <a:spcPts val="4700"/>
              </a:lnSpc>
            </a:pPr>
            <a:r>
              <a:rPr lang="en-US" sz="4700" b="1">
                <a:solidFill>
                  <a:srgbClr val="000000"/>
                </a:solidFill>
                <a:latin typeface="Codec Pro Bold"/>
                <a:ea typeface="Codec Pro Bold"/>
                <a:cs typeface="Codec Pro Bold"/>
                <a:sym typeface="Codec Pro Bold"/>
              </a:rPr>
              <a:t>Absence of Standard for Service Discovery</a:t>
            </a:r>
          </a:p>
        </p:txBody>
      </p:sp>
      <p:sp>
        <p:nvSpPr>
          <p:cNvPr id="17" name="TextBox 17"/>
          <p:cNvSpPr txBox="1"/>
          <p:nvPr/>
        </p:nvSpPr>
        <p:spPr>
          <a:xfrm>
            <a:off x="7575871" y="3011154"/>
            <a:ext cx="10435096" cy="5330317"/>
          </a:xfrm>
          <a:prstGeom prst="rect">
            <a:avLst/>
          </a:prstGeom>
        </p:spPr>
        <p:txBody>
          <a:bodyPr lIns="0" tIns="0" rIns="0" bIns="0" rtlCol="0" anchor="t">
            <a:spAutoFit/>
          </a:bodyPr>
          <a:lstStyle/>
          <a:p>
            <a:pPr algn="just">
              <a:lnSpc>
                <a:spcPts val="3877"/>
              </a:lnSpc>
              <a:spcBef>
                <a:spcPct val="0"/>
              </a:spcBef>
            </a:pPr>
            <a:r>
              <a:rPr lang="en-US" sz="2769">
                <a:solidFill>
                  <a:srgbClr val="000000"/>
                </a:solidFill>
                <a:latin typeface="Montserrat"/>
                <a:ea typeface="Montserrat"/>
                <a:cs typeface="Montserrat"/>
                <a:sym typeface="Montserrat"/>
              </a:rPr>
              <a:t>In traditional web services, clients often need to know the available endpoints and their functionality in advance. This lack of a unified discovery mechanism can make it challenging for clients to dynamically locate and interact with various RESTful services, particularly in larger ecosystems with multiple APIs. Without a standard approach, developers must rely on documentation or external tools to manage service discovery, which can lead to errors. As a result, integrating new services or updating existing ones becomes more cumbersome, hampering the flexibility and scalability that REST aims to provide.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2183285" y="-3256847"/>
            <a:ext cx="8400347" cy="8400347"/>
          </a:xfrm>
          <a:custGeom>
            <a:avLst/>
            <a:gdLst/>
            <a:ahLst/>
            <a:cxnLst/>
            <a:rect l="l" t="t" r="r" b="b"/>
            <a:pathLst>
              <a:path w="8400347" h="8400347">
                <a:moveTo>
                  <a:pt x="0" y="0"/>
                </a:moveTo>
                <a:lnTo>
                  <a:pt x="8400347" y="0"/>
                </a:lnTo>
                <a:lnTo>
                  <a:pt x="8400347" y="8400347"/>
                </a:lnTo>
                <a:lnTo>
                  <a:pt x="0" y="840034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0" y="0"/>
            <a:ext cx="3936827" cy="10287000"/>
            <a:chOff x="0" y="0"/>
            <a:chExt cx="1036860" cy="2709333"/>
          </a:xfrm>
        </p:grpSpPr>
        <p:sp>
          <p:nvSpPr>
            <p:cNvPr id="4" name="Freeform 4"/>
            <p:cNvSpPr/>
            <p:nvPr/>
          </p:nvSpPr>
          <p:spPr>
            <a:xfrm>
              <a:off x="0" y="0"/>
              <a:ext cx="1036860" cy="2709333"/>
            </a:xfrm>
            <a:custGeom>
              <a:avLst/>
              <a:gdLst/>
              <a:ahLst/>
              <a:cxnLst/>
              <a:rect l="l" t="t" r="r" b="b"/>
              <a:pathLst>
                <a:path w="1036860" h="2709333">
                  <a:moveTo>
                    <a:pt x="0" y="0"/>
                  </a:moveTo>
                  <a:lnTo>
                    <a:pt x="1036860" y="0"/>
                  </a:lnTo>
                  <a:lnTo>
                    <a:pt x="1036860" y="2709333"/>
                  </a:lnTo>
                  <a:lnTo>
                    <a:pt x="0" y="2709333"/>
                  </a:lnTo>
                  <a:close/>
                </a:path>
              </a:pathLst>
            </a:custGeom>
            <a:solidFill>
              <a:srgbClr val="856EE0"/>
            </a:solidFill>
          </p:spPr>
        </p:sp>
        <p:sp>
          <p:nvSpPr>
            <p:cNvPr id="5" name="TextBox 5"/>
            <p:cNvSpPr txBox="1"/>
            <p:nvPr/>
          </p:nvSpPr>
          <p:spPr>
            <a:xfrm>
              <a:off x="0" y="-38100"/>
              <a:ext cx="1036860" cy="2747433"/>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4087827" y="6086827"/>
            <a:ext cx="8400347" cy="8400347"/>
          </a:xfrm>
          <a:custGeom>
            <a:avLst/>
            <a:gdLst/>
            <a:ahLst/>
            <a:cxnLst/>
            <a:rect l="l" t="t" r="r" b="b"/>
            <a:pathLst>
              <a:path w="8400347" h="8400347">
                <a:moveTo>
                  <a:pt x="0" y="0"/>
                </a:moveTo>
                <a:lnTo>
                  <a:pt x="8400346" y="0"/>
                </a:lnTo>
                <a:lnTo>
                  <a:pt x="8400346" y="8400346"/>
                </a:lnTo>
                <a:lnTo>
                  <a:pt x="0" y="8400346"/>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7" name="Freeform 7"/>
          <p:cNvSpPr/>
          <p:nvPr/>
        </p:nvSpPr>
        <p:spPr>
          <a:xfrm>
            <a:off x="15466739" y="1028700"/>
            <a:ext cx="1761909" cy="112121"/>
          </a:xfrm>
          <a:custGeom>
            <a:avLst/>
            <a:gdLst/>
            <a:ahLst/>
            <a:cxnLst/>
            <a:rect l="l" t="t" r="r" b="b"/>
            <a:pathLst>
              <a:path w="1761909" h="112121">
                <a:moveTo>
                  <a:pt x="0" y="0"/>
                </a:moveTo>
                <a:lnTo>
                  <a:pt x="1761909" y="0"/>
                </a:lnTo>
                <a:lnTo>
                  <a:pt x="1761909" y="112121"/>
                </a:lnTo>
                <a:lnTo>
                  <a:pt x="0" y="1121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10583632" y="9146179"/>
            <a:ext cx="1761909" cy="112121"/>
          </a:xfrm>
          <a:custGeom>
            <a:avLst/>
            <a:gdLst/>
            <a:ahLst/>
            <a:cxnLst/>
            <a:rect l="l" t="t" r="r" b="b"/>
            <a:pathLst>
              <a:path w="1761909" h="112121">
                <a:moveTo>
                  <a:pt x="0" y="0"/>
                </a:moveTo>
                <a:lnTo>
                  <a:pt x="1761908" y="0"/>
                </a:lnTo>
                <a:lnTo>
                  <a:pt x="1761908" y="112121"/>
                </a:lnTo>
                <a:lnTo>
                  <a:pt x="0" y="1121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9" name="Group 9"/>
          <p:cNvGrpSpPr/>
          <p:nvPr/>
        </p:nvGrpSpPr>
        <p:grpSpPr>
          <a:xfrm>
            <a:off x="17149862" y="9258300"/>
            <a:ext cx="861105" cy="861105"/>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58</a:t>
              </a:r>
            </a:p>
          </p:txBody>
        </p:sp>
      </p:grpSp>
      <p:grpSp>
        <p:nvGrpSpPr>
          <p:cNvPr id="12" name="Group 12"/>
          <p:cNvGrpSpPr/>
          <p:nvPr/>
        </p:nvGrpSpPr>
        <p:grpSpPr>
          <a:xfrm>
            <a:off x="918851" y="8248329"/>
            <a:ext cx="6035952" cy="517324"/>
            <a:chOff x="0" y="0"/>
            <a:chExt cx="1589716" cy="136250"/>
          </a:xfrm>
        </p:grpSpPr>
        <p:sp>
          <p:nvSpPr>
            <p:cNvPr id="13" name="Freeform 13"/>
            <p:cNvSpPr/>
            <p:nvPr/>
          </p:nvSpPr>
          <p:spPr>
            <a:xfrm>
              <a:off x="0" y="0"/>
              <a:ext cx="1589716" cy="136250"/>
            </a:xfrm>
            <a:custGeom>
              <a:avLst/>
              <a:gdLst/>
              <a:ahLst/>
              <a:cxnLst/>
              <a:rect l="l" t="t" r="r" b="b"/>
              <a:pathLst>
                <a:path w="1589716" h="136250">
                  <a:moveTo>
                    <a:pt x="30783" y="0"/>
                  </a:moveTo>
                  <a:lnTo>
                    <a:pt x="1558932" y="0"/>
                  </a:lnTo>
                  <a:cubicBezTo>
                    <a:pt x="1575934" y="0"/>
                    <a:pt x="1589716" y="13782"/>
                    <a:pt x="1589716" y="30783"/>
                  </a:cubicBezTo>
                  <a:lnTo>
                    <a:pt x="1589716" y="105467"/>
                  </a:lnTo>
                  <a:cubicBezTo>
                    <a:pt x="1589716" y="122468"/>
                    <a:pt x="1575934" y="136250"/>
                    <a:pt x="1558932" y="136250"/>
                  </a:cubicBezTo>
                  <a:lnTo>
                    <a:pt x="30783" y="136250"/>
                  </a:lnTo>
                  <a:cubicBezTo>
                    <a:pt x="22619" y="136250"/>
                    <a:pt x="14789" y="133007"/>
                    <a:pt x="9016" y="127234"/>
                  </a:cubicBezTo>
                  <a:cubicBezTo>
                    <a:pt x="3243" y="121461"/>
                    <a:pt x="0" y="113631"/>
                    <a:pt x="0" y="105467"/>
                  </a:cubicBezTo>
                  <a:lnTo>
                    <a:pt x="0" y="30783"/>
                  </a:lnTo>
                  <a:cubicBezTo>
                    <a:pt x="0" y="13782"/>
                    <a:pt x="13782" y="0"/>
                    <a:pt x="30783" y="0"/>
                  </a:cubicBezTo>
                  <a:close/>
                </a:path>
              </a:pathLst>
            </a:custGeom>
            <a:solidFill>
              <a:srgbClr val="26CBB8"/>
            </a:solidFill>
          </p:spPr>
        </p:sp>
        <p:sp>
          <p:nvSpPr>
            <p:cNvPr id="14" name="TextBox 14"/>
            <p:cNvSpPr txBox="1"/>
            <p:nvPr/>
          </p:nvSpPr>
          <p:spPr>
            <a:xfrm>
              <a:off x="0" y="-38100"/>
              <a:ext cx="1589716" cy="174350"/>
            </a:xfrm>
            <a:prstGeom prst="rect">
              <a:avLst/>
            </a:prstGeom>
          </p:spPr>
          <p:txBody>
            <a:bodyPr lIns="50800" tIns="50800" rIns="50800" bIns="50800" rtlCol="0" anchor="ctr"/>
            <a:lstStyle/>
            <a:p>
              <a:pPr algn="ctr">
                <a:lnSpc>
                  <a:spcPts val="2659"/>
                </a:lnSpc>
              </a:pPr>
              <a:endParaRPr/>
            </a:p>
          </p:txBody>
        </p:sp>
      </p:grpSp>
      <p:sp>
        <p:nvSpPr>
          <p:cNvPr id="15" name="Freeform 15"/>
          <p:cNvSpPr/>
          <p:nvPr/>
        </p:nvSpPr>
        <p:spPr>
          <a:xfrm>
            <a:off x="394422" y="3590006"/>
            <a:ext cx="7084810" cy="3258212"/>
          </a:xfrm>
          <a:custGeom>
            <a:avLst/>
            <a:gdLst/>
            <a:ahLst/>
            <a:cxnLst/>
            <a:rect l="l" t="t" r="r" b="b"/>
            <a:pathLst>
              <a:path w="7084810" h="3258212">
                <a:moveTo>
                  <a:pt x="0" y="0"/>
                </a:moveTo>
                <a:lnTo>
                  <a:pt x="7084810" y="0"/>
                </a:lnTo>
                <a:lnTo>
                  <a:pt x="7084810" y="3258212"/>
                </a:lnTo>
                <a:lnTo>
                  <a:pt x="0" y="3258212"/>
                </a:lnTo>
                <a:lnTo>
                  <a:pt x="0" y="0"/>
                </a:lnTo>
                <a:close/>
              </a:path>
            </a:pathLst>
          </a:custGeom>
          <a:blipFill>
            <a:blip r:embed="rId6"/>
            <a:stretch>
              <a:fillRect/>
            </a:stretch>
          </a:blipFill>
        </p:spPr>
      </p:sp>
      <p:sp>
        <p:nvSpPr>
          <p:cNvPr id="16" name="TextBox 16"/>
          <p:cNvSpPr txBox="1"/>
          <p:nvPr/>
        </p:nvSpPr>
        <p:spPr>
          <a:xfrm>
            <a:off x="7575871" y="1531611"/>
            <a:ext cx="10712129" cy="690880"/>
          </a:xfrm>
          <a:prstGeom prst="rect">
            <a:avLst/>
          </a:prstGeom>
        </p:spPr>
        <p:txBody>
          <a:bodyPr lIns="0" tIns="0" rIns="0" bIns="0" rtlCol="0" anchor="t">
            <a:spAutoFit/>
          </a:bodyPr>
          <a:lstStyle/>
          <a:p>
            <a:pPr algn="l">
              <a:lnSpc>
                <a:spcPts val="4700"/>
              </a:lnSpc>
            </a:pPr>
            <a:r>
              <a:rPr lang="en-US" sz="4700" b="1">
                <a:solidFill>
                  <a:srgbClr val="000000"/>
                </a:solidFill>
                <a:latin typeface="Codec Pro Bold"/>
                <a:ea typeface="Codec Pro Bold"/>
                <a:cs typeface="Codec Pro Bold"/>
                <a:sym typeface="Codec Pro Bold"/>
              </a:rPr>
              <a:t>API Version Management</a:t>
            </a:r>
          </a:p>
        </p:txBody>
      </p:sp>
      <p:sp>
        <p:nvSpPr>
          <p:cNvPr id="17" name="TextBox 17"/>
          <p:cNvSpPr txBox="1"/>
          <p:nvPr/>
        </p:nvSpPr>
        <p:spPr>
          <a:xfrm>
            <a:off x="7575871" y="3011154"/>
            <a:ext cx="10435096" cy="4358767"/>
          </a:xfrm>
          <a:prstGeom prst="rect">
            <a:avLst/>
          </a:prstGeom>
        </p:spPr>
        <p:txBody>
          <a:bodyPr lIns="0" tIns="0" rIns="0" bIns="0" rtlCol="0" anchor="t">
            <a:spAutoFit/>
          </a:bodyPr>
          <a:lstStyle/>
          <a:p>
            <a:pPr algn="just">
              <a:lnSpc>
                <a:spcPts val="3877"/>
              </a:lnSpc>
              <a:spcBef>
                <a:spcPct val="0"/>
              </a:spcBef>
            </a:pPr>
            <a:r>
              <a:rPr lang="en-US" sz="2769">
                <a:solidFill>
                  <a:srgbClr val="000000"/>
                </a:solidFill>
                <a:latin typeface="Montserrat"/>
                <a:ea typeface="Montserrat"/>
                <a:cs typeface="Montserrat"/>
                <a:sym typeface="Montserrat"/>
              </a:rPr>
              <a:t>As APIs evolve, breaking changes can affect clients relying on older versions. Since REST doesn't have built-in versioning, developers must implement their own strategies, such as using URL paths (e.g., /api/v1/resource) or custom headers for versioning. Each method has its trade-offs, and poor versioning can cause confusion, higher maintenance, and service disruptions. Careful planning is crucial to ensure APIs evolve smoothly without impacting users.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2876550" y="-1666875"/>
            <a:ext cx="20887517" cy="4579002"/>
            <a:chOff x="0" y="0"/>
            <a:chExt cx="5501239" cy="1205992"/>
          </a:xfrm>
        </p:grpSpPr>
        <p:sp>
          <p:nvSpPr>
            <p:cNvPr id="3" name="Freeform 3"/>
            <p:cNvSpPr/>
            <p:nvPr/>
          </p:nvSpPr>
          <p:spPr>
            <a:xfrm>
              <a:off x="0" y="0"/>
              <a:ext cx="5501239" cy="1205992"/>
            </a:xfrm>
            <a:custGeom>
              <a:avLst/>
              <a:gdLst/>
              <a:ahLst/>
              <a:cxnLst/>
              <a:rect l="l" t="t" r="r" b="b"/>
              <a:pathLst>
                <a:path w="5501239" h="1205992">
                  <a:moveTo>
                    <a:pt x="37065" y="0"/>
                  </a:moveTo>
                  <a:lnTo>
                    <a:pt x="5464174" y="0"/>
                  </a:lnTo>
                  <a:cubicBezTo>
                    <a:pt x="5474004" y="0"/>
                    <a:pt x="5483432" y="3905"/>
                    <a:pt x="5490383" y="10856"/>
                  </a:cubicBezTo>
                  <a:cubicBezTo>
                    <a:pt x="5497334" y="17807"/>
                    <a:pt x="5501239" y="27235"/>
                    <a:pt x="5501239" y="37065"/>
                  </a:cubicBezTo>
                  <a:lnTo>
                    <a:pt x="5501239" y="1168928"/>
                  </a:lnTo>
                  <a:cubicBezTo>
                    <a:pt x="5501239" y="1178758"/>
                    <a:pt x="5497334" y="1188185"/>
                    <a:pt x="5490383" y="1195136"/>
                  </a:cubicBezTo>
                  <a:cubicBezTo>
                    <a:pt x="5483432" y="1202087"/>
                    <a:pt x="5474004" y="1205992"/>
                    <a:pt x="5464174" y="1205992"/>
                  </a:cubicBezTo>
                  <a:lnTo>
                    <a:pt x="37065" y="1205992"/>
                  </a:lnTo>
                  <a:cubicBezTo>
                    <a:pt x="27235" y="1205992"/>
                    <a:pt x="17807" y="1202087"/>
                    <a:pt x="10856" y="1195136"/>
                  </a:cubicBezTo>
                  <a:cubicBezTo>
                    <a:pt x="3905" y="1188185"/>
                    <a:pt x="0" y="1178758"/>
                    <a:pt x="0" y="1168928"/>
                  </a:cubicBezTo>
                  <a:lnTo>
                    <a:pt x="0" y="37065"/>
                  </a:lnTo>
                  <a:cubicBezTo>
                    <a:pt x="0" y="27235"/>
                    <a:pt x="3905" y="17807"/>
                    <a:pt x="10856" y="10856"/>
                  </a:cubicBezTo>
                  <a:cubicBezTo>
                    <a:pt x="17807" y="3905"/>
                    <a:pt x="27235" y="0"/>
                    <a:pt x="37065" y="0"/>
                  </a:cubicBezTo>
                  <a:close/>
                </a:path>
              </a:pathLst>
            </a:custGeom>
            <a:solidFill>
              <a:srgbClr val="856EE0"/>
            </a:solidFill>
          </p:spPr>
        </p:sp>
        <p:sp>
          <p:nvSpPr>
            <p:cNvPr id="4" name="TextBox 4"/>
            <p:cNvSpPr txBox="1"/>
            <p:nvPr/>
          </p:nvSpPr>
          <p:spPr>
            <a:xfrm>
              <a:off x="0" y="-38100"/>
              <a:ext cx="5501239" cy="1244092"/>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0" y="2893077"/>
            <a:ext cx="1997550" cy="1997550"/>
          </a:xfrm>
          <a:custGeom>
            <a:avLst/>
            <a:gdLst/>
            <a:ahLst/>
            <a:cxnLst/>
            <a:rect l="l" t="t" r="r" b="b"/>
            <a:pathLst>
              <a:path w="1997550" h="1997550">
                <a:moveTo>
                  <a:pt x="0" y="0"/>
                </a:moveTo>
                <a:lnTo>
                  <a:pt x="1997550" y="0"/>
                </a:lnTo>
                <a:lnTo>
                  <a:pt x="1997550" y="1997551"/>
                </a:lnTo>
                <a:lnTo>
                  <a:pt x="0" y="19975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590157" y="4063960"/>
            <a:ext cx="17284291" cy="5009346"/>
            <a:chOff x="0" y="0"/>
            <a:chExt cx="4552241" cy="1319334"/>
          </a:xfrm>
        </p:grpSpPr>
        <p:sp>
          <p:nvSpPr>
            <p:cNvPr id="7" name="Freeform 7"/>
            <p:cNvSpPr/>
            <p:nvPr/>
          </p:nvSpPr>
          <p:spPr>
            <a:xfrm>
              <a:off x="0" y="0"/>
              <a:ext cx="4552242" cy="1319334"/>
            </a:xfrm>
            <a:custGeom>
              <a:avLst/>
              <a:gdLst/>
              <a:ahLst/>
              <a:cxnLst/>
              <a:rect l="l" t="t" r="r" b="b"/>
              <a:pathLst>
                <a:path w="4552242" h="1319334">
                  <a:moveTo>
                    <a:pt x="44792" y="0"/>
                  </a:moveTo>
                  <a:lnTo>
                    <a:pt x="4507450" y="0"/>
                  </a:lnTo>
                  <a:cubicBezTo>
                    <a:pt x="4519329" y="0"/>
                    <a:pt x="4530722" y="4719"/>
                    <a:pt x="4539122" y="13119"/>
                  </a:cubicBezTo>
                  <a:cubicBezTo>
                    <a:pt x="4547522" y="21519"/>
                    <a:pt x="4552242" y="32912"/>
                    <a:pt x="4552242" y="44792"/>
                  </a:cubicBezTo>
                  <a:lnTo>
                    <a:pt x="4552242" y="1274542"/>
                  </a:lnTo>
                  <a:cubicBezTo>
                    <a:pt x="4552242" y="1299280"/>
                    <a:pt x="4532188" y="1319334"/>
                    <a:pt x="4507450" y="1319334"/>
                  </a:cubicBezTo>
                  <a:lnTo>
                    <a:pt x="44792" y="1319334"/>
                  </a:lnTo>
                  <a:cubicBezTo>
                    <a:pt x="32912" y="1319334"/>
                    <a:pt x="21519" y="1314615"/>
                    <a:pt x="13119" y="1306215"/>
                  </a:cubicBezTo>
                  <a:cubicBezTo>
                    <a:pt x="4719" y="1297815"/>
                    <a:pt x="0" y="1286422"/>
                    <a:pt x="0" y="1274542"/>
                  </a:cubicBezTo>
                  <a:lnTo>
                    <a:pt x="0" y="44792"/>
                  </a:lnTo>
                  <a:cubicBezTo>
                    <a:pt x="0" y="32912"/>
                    <a:pt x="4719" y="21519"/>
                    <a:pt x="13119" y="13119"/>
                  </a:cubicBezTo>
                  <a:cubicBezTo>
                    <a:pt x="21519" y="4719"/>
                    <a:pt x="32912" y="0"/>
                    <a:pt x="44792" y="0"/>
                  </a:cubicBezTo>
                  <a:close/>
                </a:path>
              </a:pathLst>
            </a:custGeom>
            <a:solidFill>
              <a:srgbClr val="26CBB8"/>
            </a:solidFill>
          </p:spPr>
        </p:sp>
        <p:sp>
          <p:nvSpPr>
            <p:cNvPr id="8" name="TextBox 8"/>
            <p:cNvSpPr txBox="1"/>
            <p:nvPr/>
          </p:nvSpPr>
          <p:spPr>
            <a:xfrm>
              <a:off x="0" y="-38100"/>
              <a:ext cx="4552241" cy="1357434"/>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14805774" y="1028700"/>
            <a:ext cx="1761909" cy="112121"/>
          </a:xfrm>
          <a:custGeom>
            <a:avLst/>
            <a:gdLst/>
            <a:ahLst/>
            <a:cxnLst/>
            <a:rect l="l" t="t" r="r" b="b"/>
            <a:pathLst>
              <a:path w="1761909" h="112121">
                <a:moveTo>
                  <a:pt x="0" y="0"/>
                </a:moveTo>
                <a:lnTo>
                  <a:pt x="1761908" y="0"/>
                </a:lnTo>
                <a:lnTo>
                  <a:pt x="1761908" y="112121"/>
                </a:lnTo>
                <a:lnTo>
                  <a:pt x="0" y="1121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9232302" y="1028700"/>
            <a:ext cx="911606" cy="552380"/>
          </a:xfrm>
          <a:custGeom>
            <a:avLst/>
            <a:gdLst/>
            <a:ahLst/>
            <a:cxnLst/>
            <a:rect l="l" t="t" r="r" b="b"/>
            <a:pathLst>
              <a:path w="911606" h="552380">
                <a:moveTo>
                  <a:pt x="0" y="0"/>
                </a:moveTo>
                <a:lnTo>
                  <a:pt x="911607" y="0"/>
                </a:lnTo>
                <a:lnTo>
                  <a:pt x="911607" y="552380"/>
                </a:lnTo>
                <a:lnTo>
                  <a:pt x="0" y="552380"/>
                </a:lnTo>
                <a:lnTo>
                  <a:pt x="0" y="0"/>
                </a:lnTo>
                <a:close/>
              </a:path>
            </a:pathLst>
          </a:custGeom>
          <a:blipFill>
            <a:blip r:embed="rId6">
              <a:extLst>
                <a:ext uri="{96DAC541-7B7A-43D3-8B79-37D633B846F1}">
                  <asvg:svgBlip xmlns:asvg="http://schemas.microsoft.com/office/drawing/2016/SVG/main" r:embed="rId7"/>
                </a:ext>
              </a:extLst>
            </a:blip>
            <a:stretch>
              <a:fillRect r="-182430"/>
            </a:stretch>
          </a:blipFill>
        </p:spPr>
      </p:sp>
      <p:sp>
        <p:nvSpPr>
          <p:cNvPr id="11" name="Freeform 11"/>
          <p:cNvSpPr/>
          <p:nvPr/>
        </p:nvSpPr>
        <p:spPr>
          <a:xfrm>
            <a:off x="15686728" y="8156481"/>
            <a:ext cx="911606" cy="552380"/>
          </a:xfrm>
          <a:custGeom>
            <a:avLst/>
            <a:gdLst/>
            <a:ahLst/>
            <a:cxnLst/>
            <a:rect l="l" t="t" r="r" b="b"/>
            <a:pathLst>
              <a:path w="911606" h="552380">
                <a:moveTo>
                  <a:pt x="0" y="0"/>
                </a:moveTo>
                <a:lnTo>
                  <a:pt x="911606" y="0"/>
                </a:lnTo>
                <a:lnTo>
                  <a:pt x="911606" y="552380"/>
                </a:lnTo>
                <a:lnTo>
                  <a:pt x="0" y="552380"/>
                </a:lnTo>
                <a:lnTo>
                  <a:pt x="0" y="0"/>
                </a:lnTo>
                <a:close/>
              </a:path>
            </a:pathLst>
          </a:custGeom>
          <a:blipFill>
            <a:blip r:embed="rId6">
              <a:extLst>
                <a:ext uri="{96DAC541-7B7A-43D3-8B79-37D633B846F1}">
                  <asvg:svgBlip xmlns:asvg="http://schemas.microsoft.com/office/drawing/2016/SVG/main" r:embed="rId7"/>
                </a:ext>
              </a:extLst>
            </a:blip>
            <a:stretch>
              <a:fillRect r="-182430"/>
            </a:stretch>
          </a:blipFill>
        </p:spPr>
      </p:sp>
      <p:sp>
        <p:nvSpPr>
          <p:cNvPr id="12" name="TextBox 12"/>
          <p:cNvSpPr txBox="1"/>
          <p:nvPr/>
        </p:nvSpPr>
        <p:spPr>
          <a:xfrm>
            <a:off x="1595179" y="651201"/>
            <a:ext cx="7031039" cy="865023"/>
          </a:xfrm>
          <a:prstGeom prst="rect">
            <a:avLst/>
          </a:prstGeom>
        </p:spPr>
        <p:txBody>
          <a:bodyPr lIns="0" tIns="0" rIns="0" bIns="0" rtlCol="0" anchor="t">
            <a:spAutoFit/>
          </a:bodyPr>
          <a:lstStyle/>
          <a:p>
            <a:pPr algn="l">
              <a:lnSpc>
                <a:spcPts val="5885"/>
              </a:lnSpc>
            </a:pPr>
            <a:r>
              <a:rPr lang="en-US" sz="5885" b="1">
                <a:solidFill>
                  <a:srgbClr val="FFFFFF"/>
                </a:solidFill>
                <a:latin typeface="Codec Pro Bold"/>
                <a:ea typeface="Codec Pro Bold"/>
                <a:cs typeface="Codec Pro Bold"/>
                <a:sym typeface="Codec Pro Bold"/>
              </a:rPr>
              <a:t>Conclusion</a:t>
            </a:r>
          </a:p>
        </p:txBody>
      </p:sp>
      <p:sp>
        <p:nvSpPr>
          <p:cNvPr id="13" name="TextBox 13"/>
          <p:cNvSpPr txBox="1"/>
          <p:nvPr/>
        </p:nvSpPr>
        <p:spPr>
          <a:xfrm>
            <a:off x="1062712" y="4508461"/>
            <a:ext cx="16339180" cy="4088279"/>
          </a:xfrm>
          <a:prstGeom prst="rect">
            <a:avLst/>
          </a:prstGeom>
        </p:spPr>
        <p:txBody>
          <a:bodyPr lIns="0" tIns="0" rIns="0" bIns="0" rtlCol="0" anchor="t">
            <a:spAutoFit/>
          </a:bodyPr>
          <a:lstStyle/>
          <a:p>
            <a:pPr algn="ctr">
              <a:lnSpc>
                <a:spcPts val="4086"/>
              </a:lnSpc>
              <a:spcBef>
                <a:spcPct val="0"/>
              </a:spcBef>
            </a:pPr>
            <a:r>
              <a:rPr lang="en-US" sz="2919" b="1">
                <a:solidFill>
                  <a:srgbClr val="FFFFFF"/>
                </a:solidFill>
                <a:latin typeface="Montserrat Medium"/>
                <a:ea typeface="Montserrat Medium"/>
                <a:cs typeface="Montserrat Medium"/>
                <a:sym typeface="Montserrat Medium"/>
              </a:rPr>
              <a:t>In conclusion, Service-Oriented Architecture (SOA) and REST are key to building modern, scalable, and maintainable systems. SOA emphasizes modularity and service independence, making it ideal for complex systems, while REST has become the standard for web APIs due to its simplicity, scalability, and use of standard HTTP methods. While REST is powerful, it faces challenges like handling complex transactions and evolving APIs, but alternatives like GraphQL and gRPC are emerging. Overall, REST remains central to modern web development, and understanding its principles is essential for designing efficient, distributed systems.</a:t>
            </a:r>
          </a:p>
        </p:txBody>
      </p:sp>
      <p:sp>
        <p:nvSpPr>
          <p:cNvPr id="14" name="Freeform 14"/>
          <p:cNvSpPr/>
          <p:nvPr/>
        </p:nvSpPr>
        <p:spPr>
          <a:xfrm>
            <a:off x="2915331" y="8596740"/>
            <a:ext cx="1761909" cy="112121"/>
          </a:xfrm>
          <a:custGeom>
            <a:avLst/>
            <a:gdLst/>
            <a:ahLst/>
            <a:cxnLst/>
            <a:rect l="l" t="t" r="r" b="b"/>
            <a:pathLst>
              <a:path w="1761909" h="112121">
                <a:moveTo>
                  <a:pt x="0" y="0"/>
                </a:moveTo>
                <a:lnTo>
                  <a:pt x="1761909" y="0"/>
                </a:lnTo>
                <a:lnTo>
                  <a:pt x="1761909" y="112121"/>
                </a:lnTo>
                <a:lnTo>
                  <a:pt x="0" y="11212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15" name="Group 15"/>
          <p:cNvGrpSpPr/>
          <p:nvPr/>
        </p:nvGrpSpPr>
        <p:grpSpPr>
          <a:xfrm>
            <a:off x="17149862" y="9258300"/>
            <a:ext cx="861105" cy="861105"/>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17" name="TextBox 17"/>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59</a:t>
              </a:r>
            </a:p>
          </p:txBody>
        </p:sp>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Box 2"/>
          <p:cNvSpPr txBox="1"/>
          <p:nvPr/>
        </p:nvSpPr>
        <p:spPr>
          <a:xfrm>
            <a:off x="1992928" y="4463415"/>
            <a:ext cx="14302144" cy="1226820"/>
          </a:xfrm>
          <a:prstGeom prst="rect">
            <a:avLst/>
          </a:prstGeom>
        </p:spPr>
        <p:txBody>
          <a:bodyPr lIns="0" tIns="0" rIns="0" bIns="0" rtlCol="0" anchor="t">
            <a:spAutoFit/>
          </a:bodyPr>
          <a:lstStyle/>
          <a:p>
            <a:pPr algn="ctr">
              <a:lnSpc>
                <a:spcPts val="10080"/>
              </a:lnSpc>
              <a:spcBef>
                <a:spcPct val="0"/>
              </a:spcBef>
            </a:pPr>
            <a:r>
              <a:rPr lang="en-US" sz="7200" b="1">
                <a:solidFill>
                  <a:srgbClr val="26CBB8"/>
                </a:solidFill>
                <a:latin typeface="Montserrat Bold"/>
                <a:ea typeface="Montserrat Bold"/>
                <a:cs typeface="Montserrat Bold"/>
                <a:sym typeface="Montserrat Bold"/>
              </a:rPr>
              <a:t>Thank You For Your Attention</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Box 2"/>
          <p:cNvSpPr txBox="1"/>
          <p:nvPr/>
        </p:nvSpPr>
        <p:spPr>
          <a:xfrm>
            <a:off x="7322046" y="3916680"/>
            <a:ext cx="3643908" cy="1226820"/>
          </a:xfrm>
          <a:prstGeom prst="rect">
            <a:avLst/>
          </a:prstGeom>
        </p:spPr>
        <p:txBody>
          <a:bodyPr lIns="0" tIns="0" rIns="0" bIns="0" rtlCol="0" anchor="t">
            <a:spAutoFit/>
          </a:bodyPr>
          <a:lstStyle/>
          <a:p>
            <a:pPr algn="ctr">
              <a:lnSpc>
                <a:spcPts val="10080"/>
              </a:lnSpc>
              <a:spcBef>
                <a:spcPct val="0"/>
              </a:spcBef>
            </a:pPr>
            <a:r>
              <a:rPr lang="en-US" sz="7200" b="1">
                <a:solidFill>
                  <a:srgbClr val="26CBB8"/>
                </a:solidFill>
                <a:latin typeface="Montserrat Bold"/>
                <a:ea typeface="Montserrat Bold"/>
                <a:cs typeface="Montserrat Bold"/>
                <a:sym typeface="Montserrat Bold"/>
              </a:rPr>
              <a:t>11- MCQ</a:t>
            </a:r>
          </a:p>
        </p:txBody>
      </p:sp>
      <p:grpSp>
        <p:nvGrpSpPr>
          <p:cNvPr id="3" name="Group 3"/>
          <p:cNvGrpSpPr/>
          <p:nvPr/>
        </p:nvGrpSpPr>
        <p:grpSpPr>
          <a:xfrm>
            <a:off x="17149862" y="9258300"/>
            <a:ext cx="861105" cy="861105"/>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5" name="TextBox 5"/>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60</a:t>
              </a:r>
            </a:p>
          </p:txBody>
        </p:sp>
      </p:gr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Box 2"/>
          <p:cNvSpPr txBox="1"/>
          <p:nvPr/>
        </p:nvSpPr>
        <p:spPr>
          <a:xfrm>
            <a:off x="2566265" y="3076121"/>
            <a:ext cx="10435096" cy="3844925"/>
          </a:xfrm>
          <a:prstGeom prst="rect">
            <a:avLst/>
          </a:prstGeom>
        </p:spPr>
        <p:txBody>
          <a:bodyPr lIns="0" tIns="0" rIns="0" bIns="0" rtlCol="0" anchor="t">
            <a:spAutoFit/>
          </a:bodyPr>
          <a:lstStyle/>
          <a:p>
            <a:pPr marL="690881" lvl="1" indent="-345440" algn="just">
              <a:lnSpc>
                <a:spcPts val="6400"/>
              </a:lnSpc>
              <a:buFont typeface="Arial"/>
              <a:buChar char="•"/>
            </a:pPr>
            <a:r>
              <a:rPr lang="en-US" sz="3200">
                <a:solidFill>
                  <a:srgbClr val="000000"/>
                </a:solidFill>
                <a:latin typeface="Montserrat"/>
                <a:ea typeface="Montserrat"/>
                <a:cs typeface="Montserrat"/>
                <a:sym typeface="Montserrat"/>
              </a:rPr>
              <a:t>A) POST</a:t>
            </a:r>
          </a:p>
          <a:p>
            <a:pPr marL="690881" lvl="1" indent="-345440" algn="just">
              <a:lnSpc>
                <a:spcPts val="6400"/>
              </a:lnSpc>
              <a:buFont typeface="Arial"/>
              <a:buChar char="•"/>
            </a:pPr>
            <a:r>
              <a:rPr lang="en-US" sz="3200">
                <a:solidFill>
                  <a:srgbClr val="000000"/>
                </a:solidFill>
                <a:latin typeface="Montserrat"/>
                <a:ea typeface="Montserrat"/>
                <a:cs typeface="Montserrat"/>
                <a:sym typeface="Montserrat"/>
              </a:rPr>
              <a:t>B) PUT</a:t>
            </a:r>
          </a:p>
          <a:p>
            <a:pPr marL="690881" lvl="1" indent="-345440" algn="just">
              <a:lnSpc>
                <a:spcPts val="6400"/>
              </a:lnSpc>
              <a:buFont typeface="Arial"/>
              <a:buChar char="•"/>
            </a:pPr>
            <a:r>
              <a:rPr lang="en-US" sz="3200">
                <a:solidFill>
                  <a:srgbClr val="000000"/>
                </a:solidFill>
                <a:latin typeface="Montserrat"/>
                <a:ea typeface="Montserrat"/>
                <a:cs typeface="Montserrat"/>
                <a:sym typeface="Montserrat"/>
              </a:rPr>
              <a:t>C) GET</a:t>
            </a:r>
          </a:p>
          <a:p>
            <a:pPr marL="690881" lvl="1" indent="-345440" algn="just">
              <a:lnSpc>
                <a:spcPts val="6400"/>
              </a:lnSpc>
              <a:buFont typeface="Arial"/>
              <a:buChar char="•"/>
            </a:pPr>
            <a:r>
              <a:rPr lang="en-US" sz="3200">
                <a:solidFill>
                  <a:srgbClr val="000000"/>
                </a:solidFill>
                <a:latin typeface="Montserrat"/>
                <a:ea typeface="Montserrat"/>
                <a:cs typeface="Montserrat"/>
                <a:sym typeface="Montserrat"/>
              </a:rPr>
              <a:t>D) DELETE</a:t>
            </a:r>
          </a:p>
          <a:p>
            <a:pPr algn="just">
              <a:lnSpc>
                <a:spcPts val="4480"/>
              </a:lnSpc>
              <a:spcBef>
                <a:spcPct val="0"/>
              </a:spcBef>
            </a:pPr>
            <a:endParaRPr lang="en-US" sz="3200">
              <a:solidFill>
                <a:srgbClr val="000000"/>
              </a:solidFill>
              <a:latin typeface="Montserrat"/>
              <a:ea typeface="Montserrat"/>
              <a:cs typeface="Montserrat"/>
              <a:sym typeface="Montserrat"/>
            </a:endParaRPr>
          </a:p>
        </p:txBody>
      </p:sp>
      <p:grpSp>
        <p:nvGrpSpPr>
          <p:cNvPr id="3" name="Group 3"/>
          <p:cNvGrpSpPr/>
          <p:nvPr/>
        </p:nvGrpSpPr>
        <p:grpSpPr>
          <a:xfrm>
            <a:off x="1103286" y="1028700"/>
            <a:ext cx="1175279" cy="963167"/>
            <a:chOff x="0" y="0"/>
            <a:chExt cx="1109350" cy="909137"/>
          </a:xfrm>
        </p:grpSpPr>
        <p:sp>
          <p:nvSpPr>
            <p:cNvPr id="4" name="Freeform 4"/>
            <p:cNvSpPr/>
            <p:nvPr/>
          </p:nvSpPr>
          <p:spPr>
            <a:xfrm>
              <a:off x="0" y="0"/>
              <a:ext cx="1109350" cy="909137"/>
            </a:xfrm>
            <a:custGeom>
              <a:avLst/>
              <a:gdLst/>
              <a:ahLst/>
              <a:cxnLst/>
              <a:rect l="l" t="t" r="r" b="b"/>
              <a:pathLst>
                <a:path w="1109350" h="909137">
                  <a:moveTo>
                    <a:pt x="554675" y="0"/>
                  </a:moveTo>
                  <a:cubicBezTo>
                    <a:pt x="248337" y="0"/>
                    <a:pt x="0" y="203517"/>
                    <a:pt x="0" y="454569"/>
                  </a:cubicBezTo>
                  <a:cubicBezTo>
                    <a:pt x="0" y="705620"/>
                    <a:pt x="248337" y="909137"/>
                    <a:pt x="554675" y="909137"/>
                  </a:cubicBezTo>
                  <a:cubicBezTo>
                    <a:pt x="861014" y="909137"/>
                    <a:pt x="1109350" y="705620"/>
                    <a:pt x="1109350" y="454569"/>
                  </a:cubicBezTo>
                  <a:cubicBezTo>
                    <a:pt x="1109350" y="203517"/>
                    <a:pt x="861014" y="0"/>
                    <a:pt x="554675" y="0"/>
                  </a:cubicBezTo>
                  <a:close/>
                </a:path>
              </a:pathLst>
            </a:custGeom>
            <a:solidFill>
              <a:srgbClr val="000000">
                <a:alpha val="0"/>
              </a:srgbClr>
            </a:solidFill>
            <a:ln w="57150" cap="sq">
              <a:solidFill>
                <a:srgbClr val="856EE0"/>
              </a:solidFill>
              <a:prstDash val="solid"/>
              <a:miter/>
            </a:ln>
          </p:spPr>
        </p:sp>
        <p:sp>
          <p:nvSpPr>
            <p:cNvPr id="5" name="TextBox 5"/>
            <p:cNvSpPr txBox="1"/>
            <p:nvPr/>
          </p:nvSpPr>
          <p:spPr>
            <a:xfrm>
              <a:off x="104002" y="37607"/>
              <a:ext cx="901347" cy="786299"/>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1</a:t>
              </a:r>
            </a:p>
          </p:txBody>
        </p:sp>
      </p:grpSp>
      <p:sp>
        <p:nvSpPr>
          <p:cNvPr id="6" name="TextBox 6"/>
          <p:cNvSpPr txBox="1"/>
          <p:nvPr/>
        </p:nvSpPr>
        <p:spPr>
          <a:xfrm>
            <a:off x="2566265" y="1183163"/>
            <a:ext cx="14222849" cy="1177290"/>
          </a:xfrm>
          <a:prstGeom prst="rect">
            <a:avLst/>
          </a:prstGeom>
        </p:spPr>
        <p:txBody>
          <a:bodyPr lIns="0" tIns="0" rIns="0" bIns="0" rtlCol="0" anchor="t">
            <a:spAutoFit/>
          </a:bodyPr>
          <a:lstStyle/>
          <a:p>
            <a:pPr algn="just">
              <a:lnSpc>
                <a:spcPts val="4679"/>
              </a:lnSpc>
            </a:pPr>
            <a:r>
              <a:rPr lang="en-US" sz="3999" b="1">
                <a:solidFill>
                  <a:srgbClr val="856EE0"/>
                </a:solidFill>
                <a:latin typeface="Montserrat Bold"/>
                <a:ea typeface="Montserrat Bold"/>
                <a:cs typeface="Montserrat Bold"/>
                <a:sym typeface="Montserrat Bold"/>
              </a:rPr>
              <a:t>Which HTTP verb is typically used to retrieve data from a server without modifying it?</a:t>
            </a:r>
          </a:p>
        </p:txBody>
      </p:sp>
      <p:sp>
        <p:nvSpPr>
          <p:cNvPr id="7" name="Freeform 7"/>
          <p:cNvSpPr/>
          <p:nvPr/>
        </p:nvSpPr>
        <p:spPr>
          <a:xfrm>
            <a:off x="-3171473" y="-3929123"/>
            <a:ext cx="8400347" cy="8400347"/>
          </a:xfrm>
          <a:custGeom>
            <a:avLst/>
            <a:gdLst/>
            <a:ahLst/>
            <a:cxnLst/>
            <a:rect l="l" t="t" r="r" b="b"/>
            <a:pathLst>
              <a:path w="8400347" h="8400347">
                <a:moveTo>
                  <a:pt x="0" y="0"/>
                </a:moveTo>
                <a:lnTo>
                  <a:pt x="8400346" y="0"/>
                </a:lnTo>
                <a:lnTo>
                  <a:pt x="8400346" y="8400347"/>
                </a:lnTo>
                <a:lnTo>
                  <a:pt x="0" y="840034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grpSp>
        <p:nvGrpSpPr>
          <p:cNvPr id="8" name="Group 8"/>
          <p:cNvGrpSpPr/>
          <p:nvPr/>
        </p:nvGrpSpPr>
        <p:grpSpPr>
          <a:xfrm>
            <a:off x="17149862" y="9258300"/>
            <a:ext cx="861105" cy="861105"/>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61</a:t>
              </a:r>
            </a:p>
          </p:txBody>
        </p:sp>
      </p:grpSp>
      <p:sp>
        <p:nvSpPr>
          <p:cNvPr id="11" name="Freeform 11"/>
          <p:cNvSpPr/>
          <p:nvPr/>
        </p:nvSpPr>
        <p:spPr>
          <a:xfrm>
            <a:off x="5228873" y="4764637"/>
            <a:ext cx="831835" cy="757726"/>
          </a:xfrm>
          <a:custGeom>
            <a:avLst/>
            <a:gdLst/>
            <a:ahLst/>
            <a:cxnLst/>
            <a:rect l="l" t="t" r="r" b="b"/>
            <a:pathLst>
              <a:path w="831835" h="757726">
                <a:moveTo>
                  <a:pt x="0" y="0"/>
                </a:moveTo>
                <a:lnTo>
                  <a:pt x="831835" y="0"/>
                </a:lnTo>
                <a:lnTo>
                  <a:pt x="831835" y="757726"/>
                </a:lnTo>
                <a:lnTo>
                  <a:pt x="0" y="75772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3171473" y="-3929123"/>
            <a:ext cx="8400347" cy="8400347"/>
          </a:xfrm>
          <a:custGeom>
            <a:avLst/>
            <a:gdLst/>
            <a:ahLst/>
            <a:cxnLst/>
            <a:rect l="l" t="t" r="r" b="b"/>
            <a:pathLst>
              <a:path w="8400347" h="8400347">
                <a:moveTo>
                  <a:pt x="0" y="0"/>
                </a:moveTo>
                <a:lnTo>
                  <a:pt x="8400346" y="0"/>
                </a:lnTo>
                <a:lnTo>
                  <a:pt x="8400346" y="8400347"/>
                </a:lnTo>
                <a:lnTo>
                  <a:pt x="0" y="840034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2566265" y="3085646"/>
            <a:ext cx="10435096" cy="3151506"/>
          </a:xfrm>
          <a:prstGeom prst="rect">
            <a:avLst/>
          </a:prstGeom>
        </p:spPr>
        <p:txBody>
          <a:bodyPr lIns="0" tIns="0" rIns="0" bIns="0" rtlCol="0" anchor="t">
            <a:spAutoFit/>
          </a:bodyPr>
          <a:lstStyle/>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A) GET</a:t>
            </a:r>
          </a:p>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B) DELETE</a:t>
            </a:r>
          </a:p>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C) POST</a:t>
            </a:r>
          </a:p>
          <a:p>
            <a:pPr marL="690879" lvl="1" indent="-345439" algn="just">
              <a:lnSpc>
                <a:spcPts val="6399"/>
              </a:lnSpc>
              <a:spcBef>
                <a:spcPct val="0"/>
              </a:spcBef>
              <a:buFont typeface="Arial"/>
              <a:buChar char="•"/>
            </a:pPr>
            <a:r>
              <a:rPr lang="en-US" sz="3199">
                <a:solidFill>
                  <a:srgbClr val="000000"/>
                </a:solidFill>
                <a:latin typeface="Montserrat"/>
                <a:ea typeface="Montserrat"/>
                <a:cs typeface="Montserrat"/>
                <a:sym typeface="Montserrat"/>
              </a:rPr>
              <a:t>D) PATCH</a:t>
            </a:r>
          </a:p>
        </p:txBody>
      </p:sp>
      <p:grpSp>
        <p:nvGrpSpPr>
          <p:cNvPr id="4" name="Group 4"/>
          <p:cNvGrpSpPr/>
          <p:nvPr/>
        </p:nvGrpSpPr>
        <p:grpSpPr>
          <a:xfrm>
            <a:off x="1103286" y="1028700"/>
            <a:ext cx="1175279" cy="963167"/>
            <a:chOff x="0" y="0"/>
            <a:chExt cx="1109350" cy="909137"/>
          </a:xfrm>
        </p:grpSpPr>
        <p:sp>
          <p:nvSpPr>
            <p:cNvPr id="5" name="Freeform 5"/>
            <p:cNvSpPr/>
            <p:nvPr/>
          </p:nvSpPr>
          <p:spPr>
            <a:xfrm>
              <a:off x="0" y="0"/>
              <a:ext cx="1109350" cy="909137"/>
            </a:xfrm>
            <a:custGeom>
              <a:avLst/>
              <a:gdLst/>
              <a:ahLst/>
              <a:cxnLst/>
              <a:rect l="l" t="t" r="r" b="b"/>
              <a:pathLst>
                <a:path w="1109350" h="909137">
                  <a:moveTo>
                    <a:pt x="554675" y="0"/>
                  </a:moveTo>
                  <a:cubicBezTo>
                    <a:pt x="248337" y="0"/>
                    <a:pt x="0" y="203517"/>
                    <a:pt x="0" y="454569"/>
                  </a:cubicBezTo>
                  <a:cubicBezTo>
                    <a:pt x="0" y="705620"/>
                    <a:pt x="248337" y="909137"/>
                    <a:pt x="554675" y="909137"/>
                  </a:cubicBezTo>
                  <a:cubicBezTo>
                    <a:pt x="861014" y="909137"/>
                    <a:pt x="1109350" y="705620"/>
                    <a:pt x="1109350" y="454569"/>
                  </a:cubicBezTo>
                  <a:cubicBezTo>
                    <a:pt x="1109350" y="203517"/>
                    <a:pt x="861014" y="0"/>
                    <a:pt x="554675" y="0"/>
                  </a:cubicBezTo>
                  <a:close/>
                </a:path>
              </a:pathLst>
            </a:custGeom>
            <a:solidFill>
              <a:srgbClr val="000000">
                <a:alpha val="0"/>
              </a:srgbClr>
            </a:solidFill>
            <a:ln w="57150" cap="sq">
              <a:solidFill>
                <a:srgbClr val="856EE0"/>
              </a:solidFill>
              <a:prstDash val="solid"/>
              <a:miter/>
            </a:ln>
          </p:spPr>
        </p:sp>
        <p:sp>
          <p:nvSpPr>
            <p:cNvPr id="6" name="TextBox 6"/>
            <p:cNvSpPr txBox="1"/>
            <p:nvPr/>
          </p:nvSpPr>
          <p:spPr>
            <a:xfrm>
              <a:off x="104002" y="37607"/>
              <a:ext cx="901347" cy="786299"/>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2</a:t>
              </a:r>
            </a:p>
          </p:txBody>
        </p:sp>
      </p:grpSp>
      <p:sp>
        <p:nvSpPr>
          <p:cNvPr id="7" name="TextBox 7"/>
          <p:cNvSpPr txBox="1"/>
          <p:nvPr/>
        </p:nvSpPr>
        <p:spPr>
          <a:xfrm>
            <a:off x="2566265" y="1225862"/>
            <a:ext cx="14222849" cy="1177290"/>
          </a:xfrm>
          <a:prstGeom prst="rect">
            <a:avLst/>
          </a:prstGeom>
        </p:spPr>
        <p:txBody>
          <a:bodyPr lIns="0" tIns="0" rIns="0" bIns="0" rtlCol="0" anchor="t">
            <a:spAutoFit/>
          </a:bodyPr>
          <a:lstStyle/>
          <a:p>
            <a:pPr algn="just">
              <a:lnSpc>
                <a:spcPts val="4679"/>
              </a:lnSpc>
            </a:pPr>
            <a:r>
              <a:rPr lang="en-US" sz="3999" b="1">
                <a:solidFill>
                  <a:srgbClr val="856EE0"/>
                </a:solidFill>
                <a:latin typeface="Montserrat Bold"/>
                <a:ea typeface="Montserrat Bold"/>
                <a:cs typeface="Montserrat Bold"/>
                <a:sym typeface="Montserrat Bold"/>
              </a:rPr>
              <a:t>Which HTTP verb is used to create a new resource on the server?</a:t>
            </a:r>
          </a:p>
        </p:txBody>
      </p:sp>
      <p:sp>
        <p:nvSpPr>
          <p:cNvPr id="8" name="Freeform 8"/>
          <p:cNvSpPr/>
          <p:nvPr/>
        </p:nvSpPr>
        <p:spPr>
          <a:xfrm>
            <a:off x="5228873" y="4764637"/>
            <a:ext cx="831835" cy="757726"/>
          </a:xfrm>
          <a:custGeom>
            <a:avLst/>
            <a:gdLst/>
            <a:ahLst/>
            <a:cxnLst/>
            <a:rect l="l" t="t" r="r" b="b"/>
            <a:pathLst>
              <a:path w="831835" h="757726">
                <a:moveTo>
                  <a:pt x="0" y="0"/>
                </a:moveTo>
                <a:lnTo>
                  <a:pt x="831835" y="0"/>
                </a:lnTo>
                <a:lnTo>
                  <a:pt x="831835" y="757726"/>
                </a:lnTo>
                <a:lnTo>
                  <a:pt x="0" y="75772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9" name="Group 9"/>
          <p:cNvGrpSpPr/>
          <p:nvPr/>
        </p:nvGrpSpPr>
        <p:grpSpPr>
          <a:xfrm>
            <a:off x="17149862" y="9258300"/>
            <a:ext cx="861105" cy="861105"/>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62</a:t>
              </a:r>
            </a:p>
          </p:txBody>
        </p:sp>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3171473" y="-3929123"/>
            <a:ext cx="8400347" cy="8400347"/>
          </a:xfrm>
          <a:custGeom>
            <a:avLst/>
            <a:gdLst/>
            <a:ahLst/>
            <a:cxnLst/>
            <a:rect l="l" t="t" r="r" b="b"/>
            <a:pathLst>
              <a:path w="8400347" h="8400347">
                <a:moveTo>
                  <a:pt x="0" y="0"/>
                </a:moveTo>
                <a:lnTo>
                  <a:pt x="8400346" y="0"/>
                </a:lnTo>
                <a:lnTo>
                  <a:pt x="8400346" y="8400347"/>
                </a:lnTo>
                <a:lnTo>
                  <a:pt x="0" y="840034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2566265" y="3085646"/>
            <a:ext cx="10435096" cy="3151506"/>
          </a:xfrm>
          <a:prstGeom prst="rect">
            <a:avLst/>
          </a:prstGeom>
        </p:spPr>
        <p:txBody>
          <a:bodyPr lIns="0" tIns="0" rIns="0" bIns="0" rtlCol="0" anchor="t">
            <a:spAutoFit/>
          </a:bodyPr>
          <a:lstStyle/>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A) To delete a resource</a:t>
            </a:r>
          </a:p>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B) To partially update a resource</a:t>
            </a:r>
          </a:p>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C) To fully replace an existing resource</a:t>
            </a:r>
          </a:p>
          <a:p>
            <a:pPr marL="690879" lvl="1" indent="-345439" algn="just">
              <a:lnSpc>
                <a:spcPts val="6399"/>
              </a:lnSpc>
              <a:spcBef>
                <a:spcPct val="0"/>
              </a:spcBef>
              <a:buFont typeface="Arial"/>
              <a:buChar char="•"/>
            </a:pPr>
            <a:r>
              <a:rPr lang="en-US" sz="3199">
                <a:solidFill>
                  <a:srgbClr val="000000"/>
                </a:solidFill>
                <a:latin typeface="Montserrat"/>
                <a:ea typeface="Montserrat"/>
                <a:cs typeface="Montserrat"/>
                <a:sym typeface="Montserrat"/>
              </a:rPr>
              <a:t>D) To fetch a resource</a:t>
            </a:r>
          </a:p>
        </p:txBody>
      </p:sp>
      <p:grpSp>
        <p:nvGrpSpPr>
          <p:cNvPr id="4" name="Group 4"/>
          <p:cNvGrpSpPr/>
          <p:nvPr/>
        </p:nvGrpSpPr>
        <p:grpSpPr>
          <a:xfrm>
            <a:off x="1103286" y="1028700"/>
            <a:ext cx="1175279" cy="963167"/>
            <a:chOff x="0" y="0"/>
            <a:chExt cx="1109350" cy="909137"/>
          </a:xfrm>
        </p:grpSpPr>
        <p:sp>
          <p:nvSpPr>
            <p:cNvPr id="5" name="Freeform 5"/>
            <p:cNvSpPr/>
            <p:nvPr/>
          </p:nvSpPr>
          <p:spPr>
            <a:xfrm>
              <a:off x="0" y="0"/>
              <a:ext cx="1109350" cy="909137"/>
            </a:xfrm>
            <a:custGeom>
              <a:avLst/>
              <a:gdLst/>
              <a:ahLst/>
              <a:cxnLst/>
              <a:rect l="l" t="t" r="r" b="b"/>
              <a:pathLst>
                <a:path w="1109350" h="909137">
                  <a:moveTo>
                    <a:pt x="554675" y="0"/>
                  </a:moveTo>
                  <a:cubicBezTo>
                    <a:pt x="248337" y="0"/>
                    <a:pt x="0" y="203517"/>
                    <a:pt x="0" y="454569"/>
                  </a:cubicBezTo>
                  <a:cubicBezTo>
                    <a:pt x="0" y="705620"/>
                    <a:pt x="248337" y="909137"/>
                    <a:pt x="554675" y="909137"/>
                  </a:cubicBezTo>
                  <a:cubicBezTo>
                    <a:pt x="861014" y="909137"/>
                    <a:pt x="1109350" y="705620"/>
                    <a:pt x="1109350" y="454569"/>
                  </a:cubicBezTo>
                  <a:cubicBezTo>
                    <a:pt x="1109350" y="203517"/>
                    <a:pt x="861014" y="0"/>
                    <a:pt x="554675" y="0"/>
                  </a:cubicBezTo>
                  <a:close/>
                </a:path>
              </a:pathLst>
            </a:custGeom>
            <a:solidFill>
              <a:srgbClr val="000000">
                <a:alpha val="0"/>
              </a:srgbClr>
            </a:solidFill>
            <a:ln w="57150" cap="sq">
              <a:solidFill>
                <a:srgbClr val="856EE0"/>
              </a:solidFill>
              <a:prstDash val="solid"/>
              <a:miter/>
            </a:ln>
          </p:spPr>
        </p:sp>
        <p:sp>
          <p:nvSpPr>
            <p:cNvPr id="6" name="TextBox 6"/>
            <p:cNvSpPr txBox="1"/>
            <p:nvPr/>
          </p:nvSpPr>
          <p:spPr>
            <a:xfrm>
              <a:off x="104002" y="37607"/>
              <a:ext cx="901347" cy="786299"/>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3</a:t>
              </a:r>
            </a:p>
          </p:txBody>
        </p:sp>
      </p:grpSp>
      <p:sp>
        <p:nvSpPr>
          <p:cNvPr id="7" name="TextBox 7"/>
          <p:cNvSpPr txBox="1"/>
          <p:nvPr/>
        </p:nvSpPr>
        <p:spPr>
          <a:xfrm>
            <a:off x="2566265" y="1226439"/>
            <a:ext cx="14222849" cy="586740"/>
          </a:xfrm>
          <a:prstGeom prst="rect">
            <a:avLst/>
          </a:prstGeom>
        </p:spPr>
        <p:txBody>
          <a:bodyPr lIns="0" tIns="0" rIns="0" bIns="0" rtlCol="0" anchor="t">
            <a:spAutoFit/>
          </a:bodyPr>
          <a:lstStyle/>
          <a:p>
            <a:pPr algn="just">
              <a:lnSpc>
                <a:spcPts val="4679"/>
              </a:lnSpc>
            </a:pPr>
            <a:r>
              <a:rPr lang="en-US" sz="3999" b="1">
                <a:solidFill>
                  <a:srgbClr val="856EE0"/>
                </a:solidFill>
                <a:latin typeface="Montserrat Bold"/>
                <a:ea typeface="Montserrat Bold"/>
                <a:cs typeface="Montserrat Bold"/>
                <a:sym typeface="Montserrat Bold"/>
              </a:rPr>
              <a:t>What is the main purpose of the HTTP PUT method ?</a:t>
            </a:r>
          </a:p>
        </p:txBody>
      </p:sp>
      <p:sp>
        <p:nvSpPr>
          <p:cNvPr id="8" name="Freeform 8"/>
          <p:cNvSpPr/>
          <p:nvPr/>
        </p:nvSpPr>
        <p:spPr>
          <a:xfrm>
            <a:off x="11607075" y="4764637"/>
            <a:ext cx="831835" cy="757726"/>
          </a:xfrm>
          <a:custGeom>
            <a:avLst/>
            <a:gdLst/>
            <a:ahLst/>
            <a:cxnLst/>
            <a:rect l="l" t="t" r="r" b="b"/>
            <a:pathLst>
              <a:path w="831835" h="757726">
                <a:moveTo>
                  <a:pt x="0" y="0"/>
                </a:moveTo>
                <a:lnTo>
                  <a:pt x="831835" y="0"/>
                </a:lnTo>
                <a:lnTo>
                  <a:pt x="831835" y="757726"/>
                </a:lnTo>
                <a:lnTo>
                  <a:pt x="0" y="75772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9" name="Group 9"/>
          <p:cNvGrpSpPr/>
          <p:nvPr/>
        </p:nvGrpSpPr>
        <p:grpSpPr>
          <a:xfrm>
            <a:off x="17149862" y="9258300"/>
            <a:ext cx="861105" cy="861105"/>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63</a:t>
              </a:r>
            </a:p>
          </p:txBody>
        </p:sp>
      </p:gr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3171473" y="-3929123"/>
            <a:ext cx="8400347" cy="8400347"/>
          </a:xfrm>
          <a:custGeom>
            <a:avLst/>
            <a:gdLst/>
            <a:ahLst/>
            <a:cxnLst/>
            <a:rect l="l" t="t" r="r" b="b"/>
            <a:pathLst>
              <a:path w="8400347" h="8400347">
                <a:moveTo>
                  <a:pt x="0" y="0"/>
                </a:moveTo>
                <a:lnTo>
                  <a:pt x="8400346" y="0"/>
                </a:lnTo>
                <a:lnTo>
                  <a:pt x="8400346" y="8400347"/>
                </a:lnTo>
                <a:lnTo>
                  <a:pt x="0" y="840034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2566265" y="3085646"/>
            <a:ext cx="10435096" cy="3151506"/>
          </a:xfrm>
          <a:prstGeom prst="rect">
            <a:avLst/>
          </a:prstGeom>
        </p:spPr>
        <p:txBody>
          <a:bodyPr lIns="0" tIns="0" rIns="0" bIns="0" rtlCol="0" anchor="t">
            <a:spAutoFit/>
          </a:bodyPr>
          <a:lstStyle/>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A) 200</a:t>
            </a:r>
          </a:p>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B) 201</a:t>
            </a:r>
          </a:p>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C) 204</a:t>
            </a:r>
          </a:p>
          <a:p>
            <a:pPr marL="690879" lvl="1" indent="-345439" algn="just">
              <a:lnSpc>
                <a:spcPts val="6399"/>
              </a:lnSpc>
              <a:spcBef>
                <a:spcPct val="0"/>
              </a:spcBef>
              <a:buFont typeface="Arial"/>
              <a:buChar char="•"/>
            </a:pPr>
            <a:r>
              <a:rPr lang="en-US" sz="3199">
                <a:solidFill>
                  <a:srgbClr val="000000"/>
                </a:solidFill>
                <a:latin typeface="Montserrat"/>
                <a:ea typeface="Montserrat"/>
                <a:cs typeface="Montserrat"/>
                <a:sym typeface="Montserrat"/>
              </a:rPr>
              <a:t>D) 400</a:t>
            </a:r>
          </a:p>
        </p:txBody>
      </p:sp>
      <p:grpSp>
        <p:nvGrpSpPr>
          <p:cNvPr id="4" name="Group 4"/>
          <p:cNvGrpSpPr/>
          <p:nvPr/>
        </p:nvGrpSpPr>
        <p:grpSpPr>
          <a:xfrm>
            <a:off x="1103286" y="1028700"/>
            <a:ext cx="1175279" cy="963167"/>
            <a:chOff x="0" y="0"/>
            <a:chExt cx="1109350" cy="909137"/>
          </a:xfrm>
        </p:grpSpPr>
        <p:sp>
          <p:nvSpPr>
            <p:cNvPr id="5" name="Freeform 5"/>
            <p:cNvSpPr/>
            <p:nvPr/>
          </p:nvSpPr>
          <p:spPr>
            <a:xfrm>
              <a:off x="0" y="0"/>
              <a:ext cx="1109350" cy="909137"/>
            </a:xfrm>
            <a:custGeom>
              <a:avLst/>
              <a:gdLst/>
              <a:ahLst/>
              <a:cxnLst/>
              <a:rect l="l" t="t" r="r" b="b"/>
              <a:pathLst>
                <a:path w="1109350" h="909137">
                  <a:moveTo>
                    <a:pt x="554675" y="0"/>
                  </a:moveTo>
                  <a:cubicBezTo>
                    <a:pt x="248337" y="0"/>
                    <a:pt x="0" y="203517"/>
                    <a:pt x="0" y="454569"/>
                  </a:cubicBezTo>
                  <a:cubicBezTo>
                    <a:pt x="0" y="705620"/>
                    <a:pt x="248337" y="909137"/>
                    <a:pt x="554675" y="909137"/>
                  </a:cubicBezTo>
                  <a:cubicBezTo>
                    <a:pt x="861014" y="909137"/>
                    <a:pt x="1109350" y="705620"/>
                    <a:pt x="1109350" y="454569"/>
                  </a:cubicBezTo>
                  <a:cubicBezTo>
                    <a:pt x="1109350" y="203517"/>
                    <a:pt x="861014" y="0"/>
                    <a:pt x="554675" y="0"/>
                  </a:cubicBezTo>
                  <a:close/>
                </a:path>
              </a:pathLst>
            </a:custGeom>
            <a:solidFill>
              <a:srgbClr val="000000">
                <a:alpha val="0"/>
              </a:srgbClr>
            </a:solidFill>
            <a:ln w="57150" cap="sq">
              <a:solidFill>
                <a:srgbClr val="856EE0"/>
              </a:solidFill>
              <a:prstDash val="solid"/>
              <a:miter/>
            </a:ln>
          </p:spPr>
        </p:sp>
        <p:sp>
          <p:nvSpPr>
            <p:cNvPr id="6" name="TextBox 6"/>
            <p:cNvSpPr txBox="1"/>
            <p:nvPr/>
          </p:nvSpPr>
          <p:spPr>
            <a:xfrm>
              <a:off x="104002" y="37607"/>
              <a:ext cx="901347" cy="786299"/>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4</a:t>
              </a:r>
            </a:p>
          </p:txBody>
        </p:sp>
      </p:grpSp>
      <p:sp>
        <p:nvSpPr>
          <p:cNvPr id="7" name="TextBox 7"/>
          <p:cNvSpPr txBox="1"/>
          <p:nvPr/>
        </p:nvSpPr>
        <p:spPr>
          <a:xfrm>
            <a:off x="2566265" y="1226439"/>
            <a:ext cx="14222849" cy="1767840"/>
          </a:xfrm>
          <a:prstGeom prst="rect">
            <a:avLst/>
          </a:prstGeom>
        </p:spPr>
        <p:txBody>
          <a:bodyPr lIns="0" tIns="0" rIns="0" bIns="0" rtlCol="0" anchor="t">
            <a:spAutoFit/>
          </a:bodyPr>
          <a:lstStyle/>
          <a:p>
            <a:pPr algn="just">
              <a:lnSpc>
                <a:spcPts val="4679"/>
              </a:lnSpc>
            </a:pPr>
            <a:r>
              <a:rPr lang="en-US" sz="3999" b="1">
                <a:solidFill>
                  <a:srgbClr val="856EE0"/>
                </a:solidFill>
                <a:latin typeface="Montserrat Bold"/>
                <a:ea typeface="Montserrat Bold"/>
                <a:cs typeface="Montserrat Bold"/>
                <a:sym typeface="Montserrat Bold"/>
              </a:rPr>
              <a:t>Which HTTP status code indicates a successful request that has resulted in a new resource being created?</a:t>
            </a:r>
          </a:p>
        </p:txBody>
      </p:sp>
      <p:sp>
        <p:nvSpPr>
          <p:cNvPr id="8" name="Freeform 8"/>
          <p:cNvSpPr/>
          <p:nvPr/>
        </p:nvSpPr>
        <p:spPr>
          <a:xfrm>
            <a:off x="4812956" y="3880844"/>
            <a:ext cx="831835" cy="757726"/>
          </a:xfrm>
          <a:custGeom>
            <a:avLst/>
            <a:gdLst/>
            <a:ahLst/>
            <a:cxnLst/>
            <a:rect l="l" t="t" r="r" b="b"/>
            <a:pathLst>
              <a:path w="831835" h="757726">
                <a:moveTo>
                  <a:pt x="0" y="0"/>
                </a:moveTo>
                <a:lnTo>
                  <a:pt x="831835" y="0"/>
                </a:lnTo>
                <a:lnTo>
                  <a:pt x="831835" y="757726"/>
                </a:lnTo>
                <a:lnTo>
                  <a:pt x="0" y="75772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9" name="Group 9"/>
          <p:cNvGrpSpPr/>
          <p:nvPr/>
        </p:nvGrpSpPr>
        <p:grpSpPr>
          <a:xfrm>
            <a:off x="17149862" y="9258300"/>
            <a:ext cx="861105" cy="861105"/>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64</a:t>
              </a:r>
            </a:p>
          </p:txBody>
        </p:sp>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3171473" y="-3929123"/>
            <a:ext cx="8400347" cy="8400347"/>
          </a:xfrm>
          <a:custGeom>
            <a:avLst/>
            <a:gdLst/>
            <a:ahLst/>
            <a:cxnLst/>
            <a:rect l="l" t="t" r="r" b="b"/>
            <a:pathLst>
              <a:path w="8400347" h="8400347">
                <a:moveTo>
                  <a:pt x="0" y="0"/>
                </a:moveTo>
                <a:lnTo>
                  <a:pt x="8400346" y="0"/>
                </a:lnTo>
                <a:lnTo>
                  <a:pt x="8400346" y="8400347"/>
                </a:lnTo>
                <a:lnTo>
                  <a:pt x="0" y="840034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2566265" y="3085646"/>
            <a:ext cx="10435096" cy="3151506"/>
          </a:xfrm>
          <a:prstGeom prst="rect">
            <a:avLst/>
          </a:prstGeom>
        </p:spPr>
        <p:txBody>
          <a:bodyPr lIns="0" tIns="0" rIns="0" bIns="0" rtlCol="0" anchor="t">
            <a:spAutoFit/>
          </a:bodyPr>
          <a:lstStyle/>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A) Unauthorized access</a:t>
            </a:r>
          </a:p>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B) Resource not found</a:t>
            </a:r>
          </a:p>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C) Server error</a:t>
            </a:r>
          </a:p>
          <a:p>
            <a:pPr marL="690879" lvl="1" indent="-345439" algn="just">
              <a:lnSpc>
                <a:spcPts val="6399"/>
              </a:lnSpc>
              <a:spcBef>
                <a:spcPct val="0"/>
              </a:spcBef>
              <a:buFont typeface="Arial"/>
              <a:buChar char="•"/>
            </a:pPr>
            <a:r>
              <a:rPr lang="en-US" sz="3199">
                <a:solidFill>
                  <a:srgbClr val="000000"/>
                </a:solidFill>
                <a:latin typeface="Montserrat"/>
                <a:ea typeface="Montserrat"/>
                <a:cs typeface="Montserrat"/>
                <a:sym typeface="Montserrat"/>
              </a:rPr>
              <a:t>D) Forbidden access</a:t>
            </a:r>
          </a:p>
        </p:txBody>
      </p:sp>
      <p:grpSp>
        <p:nvGrpSpPr>
          <p:cNvPr id="4" name="Group 4"/>
          <p:cNvGrpSpPr/>
          <p:nvPr/>
        </p:nvGrpSpPr>
        <p:grpSpPr>
          <a:xfrm>
            <a:off x="1103286" y="1028700"/>
            <a:ext cx="1175279" cy="963167"/>
            <a:chOff x="0" y="0"/>
            <a:chExt cx="1109350" cy="909137"/>
          </a:xfrm>
        </p:grpSpPr>
        <p:sp>
          <p:nvSpPr>
            <p:cNvPr id="5" name="Freeform 5"/>
            <p:cNvSpPr/>
            <p:nvPr/>
          </p:nvSpPr>
          <p:spPr>
            <a:xfrm>
              <a:off x="0" y="0"/>
              <a:ext cx="1109350" cy="909137"/>
            </a:xfrm>
            <a:custGeom>
              <a:avLst/>
              <a:gdLst/>
              <a:ahLst/>
              <a:cxnLst/>
              <a:rect l="l" t="t" r="r" b="b"/>
              <a:pathLst>
                <a:path w="1109350" h="909137">
                  <a:moveTo>
                    <a:pt x="554675" y="0"/>
                  </a:moveTo>
                  <a:cubicBezTo>
                    <a:pt x="248337" y="0"/>
                    <a:pt x="0" y="203517"/>
                    <a:pt x="0" y="454569"/>
                  </a:cubicBezTo>
                  <a:cubicBezTo>
                    <a:pt x="0" y="705620"/>
                    <a:pt x="248337" y="909137"/>
                    <a:pt x="554675" y="909137"/>
                  </a:cubicBezTo>
                  <a:cubicBezTo>
                    <a:pt x="861014" y="909137"/>
                    <a:pt x="1109350" y="705620"/>
                    <a:pt x="1109350" y="454569"/>
                  </a:cubicBezTo>
                  <a:cubicBezTo>
                    <a:pt x="1109350" y="203517"/>
                    <a:pt x="861014" y="0"/>
                    <a:pt x="554675" y="0"/>
                  </a:cubicBezTo>
                  <a:close/>
                </a:path>
              </a:pathLst>
            </a:custGeom>
            <a:solidFill>
              <a:srgbClr val="000000">
                <a:alpha val="0"/>
              </a:srgbClr>
            </a:solidFill>
            <a:ln w="57150" cap="sq">
              <a:solidFill>
                <a:srgbClr val="856EE0"/>
              </a:solidFill>
              <a:prstDash val="solid"/>
              <a:miter/>
            </a:ln>
          </p:spPr>
        </p:sp>
        <p:sp>
          <p:nvSpPr>
            <p:cNvPr id="6" name="TextBox 6"/>
            <p:cNvSpPr txBox="1"/>
            <p:nvPr/>
          </p:nvSpPr>
          <p:spPr>
            <a:xfrm>
              <a:off x="104002" y="37607"/>
              <a:ext cx="901347" cy="786299"/>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5</a:t>
              </a:r>
            </a:p>
          </p:txBody>
        </p:sp>
      </p:grpSp>
      <p:sp>
        <p:nvSpPr>
          <p:cNvPr id="7" name="TextBox 7"/>
          <p:cNvSpPr txBox="1"/>
          <p:nvPr/>
        </p:nvSpPr>
        <p:spPr>
          <a:xfrm>
            <a:off x="2566265" y="1226439"/>
            <a:ext cx="14222849" cy="1177290"/>
          </a:xfrm>
          <a:prstGeom prst="rect">
            <a:avLst/>
          </a:prstGeom>
        </p:spPr>
        <p:txBody>
          <a:bodyPr lIns="0" tIns="0" rIns="0" bIns="0" rtlCol="0" anchor="t">
            <a:spAutoFit/>
          </a:bodyPr>
          <a:lstStyle/>
          <a:p>
            <a:pPr algn="just">
              <a:lnSpc>
                <a:spcPts val="4679"/>
              </a:lnSpc>
            </a:pPr>
            <a:r>
              <a:rPr lang="en-US" sz="3999" b="1">
                <a:solidFill>
                  <a:srgbClr val="856EE0"/>
                </a:solidFill>
                <a:latin typeface="Montserrat Bold"/>
                <a:ea typeface="Montserrat Bold"/>
                <a:cs typeface="Montserrat Bold"/>
                <a:sym typeface="Montserrat Bold"/>
              </a:rPr>
              <a:t>What does the HTTP status code 404 represent?</a:t>
            </a:r>
          </a:p>
          <a:p>
            <a:pPr algn="just">
              <a:lnSpc>
                <a:spcPts val="4679"/>
              </a:lnSpc>
            </a:pPr>
            <a:endParaRPr lang="en-US" sz="3999" b="1">
              <a:solidFill>
                <a:srgbClr val="856EE0"/>
              </a:solidFill>
              <a:latin typeface="Montserrat Bold"/>
              <a:ea typeface="Montserrat Bold"/>
              <a:cs typeface="Montserrat Bold"/>
              <a:sym typeface="Montserrat Bold"/>
            </a:endParaRPr>
          </a:p>
        </p:txBody>
      </p:sp>
      <p:sp>
        <p:nvSpPr>
          <p:cNvPr id="8" name="Freeform 8"/>
          <p:cNvSpPr/>
          <p:nvPr/>
        </p:nvSpPr>
        <p:spPr>
          <a:xfrm>
            <a:off x="8312165" y="4022735"/>
            <a:ext cx="831835" cy="757726"/>
          </a:xfrm>
          <a:custGeom>
            <a:avLst/>
            <a:gdLst/>
            <a:ahLst/>
            <a:cxnLst/>
            <a:rect l="l" t="t" r="r" b="b"/>
            <a:pathLst>
              <a:path w="831835" h="757726">
                <a:moveTo>
                  <a:pt x="0" y="0"/>
                </a:moveTo>
                <a:lnTo>
                  <a:pt x="831835" y="0"/>
                </a:lnTo>
                <a:lnTo>
                  <a:pt x="831835" y="757726"/>
                </a:lnTo>
                <a:lnTo>
                  <a:pt x="0" y="75772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9" name="Group 9"/>
          <p:cNvGrpSpPr/>
          <p:nvPr/>
        </p:nvGrpSpPr>
        <p:grpSpPr>
          <a:xfrm>
            <a:off x="17149862" y="9258300"/>
            <a:ext cx="861105" cy="861105"/>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65</a:t>
              </a:r>
            </a:p>
          </p:txBody>
        </p:sp>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3171473" y="-3929123"/>
            <a:ext cx="8400347" cy="8400347"/>
          </a:xfrm>
          <a:custGeom>
            <a:avLst/>
            <a:gdLst/>
            <a:ahLst/>
            <a:cxnLst/>
            <a:rect l="l" t="t" r="r" b="b"/>
            <a:pathLst>
              <a:path w="8400347" h="8400347">
                <a:moveTo>
                  <a:pt x="0" y="0"/>
                </a:moveTo>
                <a:lnTo>
                  <a:pt x="8400346" y="0"/>
                </a:lnTo>
                <a:lnTo>
                  <a:pt x="8400346" y="8400347"/>
                </a:lnTo>
                <a:lnTo>
                  <a:pt x="0" y="840034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2566265" y="3085646"/>
            <a:ext cx="10435096" cy="3151506"/>
          </a:xfrm>
          <a:prstGeom prst="rect">
            <a:avLst/>
          </a:prstGeom>
        </p:spPr>
        <p:txBody>
          <a:bodyPr lIns="0" tIns="0" rIns="0" bIns="0" rtlCol="0" anchor="t">
            <a:spAutoFit/>
          </a:bodyPr>
          <a:lstStyle/>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A) 200</a:t>
            </a:r>
          </a:p>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B) 201</a:t>
            </a:r>
          </a:p>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C) 204</a:t>
            </a:r>
          </a:p>
          <a:p>
            <a:pPr marL="690879" lvl="1" indent="-345439" algn="just">
              <a:lnSpc>
                <a:spcPts val="6399"/>
              </a:lnSpc>
              <a:spcBef>
                <a:spcPct val="0"/>
              </a:spcBef>
              <a:buFont typeface="Arial"/>
              <a:buChar char="•"/>
            </a:pPr>
            <a:r>
              <a:rPr lang="en-US" sz="3199">
                <a:solidFill>
                  <a:srgbClr val="000000"/>
                </a:solidFill>
                <a:latin typeface="Montserrat"/>
                <a:ea typeface="Montserrat"/>
                <a:cs typeface="Montserrat"/>
                <a:sym typeface="Montserrat"/>
              </a:rPr>
              <a:t>D) 500</a:t>
            </a:r>
          </a:p>
        </p:txBody>
      </p:sp>
      <p:grpSp>
        <p:nvGrpSpPr>
          <p:cNvPr id="4" name="Group 4"/>
          <p:cNvGrpSpPr/>
          <p:nvPr/>
        </p:nvGrpSpPr>
        <p:grpSpPr>
          <a:xfrm>
            <a:off x="1103286" y="1028700"/>
            <a:ext cx="1175279" cy="963167"/>
            <a:chOff x="0" y="0"/>
            <a:chExt cx="1109350" cy="909137"/>
          </a:xfrm>
        </p:grpSpPr>
        <p:sp>
          <p:nvSpPr>
            <p:cNvPr id="5" name="Freeform 5"/>
            <p:cNvSpPr/>
            <p:nvPr/>
          </p:nvSpPr>
          <p:spPr>
            <a:xfrm>
              <a:off x="0" y="0"/>
              <a:ext cx="1109350" cy="909137"/>
            </a:xfrm>
            <a:custGeom>
              <a:avLst/>
              <a:gdLst/>
              <a:ahLst/>
              <a:cxnLst/>
              <a:rect l="l" t="t" r="r" b="b"/>
              <a:pathLst>
                <a:path w="1109350" h="909137">
                  <a:moveTo>
                    <a:pt x="554675" y="0"/>
                  </a:moveTo>
                  <a:cubicBezTo>
                    <a:pt x="248337" y="0"/>
                    <a:pt x="0" y="203517"/>
                    <a:pt x="0" y="454569"/>
                  </a:cubicBezTo>
                  <a:cubicBezTo>
                    <a:pt x="0" y="705620"/>
                    <a:pt x="248337" y="909137"/>
                    <a:pt x="554675" y="909137"/>
                  </a:cubicBezTo>
                  <a:cubicBezTo>
                    <a:pt x="861014" y="909137"/>
                    <a:pt x="1109350" y="705620"/>
                    <a:pt x="1109350" y="454569"/>
                  </a:cubicBezTo>
                  <a:cubicBezTo>
                    <a:pt x="1109350" y="203517"/>
                    <a:pt x="861014" y="0"/>
                    <a:pt x="554675" y="0"/>
                  </a:cubicBezTo>
                  <a:close/>
                </a:path>
              </a:pathLst>
            </a:custGeom>
            <a:solidFill>
              <a:srgbClr val="000000">
                <a:alpha val="0"/>
              </a:srgbClr>
            </a:solidFill>
            <a:ln w="57150" cap="sq">
              <a:solidFill>
                <a:srgbClr val="856EE0"/>
              </a:solidFill>
              <a:prstDash val="solid"/>
              <a:miter/>
            </a:ln>
          </p:spPr>
        </p:sp>
        <p:sp>
          <p:nvSpPr>
            <p:cNvPr id="6" name="TextBox 6"/>
            <p:cNvSpPr txBox="1"/>
            <p:nvPr/>
          </p:nvSpPr>
          <p:spPr>
            <a:xfrm>
              <a:off x="104002" y="37607"/>
              <a:ext cx="901347" cy="786299"/>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6</a:t>
              </a:r>
            </a:p>
          </p:txBody>
        </p:sp>
      </p:grpSp>
      <p:sp>
        <p:nvSpPr>
          <p:cNvPr id="7" name="TextBox 7"/>
          <p:cNvSpPr txBox="1"/>
          <p:nvPr/>
        </p:nvSpPr>
        <p:spPr>
          <a:xfrm>
            <a:off x="2566265" y="1226439"/>
            <a:ext cx="14222849" cy="1767840"/>
          </a:xfrm>
          <a:prstGeom prst="rect">
            <a:avLst/>
          </a:prstGeom>
        </p:spPr>
        <p:txBody>
          <a:bodyPr lIns="0" tIns="0" rIns="0" bIns="0" rtlCol="0" anchor="t">
            <a:spAutoFit/>
          </a:bodyPr>
          <a:lstStyle/>
          <a:p>
            <a:pPr algn="just">
              <a:lnSpc>
                <a:spcPts val="4679"/>
              </a:lnSpc>
            </a:pPr>
            <a:r>
              <a:rPr lang="en-US" sz="3999" b="1">
                <a:solidFill>
                  <a:srgbClr val="856EE0"/>
                </a:solidFill>
                <a:latin typeface="Montserrat Bold"/>
                <a:ea typeface="Montserrat Bold"/>
                <a:cs typeface="Montserrat Bold"/>
                <a:sym typeface="Montserrat Bold"/>
              </a:rPr>
              <a:t>Which HTTP status code means "No Content," indicating the request was successful but there is no body to return?</a:t>
            </a:r>
          </a:p>
        </p:txBody>
      </p:sp>
      <p:sp>
        <p:nvSpPr>
          <p:cNvPr id="8" name="Freeform 8"/>
          <p:cNvSpPr/>
          <p:nvPr/>
        </p:nvSpPr>
        <p:spPr>
          <a:xfrm>
            <a:off x="5228873" y="4764637"/>
            <a:ext cx="831835" cy="757726"/>
          </a:xfrm>
          <a:custGeom>
            <a:avLst/>
            <a:gdLst/>
            <a:ahLst/>
            <a:cxnLst/>
            <a:rect l="l" t="t" r="r" b="b"/>
            <a:pathLst>
              <a:path w="831835" h="757726">
                <a:moveTo>
                  <a:pt x="0" y="0"/>
                </a:moveTo>
                <a:lnTo>
                  <a:pt x="831835" y="0"/>
                </a:lnTo>
                <a:lnTo>
                  <a:pt x="831835" y="757726"/>
                </a:lnTo>
                <a:lnTo>
                  <a:pt x="0" y="75772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9" name="Group 9"/>
          <p:cNvGrpSpPr/>
          <p:nvPr/>
        </p:nvGrpSpPr>
        <p:grpSpPr>
          <a:xfrm>
            <a:off x="17149862" y="9258300"/>
            <a:ext cx="861105" cy="861105"/>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66</a:t>
              </a:r>
            </a:p>
          </p:txBody>
        </p:sp>
      </p:gr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3171473" y="-3929123"/>
            <a:ext cx="8400347" cy="8400347"/>
          </a:xfrm>
          <a:custGeom>
            <a:avLst/>
            <a:gdLst/>
            <a:ahLst/>
            <a:cxnLst/>
            <a:rect l="l" t="t" r="r" b="b"/>
            <a:pathLst>
              <a:path w="8400347" h="8400347">
                <a:moveTo>
                  <a:pt x="0" y="0"/>
                </a:moveTo>
                <a:lnTo>
                  <a:pt x="8400346" y="0"/>
                </a:lnTo>
                <a:lnTo>
                  <a:pt x="8400346" y="8400347"/>
                </a:lnTo>
                <a:lnTo>
                  <a:pt x="0" y="840034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2566265" y="3085646"/>
            <a:ext cx="10435096" cy="3151506"/>
          </a:xfrm>
          <a:prstGeom prst="rect">
            <a:avLst/>
          </a:prstGeom>
        </p:spPr>
        <p:txBody>
          <a:bodyPr lIns="0" tIns="0" rIns="0" bIns="0" rtlCol="0" anchor="t">
            <a:spAutoFit/>
          </a:bodyPr>
          <a:lstStyle/>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A) Only XML</a:t>
            </a:r>
          </a:p>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B) Only JSON</a:t>
            </a:r>
          </a:p>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C) JSON and XML (among others)</a:t>
            </a:r>
          </a:p>
          <a:p>
            <a:pPr marL="690879" lvl="1" indent="-345439" algn="just">
              <a:lnSpc>
                <a:spcPts val="6399"/>
              </a:lnSpc>
              <a:spcBef>
                <a:spcPct val="0"/>
              </a:spcBef>
              <a:buFont typeface="Arial"/>
              <a:buChar char="•"/>
            </a:pPr>
            <a:r>
              <a:rPr lang="en-US" sz="3199">
                <a:solidFill>
                  <a:srgbClr val="000000"/>
                </a:solidFill>
                <a:latin typeface="Montserrat"/>
                <a:ea typeface="Montserrat"/>
                <a:cs typeface="Montserrat"/>
                <a:sym typeface="Montserrat"/>
              </a:rPr>
              <a:t>D) Only YAML</a:t>
            </a:r>
          </a:p>
        </p:txBody>
      </p:sp>
      <p:grpSp>
        <p:nvGrpSpPr>
          <p:cNvPr id="4" name="Group 4"/>
          <p:cNvGrpSpPr/>
          <p:nvPr/>
        </p:nvGrpSpPr>
        <p:grpSpPr>
          <a:xfrm>
            <a:off x="1103286" y="1028700"/>
            <a:ext cx="1175279" cy="963167"/>
            <a:chOff x="0" y="0"/>
            <a:chExt cx="1109350" cy="909137"/>
          </a:xfrm>
        </p:grpSpPr>
        <p:sp>
          <p:nvSpPr>
            <p:cNvPr id="5" name="Freeform 5"/>
            <p:cNvSpPr/>
            <p:nvPr/>
          </p:nvSpPr>
          <p:spPr>
            <a:xfrm>
              <a:off x="0" y="0"/>
              <a:ext cx="1109350" cy="909137"/>
            </a:xfrm>
            <a:custGeom>
              <a:avLst/>
              <a:gdLst/>
              <a:ahLst/>
              <a:cxnLst/>
              <a:rect l="l" t="t" r="r" b="b"/>
              <a:pathLst>
                <a:path w="1109350" h="909137">
                  <a:moveTo>
                    <a:pt x="554675" y="0"/>
                  </a:moveTo>
                  <a:cubicBezTo>
                    <a:pt x="248337" y="0"/>
                    <a:pt x="0" y="203517"/>
                    <a:pt x="0" y="454569"/>
                  </a:cubicBezTo>
                  <a:cubicBezTo>
                    <a:pt x="0" y="705620"/>
                    <a:pt x="248337" y="909137"/>
                    <a:pt x="554675" y="909137"/>
                  </a:cubicBezTo>
                  <a:cubicBezTo>
                    <a:pt x="861014" y="909137"/>
                    <a:pt x="1109350" y="705620"/>
                    <a:pt x="1109350" y="454569"/>
                  </a:cubicBezTo>
                  <a:cubicBezTo>
                    <a:pt x="1109350" y="203517"/>
                    <a:pt x="861014" y="0"/>
                    <a:pt x="554675" y="0"/>
                  </a:cubicBezTo>
                  <a:close/>
                </a:path>
              </a:pathLst>
            </a:custGeom>
            <a:solidFill>
              <a:srgbClr val="000000">
                <a:alpha val="0"/>
              </a:srgbClr>
            </a:solidFill>
            <a:ln w="57150" cap="sq">
              <a:solidFill>
                <a:srgbClr val="856EE0"/>
              </a:solidFill>
              <a:prstDash val="solid"/>
              <a:miter/>
            </a:ln>
          </p:spPr>
        </p:sp>
        <p:sp>
          <p:nvSpPr>
            <p:cNvPr id="6" name="TextBox 6"/>
            <p:cNvSpPr txBox="1"/>
            <p:nvPr/>
          </p:nvSpPr>
          <p:spPr>
            <a:xfrm>
              <a:off x="104002" y="37607"/>
              <a:ext cx="901347" cy="786299"/>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7</a:t>
              </a:r>
            </a:p>
          </p:txBody>
        </p:sp>
      </p:grpSp>
      <p:sp>
        <p:nvSpPr>
          <p:cNvPr id="7" name="TextBox 7"/>
          <p:cNvSpPr txBox="1"/>
          <p:nvPr/>
        </p:nvSpPr>
        <p:spPr>
          <a:xfrm>
            <a:off x="2566265" y="1226439"/>
            <a:ext cx="14222849" cy="1177290"/>
          </a:xfrm>
          <a:prstGeom prst="rect">
            <a:avLst/>
          </a:prstGeom>
        </p:spPr>
        <p:txBody>
          <a:bodyPr lIns="0" tIns="0" rIns="0" bIns="0" rtlCol="0" anchor="t">
            <a:spAutoFit/>
          </a:bodyPr>
          <a:lstStyle/>
          <a:p>
            <a:pPr algn="just">
              <a:lnSpc>
                <a:spcPts val="4679"/>
              </a:lnSpc>
            </a:pPr>
            <a:r>
              <a:rPr lang="en-US" sz="3999" b="1">
                <a:solidFill>
                  <a:srgbClr val="856EE0"/>
                </a:solidFill>
                <a:latin typeface="Montserrat Bold"/>
                <a:ea typeface="Montserrat Bold"/>
                <a:cs typeface="Montserrat Bold"/>
                <a:sym typeface="Montserrat Bold"/>
              </a:rPr>
              <a:t>Which of the following best describes the data format used in REST APIs?</a:t>
            </a:r>
          </a:p>
        </p:txBody>
      </p:sp>
      <p:sp>
        <p:nvSpPr>
          <p:cNvPr id="8" name="Freeform 8"/>
          <p:cNvSpPr/>
          <p:nvPr/>
        </p:nvSpPr>
        <p:spPr>
          <a:xfrm>
            <a:off x="10526144" y="4764637"/>
            <a:ext cx="831835" cy="757726"/>
          </a:xfrm>
          <a:custGeom>
            <a:avLst/>
            <a:gdLst/>
            <a:ahLst/>
            <a:cxnLst/>
            <a:rect l="l" t="t" r="r" b="b"/>
            <a:pathLst>
              <a:path w="831835" h="757726">
                <a:moveTo>
                  <a:pt x="0" y="0"/>
                </a:moveTo>
                <a:lnTo>
                  <a:pt x="831835" y="0"/>
                </a:lnTo>
                <a:lnTo>
                  <a:pt x="831835" y="757726"/>
                </a:lnTo>
                <a:lnTo>
                  <a:pt x="0" y="75772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9" name="Group 9"/>
          <p:cNvGrpSpPr/>
          <p:nvPr/>
        </p:nvGrpSpPr>
        <p:grpSpPr>
          <a:xfrm>
            <a:off x="17149862" y="9258300"/>
            <a:ext cx="861105" cy="861105"/>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67</a:t>
              </a:r>
            </a:p>
          </p:txBody>
        </p:sp>
      </p:gr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3171473" y="-3929123"/>
            <a:ext cx="8400347" cy="8400347"/>
          </a:xfrm>
          <a:custGeom>
            <a:avLst/>
            <a:gdLst/>
            <a:ahLst/>
            <a:cxnLst/>
            <a:rect l="l" t="t" r="r" b="b"/>
            <a:pathLst>
              <a:path w="8400347" h="8400347">
                <a:moveTo>
                  <a:pt x="0" y="0"/>
                </a:moveTo>
                <a:lnTo>
                  <a:pt x="8400346" y="0"/>
                </a:lnTo>
                <a:lnTo>
                  <a:pt x="8400346" y="8400347"/>
                </a:lnTo>
                <a:lnTo>
                  <a:pt x="0" y="840034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2566265" y="3085646"/>
            <a:ext cx="10435096" cy="3151506"/>
          </a:xfrm>
          <a:prstGeom prst="rect">
            <a:avLst/>
          </a:prstGeom>
        </p:spPr>
        <p:txBody>
          <a:bodyPr lIns="0" tIns="0" rIns="0" bIns="0" rtlCol="0" anchor="t">
            <a:spAutoFit/>
          </a:bodyPr>
          <a:lstStyle/>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A) Only HTTP</a:t>
            </a:r>
          </a:p>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B) HTTP and SMTP</a:t>
            </a:r>
          </a:p>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C) SMTP only</a:t>
            </a:r>
          </a:p>
          <a:p>
            <a:pPr marL="690879" lvl="1" indent="-345439" algn="just">
              <a:lnSpc>
                <a:spcPts val="6399"/>
              </a:lnSpc>
              <a:spcBef>
                <a:spcPct val="0"/>
              </a:spcBef>
              <a:buFont typeface="Arial"/>
              <a:buChar char="•"/>
            </a:pPr>
            <a:r>
              <a:rPr lang="en-US" sz="3199">
                <a:solidFill>
                  <a:srgbClr val="000000"/>
                </a:solidFill>
                <a:latin typeface="Montserrat"/>
                <a:ea typeface="Montserrat"/>
                <a:cs typeface="Montserrat"/>
                <a:sym typeface="Montserrat"/>
              </a:rPr>
              <a:t>D) Only HTTPS</a:t>
            </a:r>
          </a:p>
        </p:txBody>
      </p:sp>
      <p:grpSp>
        <p:nvGrpSpPr>
          <p:cNvPr id="4" name="Group 4"/>
          <p:cNvGrpSpPr/>
          <p:nvPr/>
        </p:nvGrpSpPr>
        <p:grpSpPr>
          <a:xfrm>
            <a:off x="1103286" y="1028700"/>
            <a:ext cx="1175279" cy="963167"/>
            <a:chOff x="0" y="0"/>
            <a:chExt cx="1109350" cy="909137"/>
          </a:xfrm>
        </p:grpSpPr>
        <p:sp>
          <p:nvSpPr>
            <p:cNvPr id="5" name="Freeform 5"/>
            <p:cNvSpPr/>
            <p:nvPr/>
          </p:nvSpPr>
          <p:spPr>
            <a:xfrm>
              <a:off x="0" y="0"/>
              <a:ext cx="1109350" cy="909137"/>
            </a:xfrm>
            <a:custGeom>
              <a:avLst/>
              <a:gdLst/>
              <a:ahLst/>
              <a:cxnLst/>
              <a:rect l="l" t="t" r="r" b="b"/>
              <a:pathLst>
                <a:path w="1109350" h="909137">
                  <a:moveTo>
                    <a:pt x="554675" y="0"/>
                  </a:moveTo>
                  <a:cubicBezTo>
                    <a:pt x="248337" y="0"/>
                    <a:pt x="0" y="203517"/>
                    <a:pt x="0" y="454569"/>
                  </a:cubicBezTo>
                  <a:cubicBezTo>
                    <a:pt x="0" y="705620"/>
                    <a:pt x="248337" y="909137"/>
                    <a:pt x="554675" y="909137"/>
                  </a:cubicBezTo>
                  <a:cubicBezTo>
                    <a:pt x="861014" y="909137"/>
                    <a:pt x="1109350" y="705620"/>
                    <a:pt x="1109350" y="454569"/>
                  </a:cubicBezTo>
                  <a:cubicBezTo>
                    <a:pt x="1109350" y="203517"/>
                    <a:pt x="861014" y="0"/>
                    <a:pt x="554675" y="0"/>
                  </a:cubicBezTo>
                  <a:close/>
                </a:path>
              </a:pathLst>
            </a:custGeom>
            <a:solidFill>
              <a:srgbClr val="000000">
                <a:alpha val="0"/>
              </a:srgbClr>
            </a:solidFill>
            <a:ln w="57150" cap="sq">
              <a:solidFill>
                <a:srgbClr val="856EE0"/>
              </a:solidFill>
              <a:prstDash val="solid"/>
              <a:miter/>
            </a:ln>
          </p:spPr>
        </p:sp>
        <p:sp>
          <p:nvSpPr>
            <p:cNvPr id="6" name="TextBox 6"/>
            <p:cNvSpPr txBox="1"/>
            <p:nvPr/>
          </p:nvSpPr>
          <p:spPr>
            <a:xfrm>
              <a:off x="104002" y="37607"/>
              <a:ext cx="901347" cy="786299"/>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8</a:t>
              </a:r>
            </a:p>
          </p:txBody>
        </p:sp>
      </p:grpSp>
      <p:sp>
        <p:nvSpPr>
          <p:cNvPr id="7" name="TextBox 7"/>
          <p:cNvSpPr txBox="1"/>
          <p:nvPr/>
        </p:nvSpPr>
        <p:spPr>
          <a:xfrm>
            <a:off x="2566265" y="1226439"/>
            <a:ext cx="14222849" cy="1177290"/>
          </a:xfrm>
          <a:prstGeom prst="rect">
            <a:avLst/>
          </a:prstGeom>
        </p:spPr>
        <p:txBody>
          <a:bodyPr lIns="0" tIns="0" rIns="0" bIns="0" rtlCol="0" anchor="t">
            <a:spAutoFit/>
          </a:bodyPr>
          <a:lstStyle/>
          <a:p>
            <a:pPr algn="just">
              <a:lnSpc>
                <a:spcPts val="4679"/>
              </a:lnSpc>
            </a:pPr>
            <a:r>
              <a:rPr lang="en-US" sz="3999" b="1">
                <a:solidFill>
                  <a:srgbClr val="856EE0"/>
                </a:solidFill>
                <a:latin typeface="Montserrat Bold"/>
                <a:ea typeface="Montserrat Bold"/>
                <a:cs typeface="Montserrat Bold"/>
                <a:sym typeface="Montserrat Bold"/>
              </a:rPr>
              <a:t>Which protocol is used for SOAP services?</a:t>
            </a:r>
          </a:p>
          <a:p>
            <a:pPr algn="just">
              <a:lnSpc>
                <a:spcPts val="4679"/>
              </a:lnSpc>
            </a:pPr>
            <a:endParaRPr lang="en-US" sz="3999" b="1">
              <a:solidFill>
                <a:srgbClr val="856EE0"/>
              </a:solidFill>
              <a:latin typeface="Montserrat Bold"/>
              <a:ea typeface="Montserrat Bold"/>
              <a:cs typeface="Montserrat Bold"/>
              <a:sym typeface="Montserrat Bold"/>
            </a:endParaRPr>
          </a:p>
        </p:txBody>
      </p:sp>
      <p:sp>
        <p:nvSpPr>
          <p:cNvPr id="8" name="Freeform 8"/>
          <p:cNvSpPr/>
          <p:nvPr/>
        </p:nvSpPr>
        <p:spPr>
          <a:xfrm>
            <a:off x="7367896" y="3857195"/>
            <a:ext cx="831835" cy="757726"/>
          </a:xfrm>
          <a:custGeom>
            <a:avLst/>
            <a:gdLst/>
            <a:ahLst/>
            <a:cxnLst/>
            <a:rect l="l" t="t" r="r" b="b"/>
            <a:pathLst>
              <a:path w="831835" h="757726">
                <a:moveTo>
                  <a:pt x="0" y="0"/>
                </a:moveTo>
                <a:lnTo>
                  <a:pt x="831835" y="0"/>
                </a:lnTo>
                <a:lnTo>
                  <a:pt x="831835" y="757726"/>
                </a:lnTo>
                <a:lnTo>
                  <a:pt x="0" y="75772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9" name="Group 9"/>
          <p:cNvGrpSpPr/>
          <p:nvPr/>
        </p:nvGrpSpPr>
        <p:grpSpPr>
          <a:xfrm>
            <a:off x="17149862" y="9258300"/>
            <a:ext cx="861105" cy="861105"/>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68</a:t>
              </a:r>
            </a:p>
          </p:txBody>
        </p:sp>
      </p:gr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3171473" y="-3929123"/>
            <a:ext cx="8400347" cy="8400347"/>
          </a:xfrm>
          <a:custGeom>
            <a:avLst/>
            <a:gdLst/>
            <a:ahLst/>
            <a:cxnLst/>
            <a:rect l="l" t="t" r="r" b="b"/>
            <a:pathLst>
              <a:path w="8400347" h="8400347">
                <a:moveTo>
                  <a:pt x="0" y="0"/>
                </a:moveTo>
                <a:lnTo>
                  <a:pt x="8400346" y="0"/>
                </a:lnTo>
                <a:lnTo>
                  <a:pt x="8400346" y="8400347"/>
                </a:lnTo>
                <a:lnTo>
                  <a:pt x="0" y="840034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2566265" y="3085646"/>
            <a:ext cx="10435096" cy="3151506"/>
          </a:xfrm>
          <a:prstGeom prst="rect">
            <a:avLst/>
          </a:prstGeom>
        </p:spPr>
        <p:txBody>
          <a:bodyPr lIns="0" tIns="0" rIns="0" bIns="0" rtlCol="0" anchor="t">
            <a:spAutoFit/>
          </a:bodyPr>
          <a:lstStyle/>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A) REST is more secure</a:t>
            </a:r>
          </a:p>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B) REST is lighter and easier to scale</a:t>
            </a:r>
          </a:p>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C) SOAP is more scalable than REST</a:t>
            </a:r>
          </a:p>
          <a:p>
            <a:pPr marL="690879" lvl="1" indent="-345439" algn="just">
              <a:lnSpc>
                <a:spcPts val="6399"/>
              </a:lnSpc>
              <a:spcBef>
                <a:spcPct val="0"/>
              </a:spcBef>
              <a:buFont typeface="Arial"/>
              <a:buChar char="•"/>
            </a:pPr>
            <a:r>
              <a:rPr lang="en-US" sz="3199">
                <a:solidFill>
                  <a:srgbClr val="000000"/>
                </a:solidFill>
                <a:latin typeface="Montserrat"/>
                <a:ea typeface="Montserrat"/>
                <a:cs typeface="Montserrat"/>
                <a:sym typeface="Montserrat"/>
              </a:rPr>
              <a:t>D) REST only supports XML</a:t>
            </a:r>
          </a:p>
        </p:txBody>
      </p:sp>
      <p:grpSp>
        <p:nvGrpSpPr>
          <p:cNvPr id="4" name="Group 4"/>
          <p:cNvGrpSpPr/>
          <p:nvPr/>
        </p:nvGrpSpPr>
        <p:grpSpPr>
          <a:xfrm>
            <a:off x="1103286" y="1028700"/>
            <a:ext cx="1175279" cy="963167"/>
            <a:chOff x="0" y="0"/>
            <a:chExt cx="1109350" cy="909137"/>
          </a:xfrm>
        </p:grpSpPr>
        <p:sp>
          <p:nvSpPr>
            <p:cNvPr id="5" name="Freeform 5"/>
            <p:cNvSpPr/>
            <p:nvPr/>
          </p:nvSpPr>
          <p:spPr>
            <a:xfrm>
              <a:off x="0" y="0"/>
              <a:ext cx="1109350" cy="909137"/>
            </a:xfrm>
            <a:custGeom>
              <a:avLst/>
              <a:gdLst/>
              <a:ahLst/>
              <a:cxnLst/>
              <a:rect l="l" t="t" r="r" b="b"/>
              <a:pathLst>
                <a:path w="1109350" h="909137">
                  <a:moveTo>
                    <a:pt x="554675" y="0"/>
                  </a:moveTo>
                  <a:cubicBezTo>
                    <a:pt x="248337" y="0"/>
                    <a:pt x="0" y="203517"/>
                    <a:pt x="0" y="454569"/>
                  </a:cubicBezTo>
                  <a:cubicBezTo>
                    <a:pt x="0" y="705620"/>
                    <a:pt x="248337" y="909137"/>
                    <a:pt x="554675" y="909137"/>
                  </a:cubicBezTo>
                  <a:cubicBezTo>
                    <a:pt x="861014" y="909137"/>
                    <a:pt x="1109350" y="705620"/>
                    <a:pt x="1109350" y="454569"/>
                  </a:cubicBezTo>
                  <a:cubicBezTo>
                    <a:pt x="1109350" y="203517"/>
                    <a:pt x="861014" y="0"/>
                    <a:pt x="554675" y="0"/>
                  </a:cubicBezTo>
                  <a:close/>
                </a:path>
              </a:pathLst>
            </a:custGeom>
            <a:solidFill>
              <a:srgbClr val="000000">
                <a:alpha val="0"/>
              </a:srgbClr>
            </a:solidFill>
            <a:ln w="57150" cap="sq">
              <a:solidFill>
                <a:srgbClr val="856EE0"/>
              </a:solidFill>
              <a:prstDash val="solid"/>
              <a:miter/>
            </a:ln>
          </p:spPr>
        </p:sp>
        <p:sp>
          <p:nvSpPr>
            <p:cNvPr id="6" name="TextBox 6"/>
            <p:cNvSpPr txBox="1"/>
            <p:nvPr/>
          </p:nvSpPr>
          <p:spPr>
            <a:xfrm>
              <a:off x="104002" y="37607"/>
              <a:ext cx="901347" cy="786299"/>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9</a:t>
              </a:r>
            </a:p>
          </p:txBody>
        </p:sp>
      </p:grpSp>
      <p:sp>
        <p:nvSpPr>
          <p:cNvPr id="7" name="TextBox 7"/>
          <p:cNvSpPr txBox="1"/>
          <p:nvPr/>
        </p:nvSpPr>
        <p:spPr>
          <a:xfrm>
            <a:off x="2566265" y="1226439"/>
            <a:ext cx="14222849" cy="1177290"/>
          </a:xfrm>
          <a:prstGeom prst="rect">
            <a:avLst/>
          </a:prstGeom>
        </p:spPr>
        <p:txBody>
          <a:bodyPr lIns="0" tIns="0" rIns="0" bIns="0" rtlCol="0" anchor="t">
            <a:spAutoFit/>
          </a:bodyPr>
          <a:lstStyle/>
          <a:p>
            <a:pPr algn="just">
              <a:lnSpc>
                <a:spcPts val="4679"/>
              </a:lnSpc>
            </a:pPr>
            <a:r>
              <a:rPr lang="en-US" sz="3999" b="1">
                <a:solidFill>
                  <a:srgbClr val="856EE0"/>
                </a:solidFill>
                <a:latin typeface="Montserrat Bold"/>
                <a:ea typeface="Montserrat Bold"/>
                <a:cs typeface="Montserrat Bold"/>
                <a:sym typeface="Montserrat Bold"/>
              </a:rPr>
              <a:t>What is a primary advantage of REST over SOAP in web services?</a:t>
            </a:r>
          </a:p>
        </p:txBody>
      </p:sp>
      <p:sp>
        <p:nvSpPr>
          <p:cNvPr id="8" name="Freeform 8"/>
          <p:cNvSpPr/>
          <p:nvPr/>
        </p:nvSpPr>
        <p:spPr>
          <a:xfrm>
            <a:off x="11128012" y="3857195"/>
            <a:ext cx="831835" cy="757726"/>
          </a:xfrm>
          <a:custGeom>
            <a:avLst/>
            <a:gdLst/>
            <a:ahLst/>
            <a:cxnLst/>
            <a:rect l="l" t="t" r="r" b="b"/>
            <a:pathLst>
              <a:path w="831835" h="757726">
                <a:moveTo>
                  <a:pt x="0" y="0"/>
                </a:moveTo>
                <a:lnTo>
                  <a:pt x="831835" y="0"/>
                </a:lnTo>
                <a:lnTo>
                  <a:pt x="831835" y="757726"/>
                </a:lnTo>
                <a:lnTo>
                  <a:pt x="0" y="75772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9" name="Group 9"/>
          <p:cNvGrpSpPr/>
          <p:nvPr/>
        </p:nvGrpSpPr>
        <p:grpSpPr>
          <a:xfrm>
            <a:off x="17149862" y="9258300"/>
            <a:ext cx="861105" cy="861105"/>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69</a:t>
              </a:r>
            </a:p>
          </p:txBody>
        </p:sp>
      </p:gr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3171473" y="-3929123"/>
            <a:ext cx="8400347" cy="8400347"/>
          </a:xfrm>
          <a:custGeom>
            <a:avLst/>
            <a:gdLst/>
            <a:ahLst/>
            <a:cxnLst/>
            <a:rect l="l" t="t" r="r" b="b"/>
            <a:pathLst>
              <a:path w="8400347" h="8400347">
                <a:moveTo>
                  <a:pt x="0" y="0"/>
                </a:moveTo>
                <a:lnTo>
                  <a:pt x="8400346" y="0"/>
                </a:lnTo>
                <a:lnTo>
                  <a:pt x="8400346" y="8400347"/>
                </a:lnTo>
                <a:lnTo>
                  <a:pt x="0" y="840034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2566265" y="3085646"/>
            <a:ext cx="10435096" cy="3151506"/>
          </a:xfrm>
          <a:prstGeom prst="rect">
            <a:avLst/>
          </a:prstGeom>
        </p:spPr>
        <p:txBody>
          <a:bodyPr lIns="0" tIns="0" rIns="0" bIns="0" rtlCol="0" anchor="t">
            <a:spAutoFit/>
          </a:bodyPr>
          <a:lstStyle/>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A) SOAP can only use JSON</a:t>
            </a:r>
          </a:p>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B) SOAP provides built-in security features</a:t>
            </a:r>
          </a:p>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C) REST requires a WSDL file</a:t>
            </a:r>
          </a:p>
          <a:p>
            <a:pPr marL="690879" lvl="1" indent="-345439" algn="just">
              <a:lnSpc>
                <a:spcPts val="6399"/>
              </a:lnSpc>
              <a:spcBef>
                <a:spcPct val="0"/>
              </a:spcBef>
              <a:buFont typeface="Arial"/>
              <a:buChar char="•"/>
            </a:pPr>
            <a:r>
              <a:rPr lang="en-US" sz="3199">
                <a:solidFill>
                  <a:srgbClr val="000000"/>
                </a:solidFill>
                <a:latin typeface="Montserrat"/>
                <a:ea typeface="Montserrat"/>
                <a:cs typeface="Montserrat"/>
                <a:sym typeface="Montserrat"/>
              </a:rPr>
              <a:t>D) REST is always stateful</a:t>
            </a:r>
          </a:p>
        </p:txBody>
      </p:sp>
      <p:grpSp>
        <p:nvGrpSpPr>
          <p:cNvPr id="4" name="Group 4"/>
          <p:cNvGrpSpPr/>
          <p:nvPr/>
        </p:nvGrpSpPr>
        <p:grpSpPr>
          <a:xfrm>
            <a:off x="1103286" y="1028700"/>
            <a:ext cx="1175279" cy="963167"/>
            <a:chOff x="0" y="0"/>
            <a:chExt cx="1109350" cy="909137"/>
          </a:xfrm>
        </p:grpSpPr>
        <p:sp>
          <p:nvSpPr>
            <p:cNvPr id="5" name="Freeform 5"/>
            <p:cNvSpPr/>
            <p:nvPr/>
          </p:nvSpPr>
          <p:spPr>
            <a:xfrm>
              <a:off x="0" y="0"/>
              <a:ext cx="1109350" cy="909137"/>
            </a:xfrm>
            <a:custGeom>
              <a:avLst/>
              <a:gdLst/>
              <a:ahLst/>
              <a:cxnLst/>
              <a:rect l="l" t="t" r="r" b="b"/>
              <a:pathLst>
                <a:path w="1109350" h="909137">
                  <a:moveTo>
                    <a:pt x="554675" y="0"/>
                  </a:moveTo>
                  <a:cubicBezTo>
                    <a:pt x="248337" y="0"/>
                    <a:pt x="0" y="203517"/>
                    <a:pt x="0" y="454569"/>
                  </a:cubicBezTo>
                  <a:cubicBezTo>
                    <a:pt x="0" y="705620"/>
                    <a:pt x="248337" y="909137"/>
                    <a:pt x="554675" y="909137"/>
                  </a:cubicBezTo>
                  <a:cubicBezTo>
                    <a:pt x="861014" y="909137"/>
                    <a:pt x="1109350" y="705620"/>
                    <a:pt x="1109350" y="454569"/>
                  </a:cubicBezTo>
                  <a:cubicBezTo>
                    <a:pt x="1109350" y="203517"/>
                    <a:pt x="861014" y="0"/>
                    <a:pt x="554675" y="0"/>
                  </a:cubicBezTo>
                  <a:close/>
                </a:path>
              </a:pathLst>
            </a:custGeom>
            <a:solidFill>
              <a:srgbClr val="000000">
                <a:alpha val="0"/>
              </a:srgbClr>
            </a:solidFill>
            <a:ln w="57150" cap="sq">
              <a:solidFill>
                <a:srgbClr val="856EE0"/>
              </a:solidFill>
              <a:prstDash val="solid"/>
              <a:miter/>
            </a:ln>
          </p:spPr>
        </p:sp>
        <p:sp>
          <p:nvSpPr>
            <p:cNvPr id="6" name="TextBox 6"/>
            <p:cNvSpPr txBox="1"/>
            <p:nvPr/>
          </p:nvSpPr>
          <p:spPr>
            <a:xfrm>
              <a:off x="104002" y="37607"/>
              <a:ext cx="901347" cy="786299"/>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10</a:t>
              </a:r>
            </a:p>
          </p:txBody>
        </p:sp>
      </p:grpSp>
      <p:sp>
        <p:nvSpPr>
          <p:cNvPr id="7" name="TextBox 7"/>
          <p:cNvSpPr txBox="1"/>
          <p:nvPr/>
        </p:nvSpPr>
        <p:spPr>
          <a:xfrm>
            <a:off x="2566265" y="1226439"/>
            <a:ext cx="14222849" cy="1177290"/>
          </a:xfrm>
          <a:prstGeom prst="rect">
            <a:avLst/>
          </a:prstGeom>
        </p:spPr>
        <p:txBody>
          <a:bodyPr lIns="0" tIns="0" rIns="0" bIns="0" rtlCol="0" anchor="t">
            <a:spAutoFit/>
          </a:bodyPr>
          <a:lstStyle/>
          <a:p>
            <a:pPr algn="just">
              <a:lnSpc>
                <a:spcPts val="4679"/>
              </a:lnSpc>
            </a:pPr>
            <a:r>
              <a:rPr lang="en-US" sz="3999" b="1">
                <a:solidFill>
                  <a:srgbClr val="856EE0"/>
                </a:solidFill>
                <a:latin typeface="Montserrat Bold"/>
                <a:ea typeface="Montserrat Bold"/>
                <a:cs typeface="Montserrat Bold"/>
                <a:sym typeface="Montserrat Bold"/>
              </a:rPr>
              <a:t>Which of the following is true about SOAP but not REST?</a:t>
            </a:r>
          </a:p>
        </p:txBody>
      </p:sp>
      <p:sp>
        <p:nvSpPr>
          <p:cNvPr id="8" name="Freeform 8"/>
          <p:cNvSpPr/>
          <p:nvPr/>
        </p:nvSpPr>
        <p:spPr>
          <a:xfrm>
            <a:off x="12169527" y="4022735"/>
            <a:ext cx="831835" cy="757726"/>
          </a:xfrm>
          <a:custGeom>
            <a:avLst/>
            <a:gdLst/>
            <a:ahLst/>
            <a:cxnLst/>
            <a:rect l="l" t="t" r="r" b="b"/>
            <a:pathLst>
              <a:path w="831835" h="757726">
                <a:moveTo>
                  <a:pt x="0" y="0"/>
                </a:moveTo>
                <a:lnTo>
                  <a:pt x="831834" y="0"/>
                </a:lnTo>
                <a:lnTo>
                  <a:pt x="831834" y="757726"/>
                </a:lnTo>
                <a:lnTo>
                  <a:pt x="0" y="75772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9" name="Group 9"/>
          <p:cNvGrpSpPr/>
          <p:nvPr/>
        </p:nvGrpSpPr>
        <p:grpSpPr>
          <a:xfrm>
            <a:off x="17149862" y="9258300"/>
            <a:ext cx="861105" cy="861105"/>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70</a:t>
              </a:r>
            </a:p>
          </p:txBody>
        </p:sp>
      </p:gr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3171473" y="-3929123"/>
            <a:ext cx="8400347" cy="8400347"/>
          </a:xfrm>
          <a:custGeom>
            <a:avLst/>
            <a:gdLst/>
            <a:ahLst/>
            <a:cxnLst/>
            <a:rect l="l" t="t" r="r" b="b"/>
            <a:pathLst>
              <a:path w="8400347" h="8400347">
                <a:moveTo>
                  <a:pt x="0" y="0"/>
                </a:moveTo>
                <a:lnTo>
                  <a:pt x="8400346" y="0"/>
                </a:lnTo>
                <a:lnTo>
                  <a:pt x="8400346" y="8400347"/>
                </a:lnTo>
                <a:lnTo>
                  <a:pt x="0" y="840034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103286" y="1028700"/>
            <a:ext cx="1175279" cy="963167"/>
            <a:chOff x="0" y="0"/>
            <a:chExt cx="1109350" cy="909137"/>
          </a:xfrm>
        </p:grpSpPr>
        <p:sp>
          <p:nvSpPr>
            <p:cNvPr id="4" name="Freeform 4"/>
            <p:cNvSpPr/>
            <p:nvPr/>
          </p:nvSpPr>
          <p:spPr>
            <a:xfrm>
              <a:off x="0" y="0"/>
              <a:ext cx="1109350" cy="909137"/>
            </a:xfrm>
            <a:custGeom>
              <a:avLst/>
              <a:gdLst/>
              <a:ahLst/>
              <a:cxnLst/>
              <a:rect l="l" t="t" r="r" b="b"/>
              <a:pathLst>
                <a:path w="1109350" h="909137">
                  <a:moveTo>
                    <a:pt x="554675" y="0"/>
                  </a:moveTo>
                  <a:cubicBezTo>
                    <a:pt x="248337" y="0"/>
                    <a:pt x="0" y="203517"/>
                    <a:pt x="0" y="454569"/>
                  </a:cubicBezTo>
                  <a:cubicBezTo>
                    <a:pt x="0" y="705620"/>
                    <a:pt x="248337" y="909137"/>
                    <a:pt x="554675" y="909137"/>
                  </a:cubicBezTo>
                  <a:cubicBezTo>
                    <a:pt x="861014" y="909137"/>
                    <a:pt x="1109350" y="705620"/>
                    <a:pt x="1109350" y="454569"/>
                  </a:cubicBezTo>
                  <a:cubicBezTo>
                    <a:pt x="1109350" y="203517"/>
                    <a:pt x="861014" y="0"/>
                    <a:pt x="554675" y="0"/>
                  </a:cubicBezTo>
                  <a:close/>
                </a:path>
              </a:pathLst>
            </a:custGeom>
            <a:solidFill>
              <a:srgbClr val="000000">
                <a:alpha val="0"/>
              </a:srgbClr>
            </a:solidFill>
            <a:ln w="57150" cap="sq">
              <a:solidFill>
                <a:srgbClr val="856EE0"/>
              </a:solidFill>
              <a:prstDash val="solid"/>
              <a:miter/>
            </a:ln>
          </p:spPr>
        </p:sp>
        <p:sp>
          <p:nvSpPr>
            <p:cNvPr id="5" name="TextBox 5"/>
            <p:cNvSpPr txBox="1"/>
            <p:nvPr/>
          </p:nvSpPr>
          <p:spPr>
            <a:xfrm>
              <a:off x="104002" y="37607"/>
              <a:ext cx="901347" cy="786299"/>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11</a:t>
              </a:r>
            </a:p>
          </p:txBody>
        </p:sp>
      </p:grpSp>
      <p:sp>
        <p:nvSpPr>
          <p:cNvPr id="6" name="TextBox 6"/>
          <p:cNvSpPr txBox="1"/>
          <p:nvPr/>
        </p:nvSpPr>
        <p:spPr>
          <a:xfrm>
            <a:off x="2566265" y="1183163"/>
            <a:ext cx="14222849" cy="586740"/>
          </a:xfrm>
          <a:prstGeom prst="rect">
            <a:avLst/>
          </a:prstGeom>
        </p:spPr>
        <p:txBody>
          <a:bodyPr lIns="0" tIns="0" rIns="0" bIns="0" rtlCol="0" anchor="t">
            <a:spAutoFit/>
          </a:bodyPr>
          <a:lstStyle/>
          <a:p>
            <a:pPr algn="just">
              <a:lnSpc>
                <a:spcPts val="4679"/>
              </a:lnSpc>
            </a:pPr>
            <a:r>
              <a:rPr lang="en-US" sz="3999" b="1">
                <a:solidFill>
                  <a:srgbClr val="856EE0"/>
                </a:solidFill>
                <a:latin typeface="Montserrat Bold"/>
                <a:ea typeface="Montserrat Bold"/>
                <a:cs typeface="Montserrat Bold"/>
                <a:sym typeface="Montserrat Bold"/>
              </a:rPr>
              <a:t>What does OAuth 2.0 stand for?</a:t>
            </a:r>
          </a:p>
        </p:txBody>
      </p:sp>
      <p:grpSp>
        <p:nvGrpSpPr>
          <p:cNvPr id="7" name="Group 7"/>
          <p:cNvGrpSpPr/>
          <p:nvPr/>
        </p:nvGrpSpPr>
        <p:grpSpPr>
          <a:xfrm>
            <a:off x="17149862" y="9258300"/>
            <a:ext cx="861105" cy="86110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71</a:t>
              </a:r>
            </a:p>
          </p:txBody>
        </p:sp>
      </p:grpSp>
      <p:sp>
        <p:nvSpPr>
          <p:cNvPr id="10" name="TextBox 10"/>
          <p:cNvSpPr txBox="1"/>
          <p:nvPr/>
        </p:nvSpPr>
        <p:spPr>
          <a:xfrm>
            <a:off x="2566265" y="3085646"/>
            <a:ext cx="10435096" cy="3961131"/>
          </a:xfrm>
          <a:prstGeom prst="rect">
            <a:avLst/>
          </a:prstGeom>
        </p:spPr>
        <p:txBody>
          <a:bodyPr lIns="0" tIns="0" rIns="0" bIns="0" rtlCol="0" anchor="t">
            <a:spAutoFit/>
          </a:bodyPr>
          <a:lstStyle/>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A) Open Authentication </a:t>
            </a:r>
          </a:p>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B) Open Authorization </a:t>
            </a:r>
          </a:p>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C) Online Authentication </a:t>
            </a:r>
          </a:p>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D) Online Authorization</a:t>
            </a:r>
          </a:p>
          <a:p>
            <a:pPr algn="just">
              <a:lnSpc>
                <a:spcPts val="6399"/>
              </a:lnSpc>
              <a:spcBef>
                <a:spcPct val="0"/>
              </a:spcBef>
            </a:pPr>
            <a:endParaRPr lang="en-US" sz="3199">
              <a:solidFill>
                <a:srgbClr val="000000"/>
              </a:solidFill>
              <a:latin typeface="Montserrat"/>
              <a:ea typeface="Montserrat"/>
              <a:cs typeface="Montserrat"/>
              <a:sym typeface="Montserrat"/>
            </a:endParaRPr>
          </a:p>
        </p:txBody>
      </p:sp>
      <p:sp>
        <p:nvSpPr>
          <p:cNvPr id="11" name="Freeform 11"/>
          <p:cNvSpPr/>
          <p:nvPr/>
        </p:nvSpPr>
        <p:spPr>
          <a:xfrm>
            <a:off x="8312165" y="4092361"/>
            <a:ext cx="831835" cy="757726"/>
          </a:xfrm>
          <a:custGeom>
            <a:avLst/>
            <a:gdLst/>
            <a:ahLst/>
            <a:cxnLst/>
            <a:rect l="l" t="t" r="r" b="b"/>
            <a:pathLst>
              <a:path w="831835" h="757726">
                <a:moveTo>
                  <a:pt x="0" y="0"/>
                </a:moveTo>
                <a:lnTo>
                  <a:pt x="831835" y="0"/>
                </a:lnTo>
                <a:lnTo>
                  <a:pt x="831835" y="757726"/>
                </a:lnTo>
                <a:lnTo>
                  <a:pt x="0" y="75772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3171473" y="-3929123"/>
            <a:ext cx="8400347" cy="8400347"/>
          </a:xfrm>
          <a:custGeom>
            <a:avLst/>
            <a:gdLst/>
            <a:ahLst/>
            <a:cxnLst/>
            <a:rect l="l" t="t" r="r" b="b"/>
            <a:pathLst>
              <a:path w="8400347" h="8400347">
                <a:moveTo>
                  <a:pt x="0" y="0"/>
                </a:moveTo>
                <a:lnTo>
                  <a:pt x="8400346" y="0"/>
                </a:lnTo>
                <a:lnTo>
                  <a:pt x="8400346" y="8400347"/>
                </a:lnTo>
                <a:lnTo>
                  <a:pt x="0" y="840034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103286" y="1028700"/>
            <a:ext cx="1175279" cy="963167"/>
            <a:chOff x="0" y="0"/>
            <a:chExt cx="1109350" cy="909137"/>
          </a:xfrm>
        </p:grpSpPr>
        <p:sp>
          <p:nvSpPr>
            <p:cNvPr id="4" name="Freeform 4"/>
            <p:cNvSpPr/>
            <p:nvPr/>
          </p:nvSpPr>
          <p:spPr>
            <a:xfrm>
              <a:off x="0" y="0"/>
              <a:ext cx="1109350" cy="909137"/>
            </a:xfrm>
            <a:custGeom>
              <a:avLst/>
              <a:gdLst/>
              <a:ahLst/>
              <a:cxnLst/>
              <a:rect l="l" t="t" r="r" b="b"/>
              <a:pathLst>
                <a:path w="1109350" h="909137">
                  <a:moveTo>
                    <a:pt x="554675" y="0"/>
                  </a:moveTo>
                  <a:cubicBezTo>
                    <a:pt x="248337" y="0"/>
                    <a:pt x="0" y="203517"/>
                    <a:pt x="0" y="454569"/>
                  </a:cubicBezTo>
                  <a:cubicBezTo>
                    <a:pt x="0" y="705620"/>
                    <a:pt x="248337" y="909137"/>
                    <a:pt x="554675" y="909137"/>
                  </a:cubicBezTo>
                  <a:cubicBezTo>
                    <a:pt x="861014" y="909137"/>
                    <a:pt x="1109350" y="705620"/>
                    <a:pt x="1109350" y="454569"/>
                  </a:cubicBezTo>
                  <a:cubicBezTo>
                    <a:pt x="1109350" y="203517"/>
                    <a:pt x="861014" y="0"/>
                    <a:pt x="554675" y="0"/>
                  </a:cubicBezTo>
                  <a:close/>
                </a:path>
              </a:pathLst>
            </a:custGeom>
            <a:solidFill>
              <a:srgbClr val="000000">
                <a:alpha val="0"/>
              </a:srgbClr>
            </a:solidFill>
            <a:ln w="57150" cap="sq">
              <a:solidFill>
                <a:srgbClr val="856EE0"/>
              </a:solidFill>
              <a:prstDash val="solid"/>
              <a:miter/>
            </a:ln>
          </p:spPr>
        </p:sp>
        <p:sp>
          <p:nvSpPr>
            <p:cNvPr id="5" name="TextBox 5"/>
            <p:cNvSpPr txBox="1"/>
            <p:nvPr/>
          </p:nvSpPr>
          <p:spPr>
            <a:xfrm>
              <a:off x="104002" y="37607"/>
              <a:ext cx="901347" cy="786299"/>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12</a:t>
              </a:r>
            </a:p>
          </p:txBody>
        </p:sp>
      </p:grpSp>
      <p:sp>
        <p:nvSpPr>
          <p:cNvPr id="6" name="TextBox 6"/>
          <p:cNvSpPr txBox="1"/>
          <p:nvPr/>
        </p:nvSpPr>
        <p:spPr>
          <a:xfrm>
            <a:off x="2566265" y="1183163"/>
            <a:ext cx="14222849" cy="586740"/>
          </a:xfrm>
          <a:prstGeom prst="rect">
            <a:avLst/>
          </a:prstGeom>
        </p:spPr>
        <p:txBody>
          <a:bodyPr lIns="0" tIns="0" rIns="0" bIns="0" rtlCol="0" anchor="t">
            <a:spAutoFit/>
          </a:bodyPr>
          <a:lstStyle/>
          <a:p>
            <a:pPr algn="just">
              <a:lnSpc>
                <a:spcPts val="4679"/>
              </a:lnSpc>
            </a:pPr>
            <a:r>
              <a:rPr lang="en-US" sz="3999" b="1">
                <a:solidFill>
                  <a:srgbClr val="856EE0"/>
                </a:solidFill>
                <a:latin typeface="Montserrat Bold"/>
                <a:ea typeface="Montserrat Bold"/>
                <a:cs typeface="Montserrat Bold"/>
                <a:sym typeface="Montserrat Bold"/>
              </a:rPr>
              <a:t>Where can an API key be included in an API request?</a:t>
            </a:r>
          </a:p>
        </p:txBody>
      </p:sp>
      <p:grpSp>
        <p:nvGrpSpPr>
          <p:cNvPr id="7" name="Group 7"/>
          <p:cNvGrpSpPr/>
          <p:nvPr/>
        </p:nvGrpSpPr>
        <p:grpSpPr>
          <a:xfrm>
            <a:off x="17149862" y="9258300"/>
            <a:ext cx="861105" cy="86110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72</a:t>
              </a:r>
            </a:p>
          </p:txBody>
        </p:sp>
      </p:grpSp>
      <p:sp>
        <p:nvSpPr>
          <p:cNvPr id="10" name="TextBox 10"/>
          <p:cNvSpPr txBox="1"/>
          <p:nvPr/>
        </p:nvSpPr>
        <p:spPr>
          <a:xfrm>
            <a:off x="2566265" y="3085646"/>
            <a:ext cx="10435096" cy="3961131"/>
          </a:xfrm>
          <a:prstGeom prst="rect">
            <a:avLst/>
          </a:prstGeom>
        </p:spPr>
        <p:txBody>
          <a:bodyPr lIns="0" tIns="0" rIns="0" bIns="0" rtlCol="0" anchor="t">
            <a:spAutoFit/>
          </a:bodyPr>
          <a:lstStyle/>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A) Only in the header </a:t>
            </a:r>
          </a:p>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B) Only in the query parameters </a:t>
            </a:r>
          </a:p>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C) In the header, body, or query parameters </a:t>
            </a:r>
          </a:p>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D) It must always be in the body</a:t>
            </a:r>
          </a:p>
          <a:p>
            <a:pPr algn="just">
              <a:lnSpc>
                <a:spcPts val="6399"/>
              </a:lnSpc>
              <a:spcBef>
                <a:spcPct val="0"/>
              </a:spcBef>
            </a:pPr>
            <a:endParaRPr lang="en-US" sz="3199">
              <a:solidFill>
                <a:srgbClr val="000000"/>
              </a:solidFill>
              <a:latin typeface="Montserrat"/>
              <a:ea typeface="Montserrat"/>
              <a:cs typeface="Montserrat"/>
              <a:sym typeface="Montserrat"/>
            </a:endParaRPr>
          </a:p>
        </p:txBody>
      </p:sp>
      <p:sp>
        <p:nvSpPr>
          <p:cNvPr id="11" name="Freeform 11"/>
          <p:cNvSpPr/>
          <p:nvPr/>
        </p:nvSpPr>
        <p:spPr>
          <a:xfrm>
            <a:off x="12585444" y="4806411"/>
            <a:ext cx="831835" cy="757726"/>
          </a:xfrm>
          <a:custGeom>
            <a:avLst/>
            <a:gdLst/>
            <a:ahLst/>
            <a:cxnLst/>
            <a:rect l="l" t="t" r="r" b="b"/>
            <a:pathLst>
              <a:path w="831835" h="757726">
                <a:moveTo>
                  <a:pt x="0" y="0"/>
                </a:moveTo>
                <a:lnTo>
                  <a:pt x="831835" y="0"/>
                </a:lnTo>
                <a:lnTo>
                  <a:pt x="831835" y="757726"/>
                </a:lnTo>
                <a:lnTo>
                  <a:pt x="0" y="75772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3171473" y="-3929123"/>
            <a:ext cx="8400347" cy="8400347"/>
          </a:xfrm>
          <a:custGeom>
            <a:avLst/>
            <a:gdLst/>
            <a:ahLst/>
            <a:cxnLst/>
            <a:rect l="l" t="t" r="r" b="b"/>
            <a:pathLst>
              <a:path w="8400347" h="8400347">
                <a:moveTo>
                  <a:pt x="0" y="0"/>
                </a:moveTo>
                <a:lnTo>
                  <a:pt x="8400346" y="0"/>
                </a:lnTo>
                <a:lnTo>
                  <a:pt x="8400346" y="8400347"/>
                </a:lnTo>
                <a:lnTo>
                  <a:pt x="0" y="840034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103286" y="1028700"/>
            <a:ext cx="1175279" cy="963167"/>
            <a:chOff x="0" y="0"/>
            <a:chExt cx="1109350" cy="909137"/>
          </a:xfrm>
        </p:grpSpPr>
        <p:sp>
          <p:nvSpPr>
            <p:cNvPr id="4" name="Freeform 4"/>
            <p:cNvSpPr/>
            <p:nvPr/>
          </p:nvSpPr>
          <p:spPr>
            <a:xfrm>
              <a:off x="0" y="0"/>
              <a:ext cx="1109350" cy="909137"/>
            </a:xfrm>
            <a:custGeom>
              <a:avLst/>
              <a:gdLst/>
              <a:ahLst/>
              <a:cxnLst/>
              <a:rect l="l" t="t" r="r" b="b"/>
              <a:pathLst>
                <a:path w="1109350" h="909137">
                  <a:moveTo>
                    <a:pt x="554675" y="0"/>
                  </a:moveTo>
                  <a:cubicBezTo>
                    <a:pt x="248337" y="0"/>
                    <a:pt x="0" y="203517"/>
                    <a:pt x="0" y="454569"/>
                  </a:cubicBezTo>
                  <a:cubicBezTo>
                    <a:pt x="0" y="705620"/>
                    <a:pt x="248337" y="909137"/>
                    <a:pt x="554675" y="909137"/>
                  </a:cubicBezTo>
                  <a:cubicBezTo>
                    <a:pt x="861014" y="909137"/>
                    <a:pt x="1109350" y="705620"/>
                    <a:pt x="1109350" y="454569"/>
                  </a:cubicBezTo>
                  <a:cubicBezTo>
                    <a:pt x="1109350" y="203517"/>
                    <a:pt x="861014" y="0"/>
                    <a:pt x="554675" y="0"/>
                  </a:cubicBezTo>
                  <a:close/>
                </a:path>
              </a:pathLst>
            </a:custGeom>
            <a:solidFill>
              <a:srgbClr val="000000">
                <a:alpha val="0"/>
              </a:srgbClr>
            </a:solidFill>
            <a:ln w="57150" cap="sq">
              <a:solidFill>
                <a:srgbClr val="856EE0"/>
              </a:solidFill>
              <a:prstDash val="solid"/>
              <a:miter/>
            </a:ln>
          </p:spPr>
        </p:sp>
        <p:sp>
          <p:nvSpPr>
            <p:cNvPr id="5" name="TextBox 5"/>
            <p:cNvSpPr txBox="1"/>
            <p:nvPr/>
          </p:nvSpPr>
          <p:spPr>
            <a:xfrm>
              <a:off x="104002" y="37607"/>
              <a:ext cx="901347" cy="786299"/>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13</a:t>
              </a:r>
            </a:p>
          </p:txBody>
        </p:sp>
      </p:grpSp>
      <p:sp>
        <p:nvSpPr>
          <p:cNvPr id="6" name="TextBox 6"/>
          <p:cNvSpPr txBox="1"/>
          <p:nvPr/>
        </p:nvSpPr>
        <p:spPr>
          <a:xfrm>
            <a:off x="2566265" y="1183163"/>
            <a:ext cx="14222849" cy="1177290"/>
          </a:xfrm>
          <a:prstGeom prst="rect">
            <a:avLst/>
          </a:prstGeom>
        </p:spPr>
        <p:txBody>
          <a:bodyPr lIns="0" tIns="0" rIns="0" bIns="0" rtlCol="0" anchor="t">
            <a:spAutoFit/>
          </a:bodyPr>
          <a:lstStyle/>
          <a:p>
            <a:pPr algn="just">
              <a:lnSpc>
                <a:spcPts val="4679"/>
              </a:lnSpc>
            </a:pPr>
            <a:r>
              <a:rPr lang="en-US" sz="3999" b="1">
                <a:solidFill>
                  <a:srgbClr val="856EE0"/>
                </a:solidFill>
                <a:latin typeface="Montserrat Bold"/>
                <a:ea typeface="Montserrat Bold"/>
                <a:cs typeface="Montserrat Bold"/>
                <a:sym typeface="Montserrat Bold"/>
              </a:rPr>
              <a:t>What is the primary function of an API key in authentication? </a:t>
            </a:r>
          </a:p>
        </p:txBody>
      </p:sp>
      <p:grpSp>
        <p:nvGrpSpPr>
          <p:cNvPr id="7" name="Group 7"/>
          <p:cNvGrpSpPr/>
          <p:nvPr/>
        </p:nvGrpSpPr>
        <p:grpSpPr>
          <a:xfrm>
            <a:off x="17149862" y="9258300"/>
            <a:ext cx="861105" cy="86110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73</a:t>
              </a:r>
            </a:p>
          </p:txBody>
        </p:sp>
      </p:grpSp>
      <p:sp>
        <p:nvSpPr>
          <p:cNvPr id="10" name="TextBox 10"/>
          <p:cNvSpPr txBox="1"/>
          <p:nvPr/>
        </p:nvSpPr>
        <p:spPr>
          <a:xfrm>
            <a:off x="2566265" y="3085646"/>
            <a:ext cx="10435096" cy="4770756"/>
          </a:xfrm>
          <a:prstGeom prst="rect">
            <a:avLst/>
          </a:prstGeom>
        </p:spPr>
        <p:txBody>
          <a:bodyPr lIns="0" tIns="0" rIns="0" bIns="0" rtlCol="0" anchor="t">
            <a:spAutoFit/>
          </a:bodyPr>
          <a:lstStyle/>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A) To encrypt API requests </a:t>
            </a:r>
          </a:p>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B) To assign a unique identifier to each client accessing the API </a:t>
            </a:r>
          </a:p>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C) To store the user’s credentials securely </a:t>
            </a:r>
          </a:p>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D) To create access tokens for clients</a:t>
            </a:r>
          </a:p>
          <a:p>
            <a:pPr algn="just">
              <a:lnSpc>
                <a:spcPts val="6399"/>
              </a:lnSpc>
              <a:spcBef>
                <a:spcPct val="0"/>
              </a:spcBef>
            </a:pPr>
            <a:endParaRPr lang="en-US" sz="3199">
              <a:solidFill>
                <a:srgbClr val="000000"/>
              </a:solidFill>
              <a:latin typeface="Montserrat"/>
              <a:ea typeface="Montserrat"/>
              <a:cs typeface="Montserrat"/>
              <a:sym typeface="Montserrat"/>
            </a:endParaRPr>
          </a:p>
        </p:txBody>
      </p:sp>
      <p:sp>
        <p:nvSpPr>
          <p:cNvPr id="11" name="Freeform 11"/>
          <p:cNvSpPr/>
          <p:nvPr/>
        </p:nvSpPr>
        <p:spPr>
          <a:xfrm>
            <a:off x="7367896" y="4764637"/>
            <a:ext cx="831835" cy="757726"/>
          </a:xfrm>
          <a:custGeom>
            <a:avLst/>
            <a:gdLst/>
            <a:ahLst/>
            <a:cxnLst/>
            <a:rect l="l" t="t" r="r" b="b"/>
            <a:pathLst>
              <a:path w="831835" h="757726">
                <a:moveTo>
                  <a:pt x="0" y="0"/>
                </a:moveTo>
                <a:lnTo>
                  <a:pt x="831835" y="0"/>
                </a:lnTo>
                <a:lnTo>
                  <a:pt x="831835" y="757726"/>
                </a:lnTo>
                <a:lnTo>
                  <a:pt x="0" y="75772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3171473" y="-3929123"/>
            <a:ext cx="8400347" cy="8400347"/>
          </a:xfrm>
          <a:custGeom>
            <a:avLst/>
            <a:gdLst/>
            <a:ahLst/>
            <a:cxnLst/>
            <a:rect l="l" t="t" r="r" b="b"/>
            <a:pathLst>
              <a:path w="8400347" h="8400347">
                <a:moveTo>
                  <a:pt x="0" y="0"/>
                </a:moveTo>
                <a:lnTo>
                  <a:pt x="8400346" y="0"/>
                </a:lnTo>
                <a:lnTo>
                  <a:pt x="8400346" y="8400347"/>
                </a:lnTo>
                <a:lnTo>
                  <a:pt x="0" y="840034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103286" y="1028700"/>
            <a:ext cx="1175279" cy="963167"/>
            <a:chOff x="0" y="0"/>
            <a:chExt cx="1109350" cy="909137"/>
          </a:xfrm>
        </p:grpSpPr>
        <p:sp>
          <p:nvSpPr>
            <p:cNvPr id="4" name="Freeform 4"/>
            <p:cNvSpPr/>
            <p:nvPr/>
          </p:nvSpPr>
          <p:spPr>
            <a:xfrm>
              <a:off x="0" y="0"/>
              <a:ext cx="1109350" cy="909137"/>
            </a:xfrm>
            <a:custGeom>
              <a:avLst/>
              <a:gdLst/>
              <a:ahLst/>
              <a:cxnLst/>
              <a:rect l="l" t="t" r="r" b="b"/>
              <a:pathLst>
                <a:path w="1109350" h="909137">
                  <a:moveTo>
                    <a:pt x="554675" y="0"/>
                  </a:moveTo>
                  <a:cubicBezTo>
                    <a:pt x="248337" y="0"/>
                    <a:pt x="0" y="203517"/>
                    <a:pt x="0" y="454569"/>
                  </a:cubicBezTo>
                  <a:cubicBezTo>
                    <a:pt x="0" y="705620"/>
                    <a:pt x="248337" y="909137"/>
                    <a:pt x="554675" y="909137"/>
                  </a:cubicBezTo>
                  <a:cubicBezTo>
                    <a:pt x="861014" y="909137"/>
                    <a:pt x="1109350" y="705620"/>
                    <a:pt x="1109350" y="454569"/>
                  </a:cubicBezTo>
                  <a:cubicBezTo>
                    <a:pt x="1109350" y="203517"/>
                    <a:pt x="861014" y="0"/>
                    <a:pt x="554675" y="0"/>
                  </a:cubicBezTo>
                  <a:close/>
                </a:path>
              </a:pathLst>
            </a:custGeom>
            <a:solidFill>
              <a:srgbClr val="000000">
                <a:alpha val="0"/>
              </a:srgbClr>
            </a:solidFill>
            <a:ln w="57150" cap="sq">
              <a:solidFill>
                <a:srgbClr val="856EE0"/>
              </a:solidFill>
              <a:prstDash val="solid"/>
              <a:miter/>
            </a:ln>
          </p:spPr>
        </p:sp>
        <p:sp>
          <p:nvSpPr>
            <p:cNvPr id="5" name="TextBox 5"/>
            <p:cNvSpPr txBox="1"/>
            <p:nvPr/>
          </p:nvSpPr>
          <p:spPr>
            <a:xfrm>
              <a:off x="104002" y="37607"/>
              <a:ext cx="901347" cy="786299"/>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14</a:t>
              </a:r>
            </a:p>
          </p:txBody>
        </p:sp>
      </p:grpSp>
      <p:sp>
        <p:nvSpPr>
          <p:cNvPr id="6" name="TextBox 6"/>
          <p:cNvSpPr txBox="1"/>
          <p:nvPr/>
        </p:nvSpPr>
        <p:spPr>
          <a:xfrm>
            <a:off x="2566265" y="1183163"/>
            <a:ext cx="14222849" cy="1177290"/>
          </a:xfrm>
          <a:prstGeom prst="rect">
            <a:avLst/>
          </a:prstGeom>
        </p:spPr>
        <p:txBody>
          <a:bodyPr lIns="0" tIns="0" rIns="0" bIns="0" rtlCol="0" anchor="t">
            <a:spAutoFit/>
          </a:bodyPr>
          <a:lstStyle/>
          <a:p>
            <a:pPr algn="just">
              <a:lnSpc>
                <a:spcPts val="4679"/>
              </a:lnSpc>
            </a:pPr>
            <a:r>
              <a:rPr lang="en-US" sz="3999" b="1">
                <a:solidFill>
                  <a:srgbClr val="856EE0"/>
                </a:solidFill>
                <a:latin typeface="Montserrat Bold"/>
                <a:ea typeface="Montserrat Bold"/>
                <a:cs typeface="Montserrat Bold"/>
                <a:sym typeface="Montserrat Bold"/>
              </a:rPr>
              <a:t> How does JWT authentication help in implementing Role-Based Access Control (RBAC)?</a:t>
            </a:r>
          </a:p>
        </p:txBody>
      </p:sp>
      <p:grpSp>
        <p:nvGrpSpPr>
          <p:cNvPr id="7" name="Group 7"/>
          <p:cNvGrpSpPr/>
          <p:nvPr/>
        </p:nvGrpSpPr>
        <p:grpSpPr>
          <a:xfrm>
            <a:off x="17149862" y="9258300"/>
            <a:ext cx="861105" cy="86110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74</a:t>
              </a:r>
            </a:p>
          </p:txBody>
        </p:sp>
      </p:grpSp>
      <p:sp>
        <p:nvSpPr>
          <p:cNvPr id="10" name="TextBox 10"/>
          <p:cNvSpPr txBox="1"/>
          <p:nvPr/>
        </p:nvSpPr>
        <p:spPr>
          <a:xfrm>
            <a:off x="2566265" y="3085646"/>
            <a:ext cx="14693035" cy="6390006"/>
          </a:xfrm>
          <a:prstGeom prst="rect">
            <a:avLst/>
          </a:prstGeom>
        </p:spPr>
        <p:txBody>
          <a:bodyPr lIns="0" tIns="0" rIns="0" bIns="0" rtlCol="0" anchor="t">
            <a:spAutoFit/>
          </a:bodyPr>
          <a:lstStyle/>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A) It allows the server to query the database for the user's roles and permissions on each request </a:t>
            </a:r>
          </a:p>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B) It sends the user's role and permissions with each request, allowing the server to quickly check what the user is allowed to do </a:t>
            </a:r>
          </a:p>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C) It stores all user data on the client side </a:t>
            </a:r>
          </a:p>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D) It provides the user with complete access to all resources on the server</a:t>
            </a:r>
          </a:p>
          <a:p>
            <a:pPr algn="just">
              <a:lnSpc>
                <a:spcPts val="6399"/>
              </a:lnSpc>
              <a:spcBef>
                <a:spcPct val="0"/>
              </a:spcBef>
            </a:pPr>
            <a:endParaRPr lang="en-US" sz="3199">
              <a:solidFill>
                <a:srgbClr val="000000"/>
              </a:solidFill>
              <a:latin typeface="Montserrat"/>
              <a:ea typeface="Montserrat"/>
              <a:cs typeface="Montserrat"/>
              <a:sym typeface="Montserrat"/>
            </a:endParaRPr>
          </a:p>
        </p:txBody>
      </p:sp>
      <p:sp>
        <p:nvSpPr>
          <p:cNvPr id="11" name="Freeform 11"/>
          <p:cNvSpPr/>
          <p:nvPr/>
        </p:nvSpPr>
        <p:spPr>
          <a:xfrm>
            <a:off x="16992054" y="5641985"/>
            <a:ext cx="831835" cy="757726"/>
          </a:xfrm>
          <a:custGeom>
            <a:avLst/>
            <a:gdLst/>
            <a:ahLst/>
            <a:cxnLst/>
            <a:rect l="l" t="t" r="r" b="b"/>
            <a:pathLst>
              <a:path w="831835" h="757726">
                <a:moveTo>
                  <a:pt x="0" y="0"/>
                </a:moveTo>
                <a:lnTo>
                  <a:pt x="831835" y="0"/>
                </a:lnTo>
                <a:lnTo>
                  <a:pt x="831835" y="757726"/>
                </a:lnTo>
                <a:lnTo>
                  <a:pt x="0" y="75772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3171473" y="-3929123"/>
            <a:ext cx="8400347" cy="8400347"/>
          </a:xfrm>
          <a:custGeom>
            <a:avLst/>
            <a:gdLst/>
            <a:ahLst/>
            <a:cxnLst/>
            <a:rect l="l" t="t" r="r" b="b"/>
            <a:pathLst>
              <a:path w="8400347" h="8400347">
                <a:moveTo>
                  <a:pt x="0" y="0"/>
                </a:moveTo>
                <a:lnTo>
                  <a:pt x="8400346" y="0"/>
                </a:lnTo>
                <a:lnTo>
                  <a:pt x="8400346" y="8400347"/>
                </a:lnTo>
                <a:lnTo>
                  <a:pt x="0" y="840034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103286" y="1028700"/>
            <a:ext cx="1175279" cy="963167"/>
            <a:chOff x="0" y="0"/>
            <a:chExt cx="1109350" cy="909137"/>
          </a:xfrm>
        </p:grpSpPr>
        <p:sp>
          <p:nvSpPr>
            <p:cNvPr id="4" name="Freeform 4"/>
            <p:cNvSpPr/>
            <p:nvPr/>
          </p:nvSpPr>
          <p:spPr>
            <a:xfrm>
              <a:off x="0" y="0"/>
              <a:ext cx="1109350" cy="909137"/>
            </a:xfrm>
            <a:custGeom>
              <a:avLst/>
              <a:gdLst/>
              <a:ahLst/>
              <a:cxnLst/>
              <a:rect l="l" t="t" r="r" b="b"/>
              <a:pathLst>
                <a:path w="1109350" h="909137">
                  <a:moveTo>
                    <a:pt x="554675" y="0"/>
                  </a:moveTo>
                  <a:cubicBezTo>
                    <a:pt x="248337" y="0"/>
                    <a:pt x="0" y="203517"/>
                    <a:pt x="0" y="454569"/>
                  </a:cubicBezTo>
                  <a:cubicBezTo>
                    <a:pt x="0" y="705620"/>
                    <a:pt x="248337" y="909137"/>
                    <a:pt x="554675" y="909137"/>
                  </a:cubicBezTo>
                  <a:cubicBezTo>
                    <a:pt x="861014" y="909137"/>
                    <a:pt x="1109350" y="705620"/>
                    <a:pt x="1109350" y="454569"/>
                  </a:cubicBezTo>
                  <a:cubicBezTo>
                    <a:pt x="1109350" y="203517"/>
                    <a:pt x="861014" y="0"/>
                    <a:pt x="554675" y="0"/>
                  </a:cubicBezTo>
                  <a:close/>
                </a:path>
              </a:pathLst>
            </a:custGeom>
            <a:solidFill>
              <a:srgbClr val="000000">
                <a:alpha val="0"/>
              </a:srgbClr>
            </a:solidFill>
            <a:ln w="57150" cap="sq">
              <a:solidFill>
                <a:srgbClr val="856EE0"/>
              </a:solidFill>
              <a:prstDash val="solid"/>
              <a:miter/>
            </a:ln>
          </p:spPr>
        </p:sp>
        <p:sp>
          <p:nvSpPr>
            <p:cNvPr id="5" name="TextBox 5"/>
            <p:cNvSpPr txBox="1"/>
            <p:nvPr/>
          </p:nvSpPr>
          <p:spPr>
            <a:xfrm>
              <a:off x="104002" y="37607"/>
              <a:ext cx="901347" cy="786299"/>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15</a:t>
              </a:r>
            </a:p>
          </p:txBody>
        </p:sp>
      </p:grpSp>
      <p:sp>
        <p:nvSpPr>
          <p:cNvPr id="6" name="TextBox 6"/>
          <p:cNvSpPr txBox="1"/>
          <p:nvPr/>
        </p:nvSpPr>
        <p:spPr>
          <a:xfrm>
            <a:off x="2566265" y="1183163"/>
            <a:ext cx="14222849" cy="1177290"/>
          </a:xfrm>
          <a:prstGeom prst="rect">
            <a:avLst/>
          </a:prstGeom>
        </p:spPr>
        <p:txBody>
          <a:bodyPr lIns="0" tIns="0" rIns="0" bIns="0" rtlCol="0" anchor="t">
            <a:spAutoFit/>
          </a:bodyPr>
          <a:lstStyle/>
          <a:p>
            <a:pPr algn="just">
              <a:lnSpc>
                <a:spcPts val="4679"/>
              </a:lnSpc>
            </a:pPr>
            <a:r>
              <a:rPr lang="en-US" sz="3999" b="1">
                <a:solidFill>
                  <a:srgbClr val="856EE0"/>
                </a:solidFill>
                <a:latin typeface="Montserrat Bold"/>
                <a:ea typeface="Montserrat Bold"/>
                <a:cs typeface="Montserrat Bold"/>
                <a:sym typeface="Montserrat Bold"/>
              </a:rPr>
              <a:t>Why is handling atomic transactions important in real-world applications?</a:t>
            </a:r>
          </a:p>
        </p:txBody>
      </p:sp>
      <p:grpSp>
        <p:nvGrpSpPr>
          <p:cNvPr id="7" name="Group 7"/>
          <p:cNvGrpSpPr/>
          <p:nvPr/>
        </p:nvGrpSpPr>
        <p:grpSpPr>
          <a:xfrm>
            <a:off x="17149862" y="9258300"/>
            <a:ext cx="861105" cy="86110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75</a:t>
              </a:r>
            </a:p>
          </p:txBody>
        </p:sp>
      </p:grpSp>
      <p:sp>
        <p:nvSpPr>
          <p:cNvPr id="10" name="TextBox 10"/>
          <p:cNvSpPr txBox="1"/>
          <p:nvPr/>
        </p:nvSpPr>
        <p:spPr>
          <a:xfrm>
            <a:off x="2566265" y="3085646"/>
            <a:ext cx="12603821" cy="4770756"/>
          </a:xfrm>
          <a:prstGeom prst="rect">
            <a:avLst/>
          </a:prstGeom>
        </p:spPr>
        <p:txBody>
          <a:bodyPr lIns="0" tIns="0" rIns="0" bIns="0" rtlCol="0" anchor="t">
            <a:spAutoFit/>
          </a:bodyPr>
          <a:lstStyle/>
          <a:p>
            <a:pPr algn="just">
              <a:lnSpc>
                <a:spcPts val="6399"/>
              </a:lnSpc>
            </a:pPr>
            <a:r>
              <a:rPr lang="en-US" sz="3199">
                <a:solidFill>
                  <a:srgbClr val="000000"/>
                </a:solidFill>
                <a:latin typeface="Montserrat"/>
                <a:ea typeface="Montserrat"/>
                <a:cs typeface="Montserrat"/>
                <a:sym typeface="Montserrat"/>
              </a:rPr>
              <a:t>A) To ensure that all operations can be completed independently </a:t>
            </a:r>
          </a:p>
          <a:p>
            <a:pPr algn="just">
              <a:lnSpc>
                <a:spcPts val="6399"/>
              </a:lnSpc>
            </a:pPr>
            <a:r>
              <a:rPr lang="en-US" sz="3199">
                <a:solidFill>
                  <a:srgbClr val="000000"/>
                </a:solidFill>
                <a:latin typeface="Montserrat"/>
                <a:ea typeface="Montserrat"/>
                <a:cs typeface="Montserrat"/>
                <a:sym typeface="Montserrat"/>
              </a:rPr>
              <a:t>B) To prevent data inconsistencies when multiple resources are updated simultaneously </a:t>
            </a:r>
          </a:p>
          <a:p>
            <a:pPr algn="just">
              <a:lnSpc>
                <a:spcPts val="6399"/>
              </a:lnSpc>
            </a:pPr>
            <a:r>
              <a:rPr lang="en-US" sz="3199">
                <a:solidFill>
                  <a:srgbClr val="000000"/>
                </a:solidFill>
                <a:latin typeface="Montserrat"/>
                <a:ea typeface="Montserrat"/>
                <a:cs typeface="Montserrat"/>
                <a:sym typeface="Montserrat"/>
              </a:rPr>
              <a:t>C) To make the system easier to maintain and understand </a:t>
            </a:r>
          </a:p>
          <a:p>
            <a:pPr algn="just">
              <a:lnSpc>
                <a:spcPts val="6399"/>
              </a:lnSpc>
              <a:spcBef>
                <a:spcPct val="0"/>
              </a:spcBef>
            </a:pPr>
            <a:r>
              <a:rPr lang="en-US" sz="3199">
                <a:solidFill>
                  <a:srgbClr val="000000"/>
                </a:solidFill>
                <a:latin typeface="Montserrat"/>
                <a:ea typeface="Montserrat"/>
                <a:cs typeface="Montserrat"/>
                <a:sym typeface="Montserrat"/>
              </a:rPr>
              <a:t>D) To allow for infinite scalability</a:t>
            </a:r>
          </a:p>
        </p:txBody>
      </p:sp>
      <p:sp>
        <p:nvSpPr>
          <p:cNvPr id="11" name="Freeform 11"/>
          <p:cNvSpPr/>
          <p:nvPr/>
        </p:nvSpPr>
        <p:spPr>
          <a:xfrm>
            <a:off x="8452258" y="5590086"/>
            <a:ext cx="831835" cy="757726"/>
          </a:xfrm>
          <a:custGeom>
            <a:avLst/>
            <a:gdLst/>
            <a:ahLst/>
            <a:cxnLst/>
            <a:rect l="l" t="t" r="r" b="b"/>
            <a:pathLst>
              <a:path w="831835" h="757726">
                <a:moveTo>
                  <a:pt x="0" y="0"/>
                </a:moveTo>
                <a:lnTo>
                  <a:pt x="831835" y="0"/>
                </a:lnTo>
                <a:lnTo>
                  <a:pt x="831835" y="757726"/>
                </a:lnTo>
                <a:lnTo>
                  <a:pt x="0" y="75772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3171473" y="-3929123"/>
            <a:ext cx="8400347" cy="8400347"/>
          </a:xfrm>
          <a:custGeom>
            <a:avLst/>
            <a:gdLst/>
            <a:ahLst/>
            <a:cxnLst/>
            <a:rect l="l" t="t" r="r" b="b"/>
            <a:pathLst>
              <a:path w="8400347" h="8400347">
                <a:moveTo>
                  <a:pt x="0" y="0"/>
                </a:moveTo>
                <a:lnTo>
                  <a:pt x="8400346" y="0"/>
                </a:lnTo>
                <a:lnTo>
                  <a:pt x="8400346" y="8400347"/>
                </a:lnTo>
                <a:lnTo>
                  <a:pt x="0" y="840034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103286" y="1028700"/>
            <a:ext cx="1175279" cy="963167"/>
            <a:chOff x="0" y="0"/>
            <a:chExt cx="1109350" cy="909137"/>
          </a:xfrm>
        </p:grpSpPr>
        <p:sp>
          <p:nvSpPr>
            <p:cNvPr id="4" name="Freeform 4"/>
            <p:cNvSpPr/>
            <p:nvPr/>
          </p:nvSpPr>
          <p:spPr>
            <a:xfrm>
              <a:off x="0" y="0"/>
              <a:ext cx="1109350" cy="909137"/>
            </a:xfrm>
            <a:custGeom>
              <a:avLst/>
              <a:gdLst/>
              <a:ahLst/>
              <a:cxnLst/>
              <a:rect l="l" t="t" r="r" b="b"/>
              <a:pathLst>
                <a:path w="1109350" h="909137">
                  <a:moveTo>
                    <a:pt x="554675" y="0"/>
                  </a:moveTo>
                  <a:cubicBezTo>
                    <a:pt x="248337" y="0"/>
                    <a:pt x="0" y="203517"/>
                    <a:pt x="0" y="454569"/>
                  </a:cubicBezTo>
                  <a:cubicBezTo>
                    <a:pt x="0" y="705620"/>
                    <a:pt x="248337" y="909137"/>
                    <a:pt x="554675" y="909137"/>
                  </a:cubicBezTo>
                  <a:cubicBezTo>
                    <a:pt x="861014" y="909137"/>
                    <a:pt x="1109350" y="705620"/>
                    <a:pt x="1109350" y="454569"/>
                  </a:cubicBezTo>
                  <a:cubicBezTo>
                    <a:pt x="1109350" y="203517"/>
                    <a:pt x="861014" y="0"/>
                    <a:pt x="554675" y="0"/>
                  </a:cubicBezTo>
                  <a:close/>
                </a:path>
              </a:pathLst>
            </a:custGeom>
            <a:solidFill>
              <a:srgbClr val="000000">
                <a:alpha val="0"/>
              </a:srgbClr>
            </a:solidFill>
            <a:ln w="57150" cap="sq">
              <a:solidFill>
                <a:srgbClr val="856EE0"/>
              </a:solidFill>
              <a:prstDash val="solid"/>
              <a:miter/>
            </a:ln>
          </p:spPr>
        </p:sp>
        <p:sp>
          <p:nvSpPr>
            <p:cNvPr id="5" name="TextBox 5"/>
            <p:cNvSpPr txBox="1"/>
            <p:nvPr/>
          </p:nvSpPr>
          <p:spPr>
            <a:xfrm>
              <a:off x="104002" y="37607"/>
              <a:ext cx="901347" cy="786299"/>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16</a:t>
              </a:r>
            </a:p>
          </p:txBody>
        </p:sp>
      </p:grpSp>
      <p:sp>
        <p:nvSpPr>
          <p:cNvPr id="6" name="TextBox 6"/>
          <p:cNvSpPr txBox="1"/>
          <p:nvPr/>
        </p:nvSpPr>
        <p:spPr>
          <a:xfrm>
            <a:off x="2566265" y="1183163"/>
            <a:ext cx="14222849" cy="1767840"/>
          </a:xfrm>
          <a:prstGeom prst="rect">
            <a:avLst/>
          </a:prstGeom>
        </p:spPr>
        <p:txBody>
          <a:bodyPr lIns="0" tIns="0" rIns="0" bIns="0" rtlCol="0" anchor="t">
            <a:spAutoFit/>
          </a:bodyPr>
          <a:lstStyle/>
          <a:p>
            <a:pPr algn="just">
              <a:lnSpc>
                <a:spcPts val="4679"/>
              </a:lnSpc>
            </a:pPr>
            <a:r>
              <a:rPr lang="en-US" sz="3999" b="1">
                <a:solidFill>
                  <a:srgbClr val="856EE0"/>
                </a:solidFill>
                <a:latin typeface="Montserrat Bold"/>
                <a:ea typeface="Montserrat Bold"/>
                <a:cs typeface="Montserrat Bold"/>
                <a:sym typeface="Montserrat Bold"/>
              </a:rPr>
              <a:t>What can result from relying on documentation or external tools for service discovery in traditional web services? </a:t>
            </a:r>
          </a:p>
        </p:txBody>
      </p:sp>
      <p:grpSp>
        <p:nvGrpSpPr>
          <p:cNvPr id="7" name="Group 7"/>
          <p:cNvGrpSpPr/>
          <p:nvPr/>
        </p:nvGrpSpPr>
        <p:grpSpPr>
          <a:xfrm>
            <a:off x="17149862" y="9258300"/>
            <a:ext cx="861105" cy="86110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76</a:t>
              </a:r>
            </a:p>
          </p:txBody>
        </p:sp>
      </p:grpSp>
      <p:sp>
        <p:nvSpPr>
          <p:cNvPr id="10" name="TextBox 10"/>
          <p:cNvSpPr txBox="1"/>
          <p:nvPr/>
        </p:nvSpPr>
        <p:spPr>
          <a:xfrm>
            <a:off x="2566265" y="3085646"/>
            <a:ext cx="14693035" cy="4770756"/>
          </a:xfrm>
          <a:prstGeom prst="rect">
            <a:avLst/>
          </a:prstGeom>
        </p:spPr>
        <p:txBody>
          <a:bodyPr lIns="0" tIns="0" rIns="0" bIns="0" rtlCol="0" anchor="t">
            <a:spAutoFit/>
          </a:bodyPr>
          <a:lstStyle/>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A) Faster integration of new services without errors </a:t>
            </a:r>
          </a:p>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B) A risk of errors due to out-of-date or incomplete documentation </a:t>
            </a:r>
          </a:p>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C) The ability to integrate new services seamlessly without external dependencies </a:t>
            </a:r>
          </a:p>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D) Simplified scalability and flexibility of the API ecosystem</a:t>
            </a:r>
          </a:p>
          <a:p>
            <a:pPr algn="just">
              <a:lnSpc>
                <a:spcPts val="6399"/>
              </a:lnSpc>
              <a:spcBef>
                <a:spcPct val="0"/>
              </a:spcBef>
            </a:pPr>
            <a:endParaRPr lang="en-US" sz="3199">
              <a:solidFill>
                <a:srgbClr val="000000"/>
              </a:solidFill>
              <a:latin typeface="Montserrat"/>
              <a:ea typeface="Montserrat"/>
              <a:cs typeface="Montserrat"/>
              <a:sym typeface="Montserrat"/>
            </a:endParaRPr>
          </a:p>
        </p:txBody>
      </p:sp>
      <p:sp>
        <p:nvSpPr>
          <p:cNvPr id="11" name="Freeform 11"/>
          <p:cNvSpPr/>
          <p:nvPr/>
        </p:nvSpPr>
        <p:spPr>
          <a:xfrm>
            <a:off x="16992054" y="3878992"/>
            <a:ext cx="831835" cy="757726"/>
          </a:xfrm>
          <a:custGeom>
            <a:avLst/>
            <a:gdLst/>
            <a:ahLst/>
            <a:cxnLst/>
            <a:rect l="l" t="t" r="r" b="b"/>
            <a:pathLst>
              <a:path w="831835" h="757726">
                <a:moveTo>
                  <a:pt x="0" y="0"/>
                </a:moveTo>
                <a:lnTo>
                  <a:pt x="831835" y="0"/>
                </a:lnTo>
                <a:lnTo>
                  <a:pt x="831835" y="757726"/>
                </a:lnTo>
                <a:lnTo>
                  <a:pt x="0" y="75772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3171473" y="-3929123"/>
            <a:ext cx="8400347" cy="8400347"/>
          </a:xfrm>
          <a:custGeom>
            <a:avLst/>
            <a:gdLst/>
            <a:ahLst/>
            <a:cxnLst/>
            <a:rect l="l" t="t" r="r" b="b"/>
            <a:pathLst>
              <a:path w="8400347" h="8400347">
                <a:moveTo>
                  <a:pt x="0" y="0"/>
                </a:moveTo>
                <a:lnTo>
                  <a:pt x="8400346" y="0"/>
                </a:lnTo>
                <a:lnTo>
                  <a:pt x="8400346" y="8400347"/>
                </a:lnTo>
                <a:lnTo>
                  <a:pt x="0" y="840034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103286" y="1028700"/>
            <a:ext cx="1175279" cy="963167"/>
            <a:chOff x="0" y="0"/>
            <a:chExt cx="1109350" cy="909137"/>
          </a:xfrm>
        </p:grpSpPr>
        <p:sp>
          <p:nvSpPr>
            <p:cNvPr id="4" name="Freeform 4"/>
            <p:cNvSpPr/>
            <p:nvPr/>
          </p:nvSpPr>
          <p:spPr>
            <a:xfrm>
              <a:off x="0" y="0"/>
              <a:ext cx="1109350" cy="909137"/>
            </a:xfrm>
            <a:custGeom>
              <a:avLst/>
              <a:gdLst/>
              <a:ahLst/>
              <a:cxnLst/>
              <a:rect l="l" t="t" r="r" b="b"/>
              <a:pathLst>
                <a:path w="1109350" h="909137">
                  <a:moveTo>
                    <a:pt x="554675" y="0"/>
                  </a:moveTo>
                  <a:cubicBezTo>
                    <a:pt x="248337" y="0"/>
                    <a:pt x="0" y="203517"/>
                    <a:pt x="0" y="454569"/>
                  </a:cubicBezTo>
                  <a:cubicBezTo>
                    <a:pt x="0" y="705620"/>
                    <a:pt x="248337" y="909137"/>
                    <a:pt x="554675" y="909137"/>
                  </a:cubicBezTo>
                  <a:cubicBezTo>
                    <a:pt x="861014" y="909137"/>
                    <a:pt x="1109350" y="705620"/>
                    <a:pt x="1109350" y="454569"/>
                  </a:cubicBezTo>
                  <a:cubicBezTo>
                    <a:pt x="1109350" y="203517"/>
                    <a:pt x="861014" y="0"/>
                    <a:pt x="554675" y="0"/>
                  </a:cubicBezTo>
                  <a:close/>
                </a:path>
              </a:pathLst>
            </a:custGeom>
            <a:solidFill>
              <a:srgbClr val="000000">
                <a:alpha val="0"/>
              </a:srgbClr>
            </a:solidFill>
            <a:ln w="57150" cap="sq">
              <a:solidFill>
                <a:srgbClr val="856EE0"/>
              </a:solidFill>
              <a:prstDash val="solid"/>
              <a:miter/>
            </a:ln>
          </p:spPr>
        </p:sp>
        <p:sp>
          <p:nvSpPr>
            <p:cNvPr id="5" name="TextBox 5"/>
            <p:cNvSpPr txBox="1"/>
            <p:nvPr/>
          </p:nvSpPr>
          <p:spPr>
            <a:xfrm>
              <a:off x="104002" y="37607"/>
              <a:ext cx="901347" cy="786299"/>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17</a:t>
              </a:r>
            </a:p>
          </p:txBody>
        </p:sp>
      </p:grpSp>
      <p:sp>
        <p:nvSpPr>
          <p:cNvPr id="6" name="TextBox 6"/>
          <p:cNvSpPr txBox="1"/>
          <p:nvPr/>
        </p:nvSpPr>
        <p:spPr>
          <a:xfrm>
            <a:off x="2566265" y="1183163"/>
            <a:ext cx="14222849" cy="586740"/>
          </a:xfrm>
          <a:prstGeom prst="rect">
            <a:avLst/>
          </a:prstGeom>
        </p:spPr>
        <p:txBody>
          <a:bodyPr lIns="0" tIns="0" rIns="0" bIns="0" rtlCol="0" anchor="t">
            <a:spAutoFit/>
          </a:bodyPr>
          <a:lstStyle/>
          <a:p>
            <a:pPr algn="just">
              <a:lnSpc>
                <a:spcPts val="4679"/>
              </a:lnSpc>
            </a:pPr>
            <a:r>
              <a:rPr lang="en-US" sz="3999" b="1">
                <a:solidFill>
                  <a:srgbClr val="856EE0"/>
                </a:solidFill>
                <a:latin typeface="Montserrat Bold"/>
                <a:ea typeface="Montserrat Bold"/>
                <a:cs typeface="Montserrat Bold"/>
                <a:sym typeface="Montserrat Bold"/>
              </a:rPr>
              <a:t>Why is versioning important in RESTful APIs?</a:t>
            </a:r>
          </a:p>
        </p:txBody>
      </p:sp>
      <p:grpSp>
        <p:nvGrpSpPr>
          <p:cNvPr id="7" name="Group 7"/>
          <p:cNvGrpSpPr/>
          <p:nvPr/>
        </p:nvGrpSpPr>
        <p:grpSpPr>
          <a:xfrm>
            <a:off x="17149862" y="9258300"/>
            <a:ext cx="861105" cy="86110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77</a:t>
              </a:r>
            </a:p>
          </p:txBody>
        </p:sp>
      </p:grpSp>
      <p:sp>
        <p:nvSpPr>
          <p:cNvPr id="10" name="TextBox 10"/>
          <p:cNvSpPr txBox="1"/>
          <p:nvPr/>
        </p:nvSpPr>
        <p:spPr>
          <a:xfrm>
            <a:off x="2566265" y="3085646"/>
            <a:ext cx="14693035" cy="5580381"/>
          </a:xfrm>
          <a:prstGeom prst="rect">
            <a:avLst/>
          </a:prstGeom>
        </p:spPr>
        <p:txBody>
          <a:bodyPr lIns="0" tIns="0" rIns="0" bIns="0" rtlCol="0" anchor="t">
            <a:spAutoFit/>
          </a:bodyPr>
          <a:lstStyle/>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A) To allow multiple clients to use the API simultaneously </a:t>
            </a:r>
          </a:p>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B) To ensure that clients are always using the most recent version of the API </a:t>
            </a:r>
          </a:p>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C) To manage breaking changes and ensure clients relying on older versions still function properly </a:t>
            </a:r>
          </a:p>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D) To reduce the number of endpoints in the API</a:t>
            </a:r>
          </a:p>
          <a:p>
            <a:pPr algn="just">
              <a:lnSpc>
                <a:spcPts val="6399"/>
              </a:lnSpc>
              <a:spcBef>
                <a:spcPct val="0"/>
              </a:spcBef>
            </a:pPr>
            <a:endParaRPr lang="en-US" sz="3199">
              <a:solidFill>
                <a:srgbClr val="000000"/>
              </a:solidFill>
              <a:latin typeface="Montserrat"/>
              <a:ea typeface="Montserrat"/>
              <a:cs typeface="Montserrat"/>
              <a:sym typeface="Montserrat"/>
            </a:endParaRPr>
          </a:p>
        </p:txBody>
      </p:sp>
      <p:sp>
        <p:nvSpPr>
          <p:cNvPr id="11" name="Freeform 11"/>
          <p:cNvSpPr/>
          <p:nvPr/>
        </p:nvSpPr>
        <p:spPr>
          <a:xfrm>
            <a:off x="9677689" y="6308838"/>
            <a:ext cx="831835" cy="757726"/>
          </a:xfrm>
          <a:custGeom>
            <a:avLst/>
            <a:gdLst/>
            <a:ahLst/>
            <a:cxnLst/>
            <a:rect l="l" t="t" r="r" b="b"/>
            <a:pathLst>
              <a:path w="831835" h="757726">
                <a:moveTo>
                  <a:pt x="0" y="0"/>
                </a:moveTo>
                <a:lnTo>
                  <a:pt x="831835" y="0"/>
                </a:lnTo>
                <a:lnTo>
                  <a:pt x="831835" y="757726"/>
                </a:lnTo>
                <a:lnTo>
                  <a:pt x="0" y="75772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3171473" y="-3929123"/>
            <a:ext cx="8400347" cy="8400347"/>
          </a:xfrm>
          <a:custGeom>
            <a:avLst/>
            <a:gdLst/>
            <a:ahLst/>
            <a:cxnLst/>
            <a:rect l="l" t="t" r="r" b="b"/>
            <a:pathLst>
              <a:path w="8400347" h="8400347">
                <a:moveTo>
                  <a:pt x="0" y="0"/>
                </a:moveTo>
                <a:lnTo>
                  <a:pt x="8400346" y="0"/>
                </a:lnTo>
                <a:lnTo>
                  <a:pt x="8400346" y="8400347"/>
                </a:lnTo>
                <a:lnTo>
                  <a:pt x="0" y="8400347"/>
                </a:lnTo>
                <a:lnTo>
                  <a:pt x="0" y="0"/>
                </a:lnTo>
                <a:close/>
              </a:path>
            </a:pathLst>
          </a:custGeom>
          <a:blipFill>
            <a:blip r:embed="rId2">
              <a:alphaModFix amt="9999"/>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103286" y="1028700"/>
            <a:ext cx="1175279" cy="963167"/>
            <a:chOff x="0" y="0"/>
            <a:chExt cx="1109350" cy="909137"/>
          </a:xfrm>
        </p:grpSpPr>
        <p:sp>
          <p:nvSpPr>
            <p:cNvPr id="4" name="Freeform 4"/>
            <p:cNvSpPr/>
            <p:nvPr/>
          </p:nvSpPr>
          <p:spPr>
            <a:xfrm>
              <a:off x="0" y="0"/>
              <a:ext cx="1109350" cy="909137"/>
            </a:xfrm>
            <a:custGeom>
              <a:avLst/>
              <a:gdLst/>
              <a:ahLst/>
              <a:cxnLst/>
              <a:rect l="l" t="t" r="r" b="b"/>
              <a:pathLst>
                <a:path w="1109350" h="909137">
                  <a:moveTo>
                    <a:pt x="554675" y="0"/>
                  </a:moveTo>
                  <a:cubicBezTo>
                    <a:pt x="248337" y="0"/>
                    <a:pt x="0" y="203517"/>
                    <a:pt x="0" y="454569"/>
                  </a:cubicBezTo>
                  <a:cubicBezTo>
                    <a:pt x="0" y="705620"/>
                    <a:pt x="248337" y="909137"/>
                    <a:pt x="554675" y="909137"/>
                  </a:cubicBezTo>
                  <a:cubicBezTo>
                    <a:pt x="861014" y="909137"/>
                    <a:pt x="1109350" y="705620"/>
                    <a:pt x="1109350" y="454569"/>
                  </a:cubicBezTo>
                  <a:cubicBezTo>
                    <a:pt x="1109350" y="203517"/>
                    <a:pt x="861014" y="0"/>
                    <a:pt x="554675" y="0"/>
                  </a:cubicBezTo>
                  <a:close/>
                </a:path>
              </a:pathLst>
            </a:custGeom>
            <a:solidFill>
              <a:srgbClr val="000000">
                <a:alpha val="0"/>
              </a:srgbClr>
            </a:solidFill>
            <a:ln w="57150" cap="sq">
              <a:solidFill>
                <a:srgbClr val="856EE0"/>
              </a:solidFill>
              <a:prstDash val="solid"/>
              <a:miter/>
            </a:ln>
          </p:spPr>
        </p:sp>
        <p:sp>
          <p:nvSpPr>
            <p:cNvPr id="5" name="TextBox 5"/>
            <p:cNvSpPr txBox="1"/>
            <p:nvPr/>
          </p:nvSpPr>
          <p:spPr>
            <a:xfrm>
              <a:off x="104002" y="37607"/>
              <a:ext cx="901347" cy="786299"/>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18</a:t>
              </a:r>
            </a:p>
          </p:txBody>
        </p:sp>
      </p:grpSp>
      <p:sp>
        <p:nvSpPr>
          <p:cNvPr id="6" name="TextBox 6"/>
          <p:cNvSpPr txBox="1"/>
          <p:nvPr/>
        </p:nvSpPr>
        <p:spPr>
          <a:xfrm>
            <a:off x="2566265" y="1183163"/>
            <a:ext cx="14222849" cy="1177290"/>
          </a:xfrm>
          <a:prstGeom prst="rect">
            <a:avLst/>
          </a:prstGeom>
        </p:spPr>
        <p:txBody>
          <a:bodyPr lIns="0" tIns="0" rIns="0" bIns="0" rtlCol="0" anchor="t">
            <a:spAutoFit/>
          </a:bodyPr>
          <a:lstStyle/>
          <a:p>
            <a:pPr algn="just">
              <a:lnSpc>
                <a:spcPts val="4679"/>
              </a:lnSpc>
            </a:pPr>
            <a:r>
              <a:rPr lang="en-US" sz="3999" b="1">
                <a:solidFill>
                  <a:srgbClr val="856EE0"/>
                </a:solidFill>
                <a:latin typeface="Montserrat Bold"/>
                <a:ea typeface="Montserrat Bold"/>
                <a:cs typeface="Montserrat Bold"/>
                <a:sym typeface="Montserrat Bold"/>
              </a:rPr>
              <a:t>What is the primary purpose of HTTPS (Hypertext Transfer Protocol Secure)?</a:t>
            </a:r>
          </a:p>
        </p:txBody>
      </p:sp>
      <p:grpSp>
        <p:nvGrpSpPr>
          <p:cNvPr id="7" name="Group 7"/>
          <p:cNvGrpSpPr/>
          <p:nvPr/>
        </p:nvGrpSpPr>
        <p:grpSpPr>
          <a:xfrm>
            <a:off x="17149862" y="9258300"/>
            <a:ext cx="861105" cy="86110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856EE0"/>
              </a:solidFill>
              <a:prstDash val="solid"/>
              <a:miter/>
            </a:ln>
          </p:spPr>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4199"/>
                </a:lnSpc>
              </a:pPr>
              <a:r>
                <a:rPr lang="en-US" sz="2999" b="1">
                  <a:solidFill>
                    <a:srgbClr val="26CBB8"/>
                  </a:solidFill>
                  <a:latin typeface="Montserrat Bold"/>
                  <a:ea typeface="Montserrat Bold"/>
                  <a:cs typeface="Montserrat Bold"/>
                  <a:sym typeface="Montserrat Bold"/>
                </a:rPr>
                <a:t>78</a:t>
              </a:r>
            </a:p>
          </p:txBody>
        </p:sp>
      </p:grpSp>
      <p:sp>
        <p:nvSpPr>
          <p:cNvPr id="10" name="TextBox 10"/>
          <p:cNvSpPr txBox="1"/>
          <p:nvPr/>
        </p:nvSpPr>
        <p:spPr>
          <a:xfrm>
            <a:off x="2566265" y="3085646"/>
            <a:ext cx="14693035" cy="4770756"/>
          </a:xfrm>
          <a:prstGeom prst="rect">
            <a:avLst/>
          </a:prstGeom>
        </p:spPr>
        <p:txBody>
          <a:bodyPr lIns="0" tIns="0" rIns="0" bIns="0" rtlCol="0" anchor="t">
            <a:spAutoFit/>
          </a:bodyPr>
          <a:lstStyle/>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A) To speed up the data transfer between the client and server </a:t>
            </a:r>
          </a:p>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B) To encrypt data exchanged between the client and server, preventing eavesdropping and man-in-the-middle attacks </a:t>
            </a:r>
          </a:p>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C) To provide a faster connection for secure websites </a:t>
            </a:r>
          </a:p>
          <a:p>
            <a:pPr marL="690879" lvl="1" indent="-345439" algn="just">
              <a:lnSpc>
                <a:spcPts val="6399"/>
              </a:lnSpc>
              <a:buFont typeface="Arial"/>
              <a:buChar char="•"/>
            </a:pPr>
            <a:r>
              <a:rPr lang="en-US" sz="3199">
                <a:solidFill>
                  <a:srgbClr val="000000"/>
                </a:solidFill>
                <a:latin typeface="Montserrat"/>
                <a:ea typeface="Montserrat"/>
                <a:cs typeface="Montserrat"/>
                <a:sym typeface="Montserrat"/>
              </a:rPr>
              <a:t>D) To enable users to access websites without a password</a:t>
            </a:r>
          </a:p>
          <a:p>
            <a:pPr algn="just">
              <a:lnSpc>
                <a:spcPts val="6399"/>
              </a:lnSpc>
              <a:spcBef>
                <a:spcPct val="0"/>
              </a:spcBef>
            </a:pPr>
            <a:endParaRPr lang="en-US" sz="3199">
              <a:solidFill>
                <a:srgbClr val="000000"/>
              </a:solidFill>
              <a:latin typeface="Montserrat"/>
              <a:ea typeface="Montserrat"/>
              <a:cs typeface="Montserrat"/>
              <a:sym typeface="Montserrat"/>
            </a:endParaRPr>
          </a:p>
        </p:txBody>
      </p:sp>
      <p:sp>
        <p:nvSpPr>
          <p:cNvPr id="11" name="Freeform 11"/>
          <p:cNvSpPr/>
          <p:nvPr/>
        </p:nvSpPr>
        <p:spPr>
          <a:xfrm>
            <a:off x="15515980" y="4832360"/>
            <a:ext cx="831835" cy="757726"/>
          </a:xfrm>
          <a:custGeom>
            <a:avLst/>
            <a:gdLst/>
            <a:ahLst/>
            <a:cxnLst/>
            <a:rect l="l" t="t" r="r" b="b"/>
            <a:pathLst>
              <a:path w="831835" h="757726">
                <a:moveTo>
                  <a:pt x="0" y="0"/>
                </a:moveTo>
                <a:lnTo>
                  <a:pt x="831834" y="0"/>
                </a:lnTo>
                <a:lnTo>
                  <a:pt x="831834" y="757726"/>
                </a:lnTo>
                <a:lnTo>
                  <a:pt x="0" y="75772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4739</Words>
  <Application>Microsoft Office PowerPoint</Application>
  <PresentationFormat>Personnalisé</PresentationFormat>
  <Paragraphs>441</Paragraphs>
  <Slides>81</Slides>
  <Notes>5</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81</vt:i4>
      </vt:variant>
    </vt:vector>
  </HeadingPairs>
  <TitlesOfParts>
    <vt:vector size="90" baseType="lpstr">
      <vt:lpstr>Open Sans</vt:lpstr>
      <vt:lpstr>Codec Pro Bold</vt:lpstr>
      <vt:lpstr>Calibri</vt:lpstr>
      <vt:lpstr>Arial</vt:lpstr>
      <vt:lpstr>Montserrat Medium</vt:lpstr>
      <vt:lpstr>Montserrat</vt:lpstr>
      <vt:lpstr>Open Sans Bold</vt:lpstr>
      <vt:lpstr>Montserrat Bold</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API-REST</dc:title>
  <cp:lastModifiedBy>allouche skandar</cp:lastModifiedBy>
  <cp:revision>2</cp:revision>
  <dcterms:created xsi:type="dcterms:W3CDTF">2006-08-16T00:00:00Z</dcterms:created>
  <dcterms:modified xsi:type="dcterms:W3CDTF">2024-12-12T21:59:19Z</dcterms:modified>
  <dc:identifier>DAGVikee16k</dc:identifier>
</cp:coreProperties>
</file>